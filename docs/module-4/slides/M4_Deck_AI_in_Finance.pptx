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21"/>
    <p:restoredTop sz="91781"/>
  </p:normalViewPr>
  <p:slideViewPr>
    <p:cSldViewPr snapToGrid="0" snapToObjects="1">
      <p:cViewPr varScale="1">
        <p:scale>
          <a:sx n="116" d="100"/>
          <a:sy n="116" d="100"/>
        </p:scale>
        <p:origin x="12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53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Module 3 took us into healthcare, where the cost of a wrong answer is patient harm and the central question was who holds authority over the model's output. Tonight we move to the industry that adopted AI earliest and regulates it hardest: banking and finance.
The subtitle is the plan for the evening. Two decisions: one made on a table of numbers — which credit-card accounts should the risk team review this month — and one made on raw text — which team should handle this consumer complaint. One rulebook: US credit law and bank model-risk guidance, which apply the same demands to both — explain yourself, treat people fairly, and govern the model like the risk it is.
Both cases use real public data. The credit case uses 30,000 real anonymized credit-card accounts from a Taiwanese bank in 2005. The complaint case uses real consumer complaints published by the US consumer-finance regulator. Everything we build is educational: it borrows the shape of real bank workflows, never their authority.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Carry one sentence over from Module 3: the model proposes, a person with named authority disposes. Finance keeps that sentence and adds two pressures. First, errors are priced in dollars — a missed default has a cost, and so does a wasted review. Second, the law can require the bank to explain an individual decision to the individual customer, in plain reasons. “The algorithm said so” is not just weak — in credit it is illegal.
Eight sections. The first third maps where AI runs in a bank. The middle is case 1: a credit-risk review model built end to end in the notebook, then the explainability and fair-lending duty it triggers. Then case 2 brings a new data type — free text — and with it the transformer, the architecture behind modern language AI. We close with governance: who lets a model into production, and three real case studies.
Two live handoffs are marked in amber: the credit notebook after section II, and Applied AI Studio after case 2. Students rerun both later in Codespaces; nobody codes live tonight.
[Pacing: opening 8; bank map 12; case 1 15; notebook 20; explainability 14; case 2 18; studio 14; governance 12; wrap 5 — about 118 planned minutes in a 150-minute slot. The notebook blocks absorb overrun first. Break is called against the clock.]
[Closing line - voice this; it is not printed on the slide: Two decisions tonight: one on a table of numbers, one on text — and the same rulebook over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cases, the map — the same discipline as every module: place the work before judging the tool.
A bank is not one decision factory; it is at least five. Each family decides something different, at a different speed, with a different cost when it is wrong. Tonight's two cases come from two different families, which is deliberate: by the end of the evening the class has seen that the same five-stage build discipline and the same governance rulebook stretch across very different kinds of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top to bottom and place what the class already owns.
Fraud detection is Session 2: our own card-fraud lab lives in the first row, so the class has already built in this industry once. Anti-money laundering — AML for short — is the legal duty banks have to spot and report activity that may hide criminal money; we will spend one slide on it next because it repeats a lesson we know. Trading appears again in the governance section, through the Knight Capital case, where an error cost more than $460 million in about 45 minutes.
The two amber rows are tonight. Case 1 lives in the credit lifecycle: not the loan-approval moment everyone pictures, but the quieter month-to-month management of existing accounts. Case 2 lives in customer service: routing written complaints to the right specialist team while a regulatory clock runs.
The teaching point of the map: “AI in finance” is not one thing. Each family has its own data shape, its own error price, and its own regulator — which is why the rest of the deck keeps asking which decision, for whom, at what cost.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card is deliberately one breath — Session 2 owns fraud, and we are not rebuilding it. The recap exists so the class hears that they have already worked in this industry: score, threshold, confusion matrix, cost of each error.
The right card scales the same shape up. AML — anti-money laundering — is a legal obligation: banks must monitor activity and report anything that looks like money being disguised or moved for crime. The detection software is often rule-plus-model; the volume is enormous; and in practice the overwhelming majority of alerts are false positives that a trained investigator still has to open, read, and close. That review time is the hidden price of every threshold decision.
The callout is the transferable lesson, and it previews tonight's operating-policy work: in both of our cases the interesting design choice is not the model, it is the policy that decides how much human work the model's alerts create. Hold onto the phrase “staff the queue” — it returns in the credit case as a literal analyst queue with a capacity.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unfamiliar word first: underwriting is the decision to accept or reject an application and on what terms — the limit and the interest rate. It is the stage everyone pictures when they hear “AI decides who gets credit.”
Tonight's case is deliberately not that stage. We sit one box to the right, in account management: the bank already knows this customer, sees six months of their bills and payments, and asks a quieter question — which existing accounts are drifting toward trouble, and who should look at them this month? The data is richer (behavior, not application forms), the decision is softer (review, not approve/deny), and the claim risk is lower — which is exactly why it is the right classroom case.
The two pills place tonight's case studies on this same map. The Apple Card investigation, which closes the evening, was an underwriting story: limits set at application time that customers could not get explained. Keeping the stages straight now pays off then.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module's central paradox, and it is worth saying slowly.
Rows one and two are the machine-learning dream conditions: masses of structured data, and labels that generate themselves. That is why credit scoring by statistical model is not new — banks were doing versions of it long before the current AI wave. Row three is what makes finance unusual among our industries: both error types convert to dollars, so “is the model good enough?” becomes an arithmetic question, not a taste question. We will do that arithmetic in the notebook's cost sweep.
Row four is the counterweight. The same decades of history produced the densest rulebook we will meet in this course: fair-lending law that restricts which attributes a credit decision may use, adverse-action law that requires specific reasons a customer can read, and supervisory guidance that treats every model as a risk to be documented, validated, and monitored. In Module 3 the constraint was clinical authority; here the constraint is written law with enforcement behind it.
So the honest answer to “why does my bank still make me wait?” is usually not that the model is hard. Training tonight's models takes seconds. Proving they are fair, explainable, and governed is the expensive part — and that is where this module spends its time.
[Closing line - voice this; it is not printed on the slide: Finance adopted AI first because errors here come with a price tag — and that price tag is also why deployment is slow.]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case of the module. Everything from here to the fairness slide is one decision, followed all the way through.
Set the expectation now so nobody is disappointed: this is not the dramatic "the AI decided to deny your loan" story. It is the quieter, far more common one — a bank with more accounts than it can look at, choosing where to spend a limited amount of human attention. That is what most production credit models actually do, and it is where the regulatory lessons are cleanest, because a review that leads to an adverse step still triggers the full explanation duty.
Fifteen minutes here: the decision, the data, the workflow, and the problem hiding in the columns. Then the notebook.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cards left to right; they answer the same three questions we ask of every case in this course.
The problem card is a capacity problem, not a prediction problem. That distinction matters, because it tells you what "better" means: a better model here is one that fills a fixed review queue with more of the accounts worth reviewing. Nobody is asking the model to be right about everyone.
The output card is deliberately narrow. One probability, for one account, for one month ahead. Notice what is missing: no recommendation, no ranking of what to do, no dollar figure. Those come from the policy layer, which is a separate design decision we make ourselves in the notebook.
The action card names the human. In our workflow the credit analyst owns the intervention and compliance owns any notice that goes to the customer. The model owns exactly one artifact: a ranked queue.
The callout is the prohibited-claims list, and it is worth reading aloud, slowly. Students will be tempted all evening to say "the model decided she was a bad customer." Stop that sentence every time you hear it tonight. The model produced a probability; a human decided; an outcome happened next month; those are three different objects. In this dataset the probability is also an estimate about a Taiwanese cardholder in 2005 — it says nothing about anyone in this room.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data in its story before touching the columns. These are real accounts from a Taiwanese bank during the 2005–2006 Taiwan credit-card debt crisis: card lending had expanded fast, delinquency climbed, and the industry built exactly this kind of model in response. The dataset is not a toy; it is the residue of a real problem.
Then the columns. The whole file is 23 features plus an ID and the outcome, and it groups into five ideas — the table is that grouping. Point out that most of the file is the same five or six measurements repeated once per month, which is why we can build a small set of plain-language features from it: how many months behind you are now, your worst delay in six months, how many months you were late, how much of your limit you are using, how much of what you were billed you actually paid, and whether your balance is growing.
The 22.1% figure is the callout, and the callback to Session 2 is the point. In fraud we spent real time on the accuracy trap because fraud was under 1%. Here a do-nothing model is right 77.9% of the time — still uselessly high-sounding, but not absurd — so the honest evaluation has to move to cost, which is section IV.
Two honesty notes to say out loud. First, amounts are New Taiwan dollars, and NT$1 is worth a small fraction of a US dollar, so the numbers look larger than a US student expects. Second, everybody in this file is observed over the same six months, so we cannot do the out-of-time split we insisted on in Session 2. That is a real limitation of the dataset and it goes in the model card rather than being quietly ignored.
[Measured in the frozen notebook: the file has zero missing values and no duplicate customer IDs, and the 22.12% default rate holds in each of the 60/20/20 stratified splits — 18,000 train, 6,000 validation, 6,000 test. Real-data quirks: EDUCATION carries undocumented codes 0, 5 and 6 across 345 rows and MARRIAGE carries an undocumented 0 across 54 rows; the notebook folds both into "other" and says so.]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rows and make the split explicit — this diagram is the spine of the whole case, and the demo later is literally this picture with buttons on it.
Top row. The snapshot is monthly, which already tells you something: this is a batch job, not a real-time system like fraud scoring. Nothing happens in milliseconds. The validity check is the failure path, and it is not decoration — an account with missing fields or codes the pipeline does not recognize is excluded and written to a log, not quietly given a made-up score. Session 2 and Module 3 both had this gate; make sure students see it is the same gate. The score is one probability. The cost policy is where a number becomes a decision, and it is ours, not the model's.
Bottom row. The analyst reads the account, not just the score, and picks an intervention — and "no action" is a legitimate outcome that we should say out loud, because a flag is a request for attention, not an instruction. If the chosen step is adverse to the customer, compliance owns the notice, and the notice needs specific reasons, which is the entire next section. Finally the outcome comes back next month, which is both how the bank learns and how the monitoring dashboard notices when the model has gone stale.
The callout is the sentence to repeat. Ask the class where the model's authority ends, and make them point at the line between the rows.
[If time is short, this is the slide to compress — the same picture reappears as the Applied AI Studio workflow map in section VII.]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fair lending concrete instead of abstract, so do not rush it.
Start with the vocabulary. ECOA is the Equal Credit Opportunity Act, and its implementing rule is Regulation B. Between them they prohibit discrimination in credit on sex, marital status, age, race, color, religion, national origin, and receipt of public assistance. That is not a guideline or a best practice — it is federal law with enforcement behind it.
Now the table. Three columns in this file are named in that law. Education is not on the list, which surprises people, but using it can still produce a disparate impact on protected groups, so a real bank treats it as a compliance question rather than a free variable. Everything below the line is behavior: things the customer did with their own account. Behavior is what a lender is allowed to price.
The callout carries the measured half of the story. [Source: the module research brief, computed on the full public dataset — male accounts default at 24.2% versus 20.8% for female accounts; high-school-educated accounts at 25.2% versus 19.2% for graduate school; the 50-60 age band at 25.2% versus 20.4% for 30-40.] Say the shape of it — the rates are not equal — rather than reciting all six figures; the point is that the signal is genuinely there, so excluding the columns is a real choice with a real cost, not a free gesture.
Then set up the experiment. Ask the class to predict: if we throw away sex, marriage, and age, how much accuracy do we lose? Take a show of hands on "a lot" versus "a little." Write the guess down. The notebook measures it, and slide 18 pays it off — and the answer surprises most rooms.
[Closing line - voice this; it is not printed on the slide: The fairness problem is not hiding inside the model. It is sitting in column three of the spreadsheet.]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presenting and open the notebook. Nothing on the next slide should be shown until the notebook has run.
The five stages are the same five stages from Session 2 and Module 3, and saying that out loud is half the value of this slide: the method did not change when the industry changed. What changed is what "validate" means, because in finance it now includes a dollar argument and a legal one.
Three things to narrate as you go, because they are the three things students will be asked about later.
First, the model comparison. A logistic regression is a scorecard — a weighted sum you could compute on paper, and the ancestor of every credit score in existence. Gradient boosting is hundreds of small decision trees stacked into a correction chain. On this data the boosted model is meaningfully better, and the class should feel the pull of that gap before we discuss whether the bank can use it.
Second, the dollar sweep. This is the new lesson of the module. We do not pick a threshold because it looks nice on a curve; we pick it because reviewing an account costs money and preventing a loss saves money. Slide the review cost and let the class watch the queue size move. Then show the two dumb baselines — review nobody, review everybody — because they bracket the argument.
Third, the fairness experiment, which pays off the bet we just took on slide 12.
Runtime is not a concern: the whole thing trains in seconds on a laptop CPU, no GPU and no downloads at class time. If the live run misbehaves, the offline HTML export of an executed run is the fallback; do not debug in front of the room.
[Measured in the frozen notebook: the whole build runs in 5.8 s wall, of which fit and predict work is 4.8 s; the exported pipeline is 194 KB and reloads with bitwise-identical probabilities in a fresh process.]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back to this slide only after the notebook has run, so the class sees these four numbers appear in the output before they see them on a slide. Every one of them is read out of the notebook's own evaluation file — the promise of this deck is that our numbers come from a run somebody can reproduce, not from a slide writer's imagination.
The four boxes are the four questions an operations manager asks, in order. How many accounts land in my queue? Of those, how many were worth opening? How many real problems did we walk past? And after paying for all that work, are we ahead? The first three come straight out of the confusion matrix students already know from Session 2. The fourth is the new one, and it is the whole reason finance is a good teaching industry: the arithmetic closes.
Spend real time on the two baselines, because they defeat two opposite bad instincts. "Review nobody" defeats the instinct that any model is better than none — a model whose flags nobody acts on is worth exactly zero. "Review everybody" defeats the instinct that catching everything is the goal; it catches everything and still loses money, because the reviews it wastes cost more than the losses it prevents. The interesting policy always sits between two obviously wrong ones.
One caution to voice: the model is estimating probabilities, and a probability is only usable in a dollar rule if it is roughly honest — if the accounts we call 30% really do default about 30% of the time. The notebook checks that before it spends any money on the rule.
[Measured in the frozen notebook, test split scored once. With a review cost of NT$10,000 and half the balance assumed lost on default, the policy flagged 761 of 6,000 accounts — 12.68% of the book. Precision 0.4823: 367 of those 761 really did default. Recall 0.2766: the policy caught 367 of the 1,327 defaulters in the split and walked past 960. Net savings against reviewing nobody were NT$14,623,904; reviewing everybody would have lost NT$27,908,148. Test AUC 0.7852, PR-AUC 0.5758, Brier 0.1325 — and the Brier score is the one that licenses the dollar rule, because it says the probabilities are honest enough to multiply by money.
Two sub-beats if the clock allows. First, the cost assumption drives everything: on the validation sweep a review cost of NT$1,000 makes flagging 3,425 accounts — 57.08% of the book — the optimal policy, while NT$20,000 shrinks the queue to 329. Same model, same scores, wildly different operation. Second, the test numbers came out a little better than validation (validation flagged 780 at 41.67% precision for NT$11,939,426). That is ordinary sampling variation, not evidence the model improved — say so, because students read any test-beats-validation result as a win.]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that makes Module 4 different from every module before it.
In Session 2 explainability was good practice. In Module 3 it was clinical trust. Here it is a statute. A US lender that takes an action against a customer owes that customer specific reasons, and if the lender cannot produce them, the model may not be used for that decision — no matter how accurate it is.
Say that last clause slowly. Accuracy does not buy an exemption. That is the sentence students should be able to repeat at the end of the evening.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rows, and each one closes a door a student would otherwise try to walk through.
Row one defines the duty. Regulation B requires that when a creditor takes adverse action, the applicant gets a statement of the specific principal reasons for it. "Principal" means the main ones; "specific" means about this person's situation. There is a companion duty under the Fair Credit Reporting Act when information from a consumer report drives the action, which is why you sometimes get two letters.
Row two kills the obvious dodge. Everyone's first instinct is "we'll just say the score was too low." Regulation B anticipated that instinct and rejected it by name: failing to achieve a qualifying score is not, by itself, a sufficient reason. The bank has to say what pushed the score down.
Row three kills the sophisticated dodge, and it is the one that matters for AI. The argument "our model is a neural network, nobody can explain it" is not a defense — it is a reason not to use the model for that decision. The CFPB circular's phrasing is unusually blunt and worth quoting verbatim, which is why it is on the slide in quotation marks.
Now connect it back to our own case, because students will ask whether this applies to us. Our model does not deny anyone; it fills a review queue. If the analyst's review leads to nothing, or to a friendly phone call, no notice is required. But if it leads to a cut limit, we are squarely inside this rule — and we will not know in advance which reviews go that way. So the reason codes have to exist for every flagged account, up front. Design for the notice you might have to send.
Accessible sources for the notes:
- Regulation B, 12 CFR 1002.9, adverse-action notifications: https://www.consumerfinance.gov/rules-policy/regulations/1002/9/
- CFPB Circular 2022-03, adverse-action notification requirements in connection with credit decisions based on complex algorithms: https://www.consumerfinance.gov/compliance/circulars/circular-2022-03-adverse-action-notification-requirements-in-connection-with-credit-decisions-based-on-complex-algorithms/
- FTC guidance on FCRA adverse-action and risk-based-pricing notices: https://www.ftc.gov/business-guidance/resources/using-consumer-reports-credit-decisions-what-know-about-adverse-action-risk-based-pricing-notices
[Closing line - voice this; it is not printed on the slide: “The algorithm said so” is not an explanation. In consumer credit, it is a violation.]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legal duty on the previous slide turns into something you can build, so make the mechanism concrete.
Every model that produces a score can also be asked which inputs pushed that particular score up or down. For a scorecard-style model it is arithmetic you could do by hand: each feature has a weight, and weight times value is that feature's contribution. For a tree-based model we use an explainer that attributes the prediction across the features for one specific account. Either way you get a ranked list of contributions, and the top few positive ones become the reasons.
Then the translation step, which is the part students underestimate. A contribution is a number attached to a feature name. A reason code is an English sentence about a person. Getting from one to the other is a writing task with legal consequences, and it is the reason we engineered seven readable features instead of feeding the model twenty raw columns. Read the example on the slide aloud in a normal voice and ask whether it sounds like something a customer could argue with. That is the test.
Two honest caveats worth raising. First, not every flagged account has three risk-raising reasons; some have one or two, and the code has to say "up to three" rather than inventing padding. Second, some accounts are flagged mostly because a lot of money is at stake rather than because the risk is high — and the honest reason there is partly "large balance," which is an uncomfortable but truthful thing to write down. Both are good discussion prompts.
[Measured in the frozen notebook. The example wording mirrors held-out account 8049 (estimated probability 0.887, exposure NT$34,751, did default). Reason codes come from a SHAP TreeExplainer on the boosted model at roughly 0.0001 seconds per account, so runtime is a non-issue. Note for the technical audience: SHAP-on-boosting and logistic coefficient contributions agreed on the top reason only about 40% of the time across 100 accounts, which is exactly why the bank ships one documented mechanism rather than whichever is convenient.]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question: did removing the three demographic columns make a large difference to ranking performance?
Both models use the same training accounts, model type, and settings, and are checked on the same 6,000 validation accounts. Only the inputs change: ten with the demographic columns, seven without. AUC is 0.7670 before and 0.7655 after, a difference of 0.0015. The classroom system keeps the seven-input version.
Keep the conclusion narrow: ranking performance changed very little in this run. This experiment does not establish legal compliance or show whether errors are distributed similarly across groups. If asked, explain that group-level checks are a separate task; do not turn this comparison into an audit lesson.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case, new data type, same five stages and same rulebook.
The reason we build a second case at all is that students remember methods best when they see them survive a change of scenery. Tonight's first case was a table of numbers with a yes/no outcome. This one is free text with eight possible answers. Nothing about the discipline changes: define the decision, look at the data honestly, build the simplest thing that works, measure it, decide what happens when the model is unsure, and write down who is in charge.
This section also carries the piece of technical content the syllabus asks for — what a transformer actually is — and it does it on a task where we can measure whether the transformer was worth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complaint on the slide out loud. It takes fifteen seconds and it does more work than any diagram: everybody in the room instantly knows this is a mortgage problem, and nobody had to be trained to know it. That intuition is the task.
Then make the task precise. Eight specialist teams handle complaints at our imaginary bank — credit reporting, debt collection, credit cards, bank accounts, money transfers, loans, mortgages, and student loans. The model reads the narrative and picks one. That is multi-class classification, which is new: in fraud and in credit the answer was yes or no; in pneumonia it was priority or standard. Here there are eight doors and only one is right.
The confidence step is the design idea worth dwelling on. The model does not only pick a team, it reports how sure it is, and we get to decide what to do with unsure cases. Above a threshold the complaint routes itself; below it, a human triage desk picks it up. That is the abstention path — the model is allowed to say "I don't know" — and it is the single most useful safety feature in a text system. Note the family resemblance to the credit case: both models hand work to a human queue, and in both cases we choose how much work that is.
Finally the boundary line at the bottom of the slide. Students will assume a complaint-routing model is judging the complaint. It is not. It has no opinion about whether the consumer is right, it writes nothing, and it never speaks to anyone. It moves an envelope to the correct desk.
One sourcing note worth making explicit: this data is published by the regulator itself, narratives appear only when the consumer opts in, and the regulator scrubs names, account numbers, and dates before publishing — you will see runs of X characters where those used to be. We did not have to do the privacy work, and we should say so rather than take credit for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honest-data slide, and it is the one experienced students will remember, because every one of these four bit somebody in real life.
Row one is about who is in the data. Narratives are opt-in, so we are learning from consumers who chose to write and chose to let the regulator publish it. That is a selection effect, and it belongs in the model card. It does not make the data unusable; it makes a claim like "this reflects all complaints" untrue.
Row two is the imbalance, and it is the Session 2 accuracy trap wearing new clothes. The notebook actually builds that do-nothing model and scores it: always answering "credit reporting" gets 30.5% accuracy, more than double what blind guessing across eight doors would give, while its macro-F1 is 0.0585 — because it routes nothing at all for seven of the eight teams. Put those two numbers next to each other and the case for macro-F1 makes itself. That is why our headline is never plain accuracy alone.
Row three is the surprise, and it is worth a pause. Credit-repair firms file mass-produced dispute letters on behalf of thousands of consumers, so a huge share of recent narratives are literally the same text. If you split into training and test sets without removing them, the model sees the answer sheet — a form of leakage — and your test score is inflated by something that will never happen in production. We remove exact duplicates before splitting, and we document it.
Row four is the boring one that costs the most hours. Product labels were renamed over time, so the same complaint type appears under several names, and consolidating them into eight teams is a decision a person makes and defends. There is no correct answer sitting in the file.
[Measured in the frozen notebook, from the dedupe block of the complaint evaluation file. The mapped 2023-onward window held 2,634,602 narrative rows. Exact-duplicate removal dropped 1,093,131 of them — 41.49% — leaving 1,541,471 distinct narratives, of which 187,880 had been filed more than once. The duplication is wildly uneven across teams, which is the tell that this is an industry and not noise: credit reporting lost 52.37% of its rows to duplicates, money transfers 26.30%, debt collection 23.47%, credit cards 9.20%, bank accounts 3.28% — and mortgages 0.08%. Nobody mass-files mortgage complaints.
The leakage experiment is the number to say out loud if the class pushes back on the effort: the first, un-deduplicated build had 17.0% of its test narratives appearing verbatim in training, and reported 0.843 test accuracy against an honest 0.819 — inflated by 2.4 points by nothing but copied text.
The committed classroom sample is 58,185 rows across eight teams, split 70/15/15 into 40,729 training, 8,728 validation and 8,728 test, with zero verbatim overlap between splits. One honesty note that belongs in the model card and is worth a sentence here: credit reporting was capped at 1.5 times the second-largest team before sampling, so the team shares in our lab are a deliberate classroom mix, not the real 2023+ mix.]</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technique in plain language before you name it, then name it once so students recognize the term later.
The plain version: count the words, but do not treat all words as equally interesting. "The" appears in every complaint and tells you nothing. "Escrow" appears in very few and tells you almost everything. So each word gets a weight that goes up when the word is rare across the whole collection and up when it is frequent in this particular complaint. The technical name is TF-IDF — term frequency times inverse document frequency — and that is the whole idea in one sentence.
We also count two-word pairs, because "credit card" and "credit report" mean different things while sharing a word. That is a small choice with a real effect on routing.
Then the model on top is a logistic regression, which the class has already met in the credit case. Each team gets a set of word weights; the complaint's words are multiplied by those weights and added up; the highest total wins; the totals are turned into confidence numbers.
The payoff is the middle card. Because the model is a weighted sum of words, you can always list which words contributed most for this complaint and this team. There is no separate explainability tool, no approximation, no add-on — the explanation and the model are the same object. After the reason-code section, students should recognize why a regulated business finds that property extremely attractive.
Finally, plant the flag: this is the deployed model. When we look at the transformer next, we are not looking for a replacement; we are asking whether a more modern representation earns its place. Announcing that in advance keeps the comparison honest.
[Measured in the frozen notebook: TF-IDF with word and word-pair features capped at 50,000 columns, plus logistic regression, trained on all 40,729 complaints, reached 82.87% validation accuracy and 0.8193 macro-F1, fitting in 13.5 seconds. Per-team validation F1 ran from mortgages at 0.8929 down to loans at 0.7065 — loan complaints bleed into credit reporting and debt collection when the consumer's story is about a loan appearing wrongly on their report. The routing words shown on the slide are the measured top contributions for a real validation narrative about a mortgage forbearance extension.
One thing to hold in your head for slide 24, so you do not get caught by a sharp student: 82.87% is the full-training number. The transformer comparison two slides from now refits both models on 15,000 rows so the fight is matched, so its accuracies are about two points lower on both sides. Different experiment, not a contradiction.]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one piece of architecture teaching, and the goal is recognition, not implementation. Students should leave able to say what a transformer does and why people are excited about it — not able to write one.
Start with the failure of the previous slide, which is on the lead line. Word counting throws away order and context. It cannot tell who charged whom. For routing that is often fine, which is itself worth noticing, but it is a real limitation.
Then the three steps. Tokens: the text is chopped into pieces from a fixed vocabulary of about thirty thousand word fragments, so an unknown word like a brand name breaks into familiar chunks rather than disappearing. Attention: this is the idea that made the architecture famous. Each piece is allowed to look at every other piece in the text and adjust what it means accordingly, so "charged" ends up meaning something different depending on what surrounds it. Doing that with twelve heads in parallel, six times over, is what those layers are for. Embedding: the result is collapsed into a single list of numbers representing the whole complaint, and complaints that mean similar things end up with similar lists.
The configuration strip exists because of a standing rule in this course: we read the actual settings of the model we run instead of repeating marketing copy. Six layers and twenty-two million parameters is small — thousands of times smaller than the models behind consumer chat assistants — and that is exactly why it runs on a classroom laptop. Also flag the 256-piece limit out loud, because it matters for us: consumer complaints are often long, and anything past that limit is simply not read. That is a concrete, non-mystical reason a fancy model can underperform.
Close on the callout, which is the honest boundary. An embedding is a measurement of similarity. It is not understanding, it is not judgment, and — critically for this module — it is not an explanation. Ask the class what a bank would have to add to use this in a credit decision, and let them arrive at "some other system that produces reasons."
[Measured in the frozen notebook, read from the loaded model rather than a product page: 6 transformer layers, 12 attention heads per layer, hidden size 384, a 1,536-wide feed-forward layer, a 30,522-piece wordpiece vocabulary, 22,713,216 parameters, a 256-token input limit, a 384-number normalized output embedding per complaint, and a 183.2 MB download. On a classroom CPU it encoded 211 narratives per second, so embedding the 49,457 training and validation narratives takes just under four minutes — which is why the embeddings ship precomputed and the cached path loads in under a second. Hold onto the 183.2 MB and the 256-token limit; both come back on the next slide as the reasons this model does not ship.]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complaint notebook here for a short highlights tour — this is not the twenty-minute walkthrough the credit case got. Show three things: the sample and how it was deduplicated, the matched representation comparison, and the confidence-threshold sweep. Then come back to this slide.
Set the experiment up before you reveal anything, because the design is most of the lesson. Both models were fitted on the same 15,000 training complaints and scored on the same 8,728 validation complaints, with the identical logistic regression sitting on top of both. The only thing that changed was how the text became numbers. Say why that matters: an unmatched comparison — a model trained on all 40,729 rows against one trained on a subsample — would tell you about the training-set size, not about the representation, and it is the single easiest way to talk yourself into a conclusion you wanted anyway.
Now the result, and read it exactly as it came out. It is a tie that splits. Counting words took accuracy, 80.83% against 80.48% — 0.35 of a point. Embeddings took macro-F1, 0.7957 against 0.7918 — 0.39 of a point. Do not say "the transformer lost"; that is not what the run says. Say the matched comparison came out even, and which model looks better depends on which metric you pick up.
Spend a minute on that split, because it teaches the metrics better than a definition would. Accuracy counts complaints, so the biggest teams dominate it — credit reporting alone is 2,664 of the 8,728. Macro-F1 averages the eight teams' F1 scores equally, so a model that helps the thin teams — loans, student loans, mortgages — moves it. Embeddings coming out a hair ahead on macro-F1 and a hair behind on accuracy is exactly the shape you would expect from a representation that does slightly better on the small classes and slightly worse on the big one. Neither margin is remotely large enough to act on.
Then the conclusion, and notice that it gets stronger, not weaker. If the transformer had won by four points we would have a genuine argument on our hands about whether explainability was worth paying for. It won nothing measurable. So the decision falls entirely to the properties that are not tied. The word model hands a triage clerk the exact words that routed the complaint; the embedding model has no word-level reason to show anyone, which the notebook's own comparison table states in those terms. The word model runs anywhere with nothing to fetch; the embedding model needs a 183.2 MB download before it can read its first complaint. Ship the explainable one. That is not a compromise forced on us by the regulator — it is what the measurement licensed.
Be scrupulous about the one number that favors the transformer, because students will spot it on the slide: fitting the classifier took 1.1 seconds on 384 dense columns against 7.6 seconds on 50,000 sparse ones. That is real, and it is the honest reason people like embeddings. It also excludes the encoding pass, which runs at 211 narratives per second on a classroom CPU — just under four minutes for the 49,457 narratives the deployed model trains and validates on. Say both halves of that.
Say the double lesson explicitly, because it is the module's spine. In the credit case the model we could explain was measurably worse and we had to argue about the tradeoff. Here the two are even, so the tie goes to the model that can show its work. Two cases, two different situations, one method for getting to an answer: match the comparison, then measure it.
Finish on the abstention path. The threshold is a dial we choose. On the frozen test split, 0.55 auto-routed 6,833 of 8,728 complaints — 78.29% coverage — and 89.67% of those reached the right team; the remaining 1,895 complaints, 21.71%, went to human triage, where the model's own guess would have been right only 54.67% of the time. That last figure is the whole argument for the threshold: the complaints it holds back really are the hard ones. Push the dial to 0.90 on the validation sweep and auto-routed accuracy climbs to 97.8%, but coverage collapses to 32.3% and two-thirds of everything lands on a person. There is no correct setting in the abstract; there is a setting that matches how much triage staffing you have — the same "staff the queue" idea from the AML slide, and the same shape as the credit cost policy.
[All figures on this slide come from the complaint notebook's frozen evaluation file: the representation_comparison block for the matched 15,000-row experiment, and test_frozen for the deployed model's 82.07% accuracy, 0.8097 macro-F1, and threshold behavior.]
[Closing line - voice this; it is not printed on the slide: Newest is not automatically best. The matched comparison came out even, so we shipped the model that can show its reasons.]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This section is fourteen minutes for both handoffs, so keep the workflow walkthrough to about seven and leave the demos room to breathe.
The three steps are the same three the class used on the fraud and pneumonia cases, which is the reason to walk only one case here. Map is the honest inventory: draw the whole process, including the parts with no software in them at all. Judge asks, for each decision on the map, what kind of decision it actually is — a rule anybody could write down, a human judgment call, or a pattern worth learning from data. Design is where the AI goes, and it always includes two questions students forget: what does the person keep, and what happens when the model is down.
The most valuable moment in Judge is when the class discovers how few of the decisions in a credit workflow are model decisions. Identity checks, eligibility rules, notice templates, escalation paths — those are rules and people. That discovery is the antidote to "let's put AI on it," and it is worth letting them find it rather than telling them.
Then set the homework in the callout. The complaint case is already built, and running Map, Judge, and Design on it alone is the test of transfer. If a student can only do this when we do it with them, they have not learned the method yet.
[Failure path if the app is unavailable: the same map appears as the two-row workflow diagram on slide 11, and the printed workflow card in the run guide covers the Judge verdicts. Do not debug the app live.]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demos, seven minutes total, and the discipline is the same as Module 3: show the workflow consequence, not the model internals. The notebook already owned the technical story.
On the credit demo, the one thing to do slowly is the what-if. Change a single payment status on an account and let the class watch the score move and — more importantly — watch the reasons reorder. That is the adverse-action machinery running live, and it makes the abstract legal duty from section IV feel mechanical and buildable. Note that the demo removes the account's real outcome as soon as you modify an input, because a hypothetical account has no history.
Then the cost slider on the queue view. Drag it and narrate the consequence in staffing terms: at this cost the queue holds this many accounts, and here is the line where the team runs out of hours. This is the single clearest picture in the module of a threshold turning into somebody's workload.
On the complaint demo, paste something. Type a two-sentence complaint about a credit card, watch it route, then edit it into a mortgage complaint and watch the route and the highlighted words change together. The visible link between the words and the answer is the whole argument for the deployed model.
Both failure paths are on the slide because both are deliberate. An account with unusable fields is excluded and logged — visible, not silent. A low-confidence complaint goes to triage. And the packaged complaint samples include one confidently wrong route, which is the best discussion hook of the evening: the threshold manages errors, it does not eliminate them.
Educational-use boundary, stated once more here: these are small models on public data from other places and other years. They borrow the shape of bank systems and none of their authority.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and the one that answers the question students have been circling all evening: if the model is good, who decides it can be used?
In healthcare the answer involved regulators, clinical validation, and professional authority. In banking it is a supervisory framework that has been in place since long before the current AI wave, and it applies to every model in the building — including the ones that are just spreadsheets. That universality is the point: our two little models tonight are, formally, two more entries in a bank's model inventory.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source, then make it concrete on our own work. SR 11-7 is a 2011 supervisory letter from the Federal Reserve and the OCC titled "Guidance on Model Risk Management." It is not an AI document — it predates the current wave by a decade — and that is what makes it powerful: it treats a model as any tool whose output could be wrong in a way that costs the bank money or breaks the law. A spreadsheet counts. A pricing formula counts. Our little credit model counts.
Then walk the four rows against tonight's artifacts, because students should see that they have already done a small version of all four.
Write it down: the notebook exports a model card that states the population, the data source, the features, the intended use, and the prohibited uses. Ours says explicitly that it is built on one Taiwanese issuer's accounts from 2005 and generalizes to nobody in 2026 — which is the most useful sentence in the file.
Somebody else checks it: we do not have an independent validation function in a classroom, so name what it would do — reproduce the results from the artifacts, challenge the feature choices, and test the model on data the builders did not pick. That is why we export a reload identity check.
Watch it after it ships: the workflow diagram ends with an outcome feeding a monitoring dashboard. Behavioral credit models age; a model trained on a stable year behaves differently in a bad one.
Keep an inventory: this is the row that lands hardest tonight. We built two models in one evening. A real bank has hundreds, and the first governance failure is usually not a bad model — it is a model nobody knew was still running.
Finally the callout, which is a nice live example: the guidance was itself replaced in April 2026 by SR 26-2. The four ideas survive; the document is maintained. Governance is a process, not a PDF.
Accessible sources for the notes:
- Federal Reserve SR 11-7, Guidance on Model Risk Management (2011): https://www.federalreserve.gov/boarddocs/srletters/2011/sr1107.htm
- Federal Reserve SR 26-2, Revised Guidance on Model Risk Management (April 17, 2026): https://www.federalreserve.gov/supervisionreg/srletters/sr2602.htm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is on the credit lifecycle map from slide 6 — it sits at underwriting, the stage our own case deliberately avoids. Point back at that map so the geography stays straight.
Tell it in order. A software developer posted that he received a credit limit roughly twenty times his wife's despite shared finances and a joint tax return; the post went viral, a co-founder of Apple said something similar had happened to him, and within days New York's Department of Financial Services opened an investigation into the issuing bank.
Then the finding, which surprises students who only remember the headline. DFS analyzed underwriting data covering roughly 400,000 New York applicants and reported that it did not produce evidence of deliberate discrimination or disparate impact in the underwriting model. In other words: the model was not found to be the villain.
Then the part that matters for us. The same report identified deficiencies in customer service and transparency. Customers who asked why their limit was what it was could not get an answer, and the bank had no adequate process for producing one. That failure was real, it was expensive, and no amount of model accuracy would have prevented it.
Land the lesson in one sentence: the ability to give a customer a usable reason is a product feature and a legal obligation, and it is not the same thing as being right. Then connect it forward to the case-teardown assignment — this is a model teardown target, and a good teardown separates "was the model wrong" from "was the system unable to explain itself."
A fairness caution for the room: "no evidence found" is a finding about the evidence available to one regulator in one state, not a proof that no harm occurred anywhere. Teach students to state findings with their scope attached.
The slide links are clickable. Full URLs for copying after export:
- DFS press release, March 23, 2021: https://www.dfs.ny.gov/reports_and_publications/press_releases/pr202103231
- DFS report on the Apple Card investigation: https://www.dfs.ny.gov/reports_and_publications/202103_report_apple_card_investigation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cases, four minutes, and they are chosen to sit on opposite sides of the same idea.
Knight Capital first, and lead with the fact that grabs the room: a trading firm lost more than $460 million in about forty-five minutes. Then the detail students never expect — there was no artificial intelligence involved at all. A software deployment went to some servers and not others, old code that should have been dead was reactivated by a repurposed flag, and the system began sending erroneous orders into the market faster than anyone could stop it. The SEC's order was the first enforcement action under the market-access rule and carried a $12 million penalty.
Ask the class why a story with no AI belongs in an AI course. The answer is the whole governance section: the things that break automated systems are deployment, configuration, monitoring, and the ability to stop them. Every one of those is in the model-risk guidance from the previous slide, and none of them care whether the thing you deployed is a neural network or a set of if-statements.
Then Upstart, which is the success case with the asterisk. In 2017 the CFPB issued its first no-action letter to a lender using machine learning and non-traditional data in underwriting, renewed in 2020, conditioned on the company reporting fair-lending results back to the regulator. This is genuine evidence that AI credit models can operate under supervision. The asterisk arrives in June 2022, when the company asked the CFPB to terminate the letter, because it required the regulator to review changes before the model could be updated — and a company that wants to retrain frequently cannot live with a review gate on every change.
That tension is a real and permanent one, and it makes a good closing question for the section: how often do you want to change a model that a regulator has blessed? There is no clean answer, and students should feel that.
Both of these are strong candidates for the case-teardown assignment, and so is the Apple Card case on the previous slide.
The slide links are clickable. Full URLs for copying after export:
- SEC press release 2013-222, Knight Capital Americas: https://www.sec.gov/newsroom/press-releases/2013-222
- SEC administrative order, release 34-70694: https://www.sec.gov/files/litigation/admin/2013/34-70694.pdf
- CFPB announces first no-action letter to Upstart Network (September 2017): https://www.consumerfinance.gov/about-us/newsroom/cfpb-announces-first-no-action-letter-upstart-network/
- CFPB issues order to terminate Upstart no-action letter (June 2022): https://www.consumerfinance.gov/about-us/newsroom/cfpb-issues-order-to-terminate-upstart-no-action-letter/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Read them and stop — no new material in the last five minutes.
Line one is the map from the start of the evening, and it is the sentence that protects students from vendor pitches for the rest of their careers. "We use AI in finance" describes nothing until you know which decision, at what speed, with what error cost, under which regulator.
Line two is the through-line of the whole course, now drawn a third time. In fraud it was an analyst queue, in radiology it was a reading queue, tonight it was a review queue and a triage queue. Different industries, same architecture: the model orders the work and a person owns the act.
Line three is what Module 4 adds. Explainability moved from good practice to legal requirement, and the requirement is specific and personal — reasons this customer can read about their own behavior. That can disqualify an accurate model, and no amount of technical sophistication counts as an excuse.
Line four is tonight's honest surprise, and it is worth ending the technical content on. We taught the transformer properly, matched the comparison so it was a fair fight, and then measured a tie — word counts a third of a point ahead on accuracy, embeddings a third of a point ahead on macro-F1. Because the accuracy question came out even, the choice was settled by the two things that were not even: the deployed model can show a clerk which words routed a complaint, and it needs no 183 MB download. Students should leave able to explain what attention does and equally able to say "we matched the comparison, measured it, and shipped the one we can explain."
Line five is the section we just finished. The model was ready in seconds; the documentation, the validation, the monitoring plan, and the inventory entry are what stand between a working notebook and a system a bank is allowed to run.
Then the assignment. The case teardown asks for one real finance AI system, succeeded or failed, taken apart on data, model, integration, and governance. Apple Card, Knight Capital, and Upstart are all on the previous two slides with primary sources attached, and any of them is a legitimate choice. The full assignment sheet and rubric follow separately; tonight's job is to make sure everyone knows the four axes and where to find a case.
Next module returns to the technical side with a different data type. Tonight's rulebook does not go away — it becomes the standard we hold every later case to.
[Closing line - voice this; it is not printed on the slide: Classification was the easy part. Explanation is a legal artifact, and governance decides what ships.]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www.dfs.ny.gov/reports_and_publications/press_releases/pr202103231"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hyperlink" Target="https://www.dfs.ny.gov/reports_and_publications/202103_report_apple_card_investigation"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sec.gov/newsroom/press-releases/2013-222"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www.consumerfinance.gov/about-us/newsroom/cfpb-issues-order-to-terminate-upstart-no-action-letter/" TargetMode="External"/><Relationship Id="rId4" Type="http://schemas.openxmlformats.org/officeDocument/2006/relationships/hyperlink" Target="https://www.consumerfinance.gov/about-us/newsroom/cfpb-announces-first-no-action-letter-upstart-network/"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1188720"/>
            <a:ext cx="10058400" cy="274320"/>
          </a:xfrm>
          <a:prstGeom prst="rect">
            <a:avLst/>
          </a:prstGeom>
          <a:noFill/>
          <a:ln/>
        </p:spPr>
        <p:txBody>
          <a:bodyPr wrap="square" lIns="0" tIns="0" rIns="0" bIns="0" rtlCol="0" anchor="ctr"/>
          <a:lstStyle/>
          <a:p>
            <a:pPr marL="0" indent="0">
              <a:buNone/>
            </a:pPr>
            <a:r>
              <a:rPr lang="en-US" sz="1300" b="1" kern="0" spc="200" dirty="0">
                <a:solidFill>
                  <a:srgbClr val="22D3EE"/>
                </a:solidFill>
                <a:latin typeface="Arial" pitchFamily="34" charset="0"/>
                <a:ea typeface="Arial" pitchFamily="34" charset="-122"/>
                <a:cs typeface="Arial" pitchFamily="34" charset="-120"/>
              </a:rPr>
              <a:t>ITAI 2372 · ARTIFICIAL INTELLIGENCE APPLICATIONS</a:t>
            </a:r>
            <a:endParaRPr lang="en-US" sz="1300" dirty="0"/>
          </a:p>
        </p:txBody>
      </p:sp>
      <p:sp>
        <p:nvSpPr>
          <p:cNvPr id="3" name="Text 1"/>
          <p:cNvSpPr/>
          <p:nvPr/>
        </p:nvSpPr>
        <p:spPr>
          <a:xfrm>
            <a:off x="566928" y="1673352"/>
            <a:ext cx="11064240" cy="822960"/>
          </a:xfrm>
          <a:prstGeom prst="rect">
            <a:avLst/>
          </a:prstGeom>
          <a:noFill/>
          <a:ln/>
        </p:spPr>
        <p:txBody>
          <a:bodyPr wrap="square" lIns="0" tIns="0" rIns="0" bIns="0" rtlCol="0" anchor="ctr"/>
          <a:lstStyle/>
          <a:p>
            <a:pPr marL="0" indent="0">
              <a:buNone/>
            </a:pPr>
            <a:r>
              <a:rPr lang="en-US" sz="4300" b="1" dirty="0">
                <a:solidFill>
                  <a:srgbClr val="F2F4F8"/>
                </a:solidFill>
                <a:latin typeface="Arial" pitchFamily="34" charset="0"/>
                <a:ea typeface="Arial" pitchFamily="34" charset="-122"/>
                <a:cs typeface="Arial" pitchFamily="34" charset="-120"/>
              </a:rPr>
              <a:t>AI in Finance and Risk Management</a:t>
            </a:r>
            <a:endParaRPr lang="en-US" sz="4300" dirty="0"/>
          </a:p>
        </p:txBody>
      </p:sp>
      <p:sp>
        <p:nvSpPr>
          <p:cNvPr id="5" name="Shape 3"/>
          <p:cNvSpPr/>
          <p:nvPr/>
        </p:nvSpPr>
        <p:spPr>
          <a:xfrm>
            <a:off x="566928" y="3886200"/>
            <a:ext cx="2331720" cy="347472"/>
          </a:xfrm>
          <a:prstGeom prst="roundRect">
            <a:avLst>
              <a:gd name="adj" fmla="val 21053"/>
            </a:avLst>
          </a:prstGeom>
          <a:solidFill>
            <a:srgbClr val="171A22"/>
          </a:solidFill>
          <a:ln w="12700">
            <a:solidFill>
              <a:srgbClr val="22D3EE"/>
            </a:solidFill>
            <a:prstDash val="solid"/>
          </a:ln>
        </p:spPr>
        <p:txBody>
          <a:bodyPr/>
          <a:lstStyle/>
          <a:p>
            <a:endParaRPr lang="en-US"/>
          </a:p>
        </p:txBody>
      </p:sp>
      <p:sp>
        <p:nvSpPr>
          <p:cNvPr id="6" name="Text 4"/>
          <p:cNvSpPr/>
          <p:nvPr/>
        </p:nvSpPr>
        <p:spPr>
          <a:xfrm>
            <a:off x="566928" y="3886200"/>
            <a:ext cx="2331720" cy="347472"/>
          </a:xfrm>
          <a:prstGeom prst="rect">
            <a:avLst/>
          </a:prstGeom>
          <a:noFill/>
          <a:ln/>
        </p:spPr>
        <p:txBody>
          <a:bodyPr wrap="square" lIns="0" tIns="0" rIns="0" bIns="0" rtlCol="0" anchor="ctr"/>
          <a:lstStyle/>
          <a:p>
            <a:pPr marL="0" indent="0" algn="ctr">
              <a:buNone/>
            </a:pPr>
            <a:r>
              <a:rPr lang="en-US" sz="1150" b="1" dirty="0">
                <a:solidFill>
                  <a:srgbClr val="22D3EE"/>
                </a:solidFill>
                <a:latin typeface="Arial" pitchFamily="34" charset="0"/>
                <a:ea typeface="Arial" pitchFamily="34" charset="-122"/>
                <a:cs typeface="Arial" pitchFamily="34" charset="-120"/>
              </a:rPr>
              <a:t>Credit risk</a:t>
            </a:r>
            <a:endParaRPr lang="en-US" sz="1150" dirty="0"/>
          </a:p>
        </p:txBody>
      </p:sp>
      <p:sp>
        <p:nvSpPr>
          <p:cNvPr id="7" name="Shape 5"/>
          <p:cNvSpPr/>
          <p:nvPr/>
        </p:nvSpPr>
        <p:spPr>
          <a:xfrm>
            <a:off x="3236976" y="3886200"/>
            <a:ext cx="2331720" cy="347472"/>
          </a:xfrm>
          <a:prstGeom prst="roundRect">
            <a:avLst>
              <a:gd name="adj" fmla="val 21053"/>
            </a:avLst>
          </a:prstGeom>
          <a:solidFill>
            <a:srgbClr val="171A22"/>
          </a:solidFill>
          <a:ln w="12700">
            <a:solidFill>
              <a:srgbClr val="38BDF8"/>
            </a:solidFill>
            <a:prstDash val="solid"/>
          </a:ln>
        </p:spPr>
        <p:txBody>
          <a:bodyPr/>
          <a:lstStyle/>
          <a:p>
            <a:endParaRPr lang="en-US"/>
          </a:p>
        </p:txBody>
      </p:sp>
      <p:sp>
        <p:nvSpPr>
          <p:cNvPr id="8" name="Text 6"/>
          <p:cNvSpPr/>
          <p:nvPr/>
        </p:nvSpPr>
        <p:spPr>
          <a:xfrm>
            <a:off x="3236976" y="3886200"/>
            <a:ext cx="2331720" cy="347472"/>
          </a:xfrm>
          <a:prstGeom prst="rect">
            <a:avLst/>
          </a:prstGeom>
          <a:noFill/>
          <a:ln/>
        </p:spPr>
        <p:txBody>
          <a:bodyPr wrap="square" lIns="0" tIns="0" rIns="0" bIns="0" rtlCol="0" anchor="ctr"/>
          <a:lstStyle/>
          <a:p>
            <a:pPr marL="0" indent="0" algn="ctr">
              <a:buNone/>
            </a:pPr>
            <a:r>
              <a:rPr lang="en-US" sz="1150" b="1" dirty="0">
                <a:solidFill>
                  <a:srgbClr val="38BDF8"/>
                </a:solidFill>
                <a:latin typeface="Arial" pitchFamily="34" charset="0"/>
                <a:ea typeface="Arial" pitchFamily="34" charset="-122"/>
                <a:cs typeface="Arial" pitchFamily="34" charset="-120"/>
              </a:rPr>
              <a:t>Complaint routing</a:t>
            </a:r>
            <a:endParaRPr lang="en-US" sz="1150" dirty="0"/>
          </a:p>
        </p:txBody>
      </p:sp>
      <p:sp>
        <p:nvSpPr>
          <p:cNvPr id="9" name="Shape 7"/>
          <p:cNvSpPr/>
          <p:nvPr/>
        </p:nvSpPr>
        <p:spPr>
          <a:xfrm>
            <a:off x="5907024" y="3886200"/>
            <a:ext cx="2331720" cy="347472"/>
          </a:xfrm>
          <a:prstGeom prst="roundRect">
            <a:avLst>
              <a:gd name="adj" fmla="val 21053"/>
            </a:avLst>
          </a:prstGeom>
          <a:solidFill>
            <a:srgbClr val="171A22"/>
          </a:solidFill>
          <a:ln w="12700">
            <a:solidFill>
              <a:srgbClr val="FBBF24"/>
            </a:solidFill>
            <a:prstDash val="solid"/>
          </a:ln>
        </p:spPr>
        <p:txBody>
          <a:bodyPr/>
          <a:lstStyle/>
          <a:p>
            <a:endParaRPr lang="en-US"/>
          </a:p>
        </p:txBody>
      </p:sp>
      <p:sp>
        <p:nvSpPr>
          <p:cNvPr id="10" name="Text 8"/>
          <p:cNvSpPr/>
          <p:nvPr/>
        </p:nvSpPr>
        <p:spPr>
          <a:xfrm>
            <a:off x="5907024" y="3886200"/>
            <a:ext cx="2331720" cy="347472"/>
          </a:xfrm>
          <a:prstGeom prst="rect">
            <a:avLst/>
          </a:prstGeom>
          <a:noFill/>
          <a:ln/>
        </p:spPr>
        <p:txBody>
          <a:bodyPr wrap="square" lIns="0" tIns="0" rIns="0" bIns="0" rtlCol="0" anchor="ctr"/>
          <a:lstStyle/>
          <a:p>
            <a:pPr marL="0" indent="0" algn="ctr">
              <a:buNone/>
            </a:pPr>
            <a:r>
              <a:rPr lang="en-US" sz="1150" b="1" dirty="0">
                <a:solidFill>
                  <a:srgbClr val="FBBF24"/>
                </a:solidFill>
                <a:latin typeface="Arial" pitchFamily="34" charset="0"/>
                <a:ea typeface="Arial" pitchFamily="34" charset="-122"/>
                <a:cs typeface="Arial" pitchFamily="34" charset="-120"/>
              </a:rPr>
              <a:t>Fair lending</a:t>
            </a:r>
            <a:endParaRPr lang="en-US" sz="1150" dirty="0"/>
          </a:p>
        </p:txBody>
      </p:sp>
      <p:sp>
        <p:nvSpPr>
          <p:cNvPr id="11" name="Shape 9"/>
          <p:cNvSpPr/>
          <p:nvPr/>
        </p:nvSpPr>
        <p:spPr>
          <a:xfrm>
            <a:off x="8577072" y="3886200"/>
            <a:ext cx="2331720" cy="347472"/>
          </a:xfrm>
          <a:prstGeom prst="roundRect">
            <a:avLst>
              <a:gd name="adj" fmla="val 21053"/>
            </a:avLst>
          </a:prstGeom>
          <a:solidFill>
            <a:srgbClr val="171A22"/>
          </a:solidFill>
          <a:ln w="12700">
            <a:solidFill>
              <a:srgbClr val="818CF8"/>
            </a:solidFill>
            <a:prstDash val="solid"/>
          </a:ln>
        </p:spPr>
        <p:txBody>
          <a:bodyPr/>
          <a:lstStyle/>
          <a:p>
            <a:endParaRPr lang="en-US"/>
          </a:p>
        </p:txBody>
      </p:sp>
      <p:sp>
        <p:nvSpPr>
          <p:cNvPr id="12" name="Text 10"/>
          <p:cNvSpPr/>
          <p:nvPr/>
        </p:nvSpPr>
        <p:spPr>
          <a:xfrm>
            <a:off x="8577072" y="3886200"/>
            <a:ext cx="2331720" cy="347472"/>
          </a:xfrm>
          <a:prstGeom prst="rect">
            <a:avLst/>
          </a:prstGeom>
          <a:noFill/>
          <a:ln/>
        </p:spPr>
        <p:txBody>
          <a:bodyPr wrap="square" lIns="0" tIns="0" rIns="0" bIns="0" rtlCol="0" anchor="ctr"/>
          <a:lstStyle/>
          <a:p>
            <a:pPr marL="0" indent="0" algn="ctr">
              <a:buNone/>
            </a:pPr>
            <a:r>
              <a:rPr lang="en-US" sz="1150" b="1" dirty="0">
                <a:solidFill>
                  <a:srgbClr val="818CF8"/>
                </a:solidFill>
                <a:latin typeface="Arial" pitchFamily="34" charset="0"/>
                <a:ea typeface="Arial" pitchFamily="34" charset="-122"/>
                <a:cs typeface="Arial" pitchFamily="34" charset="-120"/>
              </a:rPr>
              <a:t>Governance</a:t>
            </a:r>
            <a:endParaRPr lang="en-US" sz="1150" dirty="0"/>
          </a:p>
        </p:txBody>
      </p:sp>
      <p:sp>
        <p:nvSpPr>
          <p:cNvPr id="13" name="Text 11"/>
          <p:cNvSpPr/>
          <p:nvPr/>
        </p:nvSpPr>
        <p:spPr>
          <a:xfrm>
            <a:off x="566928" y="5806440"/>
            <a:ext cx="10058400" cy="274320"/>
          </a:xfrm>
          <a:prstGeom prst="rect">
            <a:avLst/>
          </a:prstGeom>
          <a:noFill/>
          <a:ln/>
        </p:spPr>
        <p:txBody>
          <a:bodyPr wrap="square" lIns="0" tIns="0" rIns="0" bIns="0" rtlCol="0" anchor="ctr"/>
          <a:lstStyle/>
          <a:p>
            <a:pPr marL="0" indent="0">
              <a:buNone/>
            </a:pPr>
            <a:r>
              <a:rPr lang="en-US" sz="1300" dirty="0">
                <a:solidFill>
                  <a:srgbClr val="99A5B5"/>
                </a:solidFill>
                <a:latin typeface="Arial" pitchFamily="34" charset="0"/>
                <a:ea typeface="Arial" pitchFamily="34" charset="-122"/>
                <a:cs typeface="Arial" pitchFamily="34" charset="-120"/>
              </a:rPr>
              <a:t>Houston Community College  ·  Fall 2026  ·  Prof. Yuexin Mao</a:t>
            </a:r>
            <a:endParaRPr lang="en-US" sz="1300" dirty="0"/>
          </a:p>
        </p:txBody>
      </p:sp>
      <p:sp>
        <p:nvSpPr>
          <p:cNvPr id="14" name="Text 12"/>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Opening</a:t>
            </a:r>
            <a:endParaRPr lang="en-US" sz="1000" dirty="0"/>
          </a:p>
        </p:txBody>
      </p:sp>
      <p:sp>
        <p:nvSpPr>
          <p:cNvPr id="15" name="Text 13"/>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FROM MODULE 3 TO MODULE 4</a:t>
            </a:r>
            <a:endParaRPr lang="en-US" sz="1200" dirty="0"/>
          </a:p>
        </p:txBody>
      </p:sp>
      <p:sp>
        <p:nvSpPr>
          <p:cNvPr id="3" name="Text 1"/>
          <p:cNvSpPr/>
          <p:nvPr/>
        </p:nvSpPr>
        <p:spPr>
          <a:xfrm>
            <a:off x="566928" y="84614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Agenda</a:t>
            </a:r>
            <a:endParaRPr lang="en-US" sz="2800" dirty="0"/>
          </a:p>
        </p:txBody>
      </p:sp>
      <p:sp>
        <p:nvSpPr>
          <p:cNvPr id="5" name="Text 3"/>
          <p:cNvSpPr/>
          <p:nvPr/>
        </p:nvSpPr>
        <p:spPr>
          <a:xfrm>
            <a:off x="676656" y="170967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I</a:t>
            </a:r>
            <a:endParaRPr lang="en-US" sz="1400" dirty="0"/>
          </a:p>
        </p:txBody>
      </p:sp>
      <p:sp>
        <p:nvSpPr>
          <p:cNvPr id="6" name="Text 4"/>
          <p:cNvSpPr/>
          <p:nvPr/>
        </p:nvSpPr>
        <p:spPr>
          <a:xfrm>
            <a:off x="1426464" y="170967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Where AI runs in a bank — five families of decisions</a:t>
            </a:r>
            <a:endParaRPr lang="en-US" sz="1500" dirty="0"/>
          </a:p>
        </p:txBody>
      </p:sp>
      <p:sp>
        <p:nvSpPr>
          <p:cNvPr id="7" name="Text 5"/>
          <p:cNvSpPr/>
          <p:nvPr/>
        </p:nvSpPr>
        <p:spPr>
          <a:xfrm>
            <a:off x="9893808" y="170967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12 min</a:t>
            </a:r>
            <a:endParaRPr lang="en-US" sz="1200" dirty="0"/>
          </a:p>
        </p:txBody>
      </p:sp>
      <p:sp>
        <p:nvSpPr>
          <p:cNvPr id="8" name="Shape 6"/>
          <p:cNvSpPr/>
          <p:nvPr/>
        </p:nvSpPr>
        <p:spPr>
          <a:xfrm>
            <a:off x="566928" y="2212591"/>
            <a:ext cx="11283696" cy="502920"/>
          </a:xfrm>
          <a:prstGeom prst="rect">
            <a:avLst/>
          </a:prstGeom>
          <a:solidFill>
            <a:srgbClr val="1C2029"/>
          </a:solidFill>
          <a:ln w="12700">
            <a:solidFill>
              <a:srgbClr val="1C2029"/>
            </a:solidFill>
            <a:prstDash val="solid"/>
          </a:ln>
        </p:spPr>
        <p:txBody>
          <a:bodyPr/>
          <a:lstStyle/>
          <a:p>
            <a:endParaRPr lang="en-US"/>
          </a:p>
        </p:txBody>
      </p:sp>
      <p:sp>
        <p:nvSpPr>
          <p:cNvPr id="9" name="Text 7"/>
          <p:cNvSpPr/>
          <p:nvPr/>
        </p:nvSpPr>
        <p:spPr>
          <a:xfrm>
            <a:off x="676656" y="221259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II</a:t>
            </a:r>
            <a:endParaRPr lang="en-US" sz="1400" dirty="0"/>
          </a:p>
        </p:txBody>
      </p:sp>
      <p:sp>
        <p:nvSpPr>
          <p:cNvPr id="10" name="Text 8"/>
          <p:cNvSpPr/>
          <p:nvPr/>
        </p:nvSpPr>
        <p:spPr>
          <a:xfrm>
            <a:off x="1426464" y="221259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Case 1: the credit-risk review decision</a:t>
            </a:r>
            <a:endParaRPr lang="en-US" sz="1500" dirty="0"/>
          </a:p>
        </p:txBody>
      </p:sp>
      <p:sp>
        <p:nvSpPr>
          <p:cNvPr id="11" name="Text 9"/>
          <p:cNvSpPr/>
          <p:nvPr/>
        </p:nvSpPr>
        <p:spPr>
          <a:xfrm>
            <a:off x="9893808" y="221259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15 min</a:t>
            </a:r>
            <a:endParaRPr lang="en-US" sz="1200" dirty="0"/>
          </a:p>
        </p:txBody>
      </p:sp>
      <p:sp>
        <p:nvSpPr>
          <p:cNvPr id="12" name="Text 10"/>
          <p:cNvSpPr/>
          <p:nvPr/>
        </p:nvSpPr>
        <p:spPr>
          <a:xfrm>
            <a:off x="676656" y="2715511"/>
            <a:ext cx="685800" cy="502920"/>
          </a:xfrm>
          <a:prstGeom prst="rect">
            <a:avLst/>
          </a:prstGeom>
          <a:noFill/>
          <a:ln/>
        </p:spPr>
        <p:txBody>
          <a:bodyPr wrap="square" lIns="0" tIns="0" rIns="0" bIns="0" rtlCol="0" anchor="ctr"/>
          <a:lstStyle/>
          <a:p>
            <a:pPr marL="0" indent="0">
              <a:buNone/>
            </a:pPr>
            <a:r>
              <a:rPr lang="en-US" sz="1400" b="1" dirty="0">
                <a:solidFill>
                  <a:srgbClr val="FBBF24"/>
                </a:solidFill>
                <a:latin typeface="Arial" pitchFamily="34" charset="0"/>
                <a:ea typeface="Arial" pitchFamily="34" charset="-122"/>
                <a:cs typeface="Arial" pitchFamily="34" charset="-120"/>
              </a:rPr>
              <a:t>III</a:t>
            </a:r>
            <a:endParaRPr lang="en-US" sz="1400" dirty="0"/>
          </a:p>
        </p:txBody>
      </p:sp>
      <p:sp>
        <p:nvSpPr>
          <p:cNvPr id="13" name="Text 11"/>
          <p:cNvSpPr/>
          <p:nvPr/>
        </p:nvSpPr>
        <p:spPr>
          <a:xfrm>
            <a:off x="1426464" y="2715511"/>
            <a:ext cx="8869680"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Notebook: the credit model in five stages</a:t>
            </a:r>
            <a:endParaRPr lang="en-US" sz="1500" dirty="0"/>
          </a:p>
        </p:txBody>
      </p:sp>
      <p:sp>
        <p:nvSpPr>
          <p:cNvPr id="14" name="Text 12"/>
          <p:cNvSpPr/>
          <p:nvPr/>
        </p:nvSpPr>
        <p:spPr>
          <a:xfrm>
            <a:off x="9893808" y="271551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20 min</a:t>
            </a:r>
            <a:endParaRPr lang="en-US" sz="1200" dirty="0"/>
          </a:p>
        </p:txBody>
      </p:sp>
      <p:sp>
        <p:nvSpPr>
          <p:cNvPr id="15" name="Shape 13"/>
          <p:cNvSpPr/>
          <p:nvPr/>
        </p:nvSpPr>
        <p:spPr>
          <a:xfrm>
            <a:off x="566928" y="3218431"/>
            <a:ext cx="11283696" cy="502920"/>
          </a:xfrm>
          <a:prstGeom prst="rect">
            <a:avLst/>
          </a:prstGeom>
          <a:solidFill>
            <a:srgbClr val="1C2029"/>
          </a:solidFill>
          <a:ln w="12700">
            <a:solidFill>
              <a:srgbClr val="1C2029"/>
            </a:solidFill>
            <a:prstDash val="solid"/>
          </a:ln>
        </p:spPr>
        <p:txBody>
          <a:bodyPr/>
          <a:lstStyle/>
          <a:p>
            <a:endParaRPr lang="en-US"/>
          </a:p>
        </p:txBody>
      </p:sp>
      <p:sp>
        <p:nvSpPr>
          <p:cNvPr id="16" name="Text 14"/>
          <p:cNvSpPr/>
          <p:nvPr/>
        </p:nvSpPr>
        <p:spPr>
          <a:xfrm>
            <a:off x="676656" y="321843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IV</a:t>
            </a:r>
            <a:endParaRPr lang="en-US" sz="1400" dirty="0"/>
          </a:p>
        </p:txBody>
      </p:sp>
      <p:sp>
        <p:nvSpPr>
          <p:cNvPr id="17" name="Text 15"/>
          <p:cNvSpPr/>
          <p:nvPr/>
        </p:nvSpPr>
        <p:spPr>
          <a:xfrm>
            <a:off x="1426464" y="321843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Explainability and fair lending</a:t>
            </a:r>
            <a:endParaRPr lang="en-US" sz="1500" dirty="0"/>
          </a:p>
        </p:txBody>
      </p:sp>
      <p:sp>
        <p:nvSpPr>
          <p:cNvPr id="18" name="Text 16"/>
          <p:cNvSpPr/>
          <p:nvPr/>
        </p:nvSpPr>
        <p:spPr>
          <a:xfrm>
            <a:off x="9893808" y="321843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14 min</a:t>
            </a:r>
            <a:endParaRPr lang="en-US" sz="1200" dirty="0"/>
          </a:p>
        </p:txBody>
      </p:sp>
      <p:sp>
        <p:nvSpPr>
          <p:cNvPr id="19" name="Text 17"/>
          <p:cNvSpPr/>
          <p:nvPr/>
        </p:nvSpPr>
        <p:spPr>
          <a:xfrm>
            <a:off x="676656" y="372135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V</a:t>
            </a:r>
            <a:endParaRPr lang="en-US" sz="1400" dirty="0"/>
          </a:p>
        </p:txBody>
      </p:sp>
      <p:sp>
        <p:nvSpPr>
          <p:cNvPr id="20" name="Text 18"/>
          <p:cNvSpPr/>
          <p:nvPr/>
        </p:nvSpPr>
        <p:spPr>
          <a:xfrm>
            <a:off x="1426464" y="372135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Case 2: complaint routing and the transformer</a:t>
            </a:r>
            <a:endParaRPr lang="en-US" sz="1500" dirty="0"/>
          </a:p>
        </p:txBody>
      </p:sp>
      <p:sp>
        <p:nvSpPr>
          <p:cNvPr id="21" name="Text 19"/>
          <p:cNvSpPr/>
          <p:nvPr/>
        </p:nvSpPr>
        <p:spPr>
          <a:xfrm>
            <a:off x="9893808" y="372135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18 min</a:t>
            </a:r>
            <a:endParaRPr lang="en-US" sz="1200" dirty="0"/>
          </a:p>
        </p:txBody>
      </p:sp>
      <p:sp>
        <p:nvSpPr>
          <p:cNvPr id="22" name="Shape 20"/>
          <p:cNvSpPr/>
          <p:nvPr/>
        </p:nvSpPr>
        <p:spPr>
          <a:xfrm>
            <a:off x="566928" y="4224271"/>
            <a:ext cx="11283696" cy="502920"/>
          </a:xfrm>
          <a:prstGeom prst="rect">
            <a:avLst/>
          </a:prstGeom>
          <a:solidFill>
            <a:srgbClr val="1C2029"/>
          </a:solidFill>
          <a:ln w="12700">
            <a:solidFill>
              <a:srgbClr val="1C2029"/>
            </a:solidFill>
            <a:prstDash val="solid"/>
          </a:ln>
        </p:spPr>
        <p:txBody>
          <a:bodyPr/>
          <a:lstStyle/>
          <a:p>
            <a:endParaRPr lang="en-US"/>
          </a:p>
        </p:txBody>
      </p:sp>
      <p:sp>
        <p:nvSpPr>
          <p:cNvPr id="23" name="Text 21"/>
          <p:cNvSpPr/>
          <p:nvPr/>
        </p:nvSpPr>
        <p:spPr>
          <a:xfrm>
            <a:off x="676656" y="4224271"/>
            <a:ext cx="685800" cy="502920"/>
          </a:xfrm>
          <a:prstGeom prst="rect">
            <a:avLst/>
          </a:prstGeom>
          <a:noFill/>
          <a:ln/>
        </p:spPr>
        <p:txBody>
          <a:bodyPr wrap="square" lIns="0" tIns="0" rIns="0" bIns="0" rtlCol="0" anchor="ctr"/>
          <a:lstStyle/>
          <a:p>
            <a:pPr marL="0" indent="0">
              <a:buNone/>
            </a:pPr>
            <a:r>
              <a:rPr lang="en-US" sz="1400" b="1" dirty="0">
                <a:solidFill>
                  <a:srgbClr val="FBBF24"/>
                </a:solidFill>
                <a:latin typeface="Arial" pitchFamily="34" charset="0"/>
                <a:ea typeface="Arial" pitchFamily="34" charset="-122"/>
                <a:cs typeface="Arial" pitchFamily="34" charset="-120"/>
              </a:rPr>
              <a:t>VI</a:t>
            </a:r>
            <a:endParaRPr lang="en-US" sz="1400" dirty="0"/>
          </a:p>
        </p:txBody>
      </p:sp>
      <p:sp>
        <p:nvSpPr>
          <p:cNvPr id="24" name="Text 22"/>
          <p:cNvSpPr/>
          <p:nvPr/>
        </p:nvSpPr>
        <p:spPr>
          <a:xfrm>
            <a:off x="1426464" y="4224271"/>
            <a:ext cx="8869680"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Applied AI Studio: workflows and demos</a:t>
            </a:r>
            <a:endParaRPr lang="en-US" sz="1500" dirty="0"/>
          </a:p>
        </p:txBody>
      </p:sp>
      <p:sp>
        <p:nvSpPr>
          <p:cNvPr id="25" name="Text 23"/>
          <p:cNvSpPr/>
          <p:nvPr/>
        </p:nvSpPr>
        <p:spPr>
          <a:xfrm>
            <a:off x="9893808" y="422427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14 min</a:t>
            </a:r>
            <a:endParaRPr lang="en-US" sz="1200" dirty="0"/>
          </a:p>
        </p:txBody>
      </p:sp>
      <p:sp>
        <p:nvSpPr>
          <p:cNvPr id="26" name="Text 24"/>
          <p:cNvSpPr/>
          <p:nvPr/>
        </p:nvSpPr>
        <p:spPr>
          <a:xfrm>
            <a:off x="676656" y="472719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VII</a:t>
            </a:r>
            <a:endParaRPr lang="en-US" sz="1400" dirty="0"/>
          </a:p>
        </p:txBody>
      </p:sp>
      <p:sp>
        <p:nvSpPr>
          <p:cNvPr id="27" name="Text 25"/>
          <p:cNvSpPr/>
          <p:nvPr/>
        </p:nvSpPr>
        <p:spPr>
          <a:xfrm>
            <a:off x="1426464" y="472719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Governance and case studies</a:t>
            </a:r>
            <a:endParaRPr lang="en-US" sz="1500" dirty="0"/>
          </a:p>
        </p:txBody>
      </p:sp>
      <p:sp>
        <p:nvSpPr>
          <p:cNvPr id="28" name="Text 26"/>
          <p:cNvSpPr/>
          <p:nvPr/>
        </p:nvSpPr>
        <p:spPr>
          <a:xfrm>
            <a:off x="9893808" y="472719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12 min</a:t>
            </a:r>
            <a:endParaRPr lang="en-US" sz="1200" dirty="0"/>
          </a:p>
        </p:txBody>
      </p:sp>
      <p:sp>
        <p:nvSpPr>
          <p:cNvPr id="29" name="Shape 27"/>
          <p:cNvSpPr/>
          <p:nvPr/>
        </p:nvSpPr>
        <p:spPr>
          <a:xfrm>
            <a:off x="566928" y="5230111"/>
            <a:ext cx="11283696" cy="502920"/>
          </a:xfrm>
          <a:prstGeom prst="rect">
            <a:avLst/>
          </a:prstGeom>
          <a:solidFill>
            <a:srgbClr val="1C2029"/>
          </a:solidFill>
          <a:ln w="12700">
            <a:solidFill>
              <a:srgbClr val="1C2029"/>
            </a:solidFill>
            <a:prstDash val="solid"/>
          </a:ln>
        </p:spPr>
        <p:txBody>
          <a:bodyPr/>
          <a:lstStyle/>
          <a:p>
            <a:endParaRPr lang="en-US"/>
          </a:p>
        </p:txBody>
      </p:sp>
      <p:sp>
        <p:nvSpPr>
          <p:cNvPr id="30" name="Text 28"/>
          <p:cNvSpPr/>
          <p:nvPr/>
        </p:nvSpPr>
        <p:spPr>
          <a:xfrm>
            <a:off x="676656" y="5230111"/>
            <a:ext cx="685800" cy="502920"/>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VIII</a:t>
            </a:r>
            <a:endParaRPr lang="en-US" sz="1400" dirty="0"/>
          </a:p>
        </p:txBody>
      </p:sp>
      <p:sp>
        <p:nvSpPr>
          <p:cNvPr id="31" name="Text 29"/>
          <p:cNvSpPr/>
          <p:nvPr/>
        </p:nvSpPr>
        <p:spPr>
          <a:xfrm>
            <a:off x="1426464" y="5230111"/>
            <a:ext cx="8869680" cy="502920"/>
          </a:xfrm>
          <a:prstGeom prst="rect">
            <a:avLst/>
          </a:prstGeom>
          <a:noFill/>
          <a:ln/>
        </p:spPr>
        <p:txBody>
          <a:bodyPr wrap="square" lIns="0" tIns="0" rIns="0" bIns="0" rtlCol="0" anchor="ctr"/>
          <a:lstStyle/>
          <a:p>
            <a:pPr marL="0" indent="0">
              <a:buNone/>
            </a:pPr>
            <a:r>
              <a:rPr lang="en-US" sz="1500" dirty="0">
                <a:solidFill>
                  <a:srgbClr val="F2F4F8"/>
                </a:solidFill>
                <a:latin typeface="Arial" pitchFamily="34" charset="0"/>
                <a:ea typeface="Arial" pitchFamily="34" charset="-122"/>
                <a:cs typeface="Arial" pitchFamily="34" charset="-120"/>
              </a:rPr>
              <a:t>Wrap and the case-teardown assignment</a:t>
            </a:r>
            <a:endParaRPr lang="en-US" sz="1500" dirty="0"/>
          </a:p>
        </p:txBody>
      </p:sp>
      <p:sp>
        <p:nvSpPr>
          <p:cNvPr id="32" name="Text 30"/>
          <p:cNvSpPr/>
          <p:nvPr/>
        </p:nvSpPr>
        <p:spPr>
          <a:xfrm>
            <a:off x="9893808" y="5230111"/>
            <a:ext cx="1737360" cy="502920"/>
          </a:xfrm>
          <a:prstGeom prst="rect">
            <a:avLst/>
          </a:prstGeom>
          <a:noFill/>
          <a:ln/>
        </p:spPr>
        <p:txBody>
          <a:bodyPr wrap="square" lIns="0" tIns="0" rIns="0" bIns="0" rtlCol="0" anchor="ctr"/>
          <a:lstStyle/>
          <a:p>
            <a:pPr marL="0" indent="0" algn="r">
              <a:buNone/>
            </a:pPr>
            <a:r>
              <a:rPr lang="en-US" sz="1200" dirty="0">
                <a:solidFill>
                  <a:srgbClr val="99A5B5"/>
                </a:solidFill>
                <a:latin typeface="Arial" pitchFamily="34" charset="0"/>
                <a:ea typeface="Arial" pitchFamily="34" charset="-122"/>
                <a:cs typeface="Arial" pitchFamily="34" charset="-120"/>
              </a:rPr>
              <a:t>5 min</a:t>
            </a:r>
            <a:endParaRPr lang="en-US" sz="1200" dirty="0"/>
          </a:p>
        </p:txBody>
      </p:sp>
      <p:sp>
        <p:nvSpPr>
          <p:cNvPr id="33" name="Text 31"/>
          <p:cNvSpPr/>
          <p:nvPr/>
        </p:nvSpPr>
        <p:spPr>
          <a:xfrm>
            <a:off x="676656" y="6007351"/>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Opening</a:t>
            </a:r>
            <a:endParaRPr lang="en-US" sz="1000" dirty="0"/>
          </a:p>
        </p:txBody>
      </p:sp>
      <p:sp>
        <p:nvSpPr>
          <p:cNvPr id="34" name="Text 32"/>
          <p:cNvSpPr/>
          <p:nvPr/>
        </p:nvSpPr>
        <p:spPr>
          <a:xfrm>
            <a:off x="10991088" y="6007351"/>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22D3EE"/>
          </a:solidFill>
          <a:ln/>
        </p:spPr>
        <p:txBody>
          <a:bodyPr/>
          <a:lstStyle/>
          <a:p>
            <a:endParaRPr lang="en-US"/>
          </a:p>
        </p:txBody>
      </p:sp>
      <p:sp>
        <p:nvSpPr>
          <p:cNvPr id="3" name="Text 1"/>
          <p:cNvSpPr/>
          <p:nvPr/>
        </p:nvSpPr>
        <p:spPr>
          <a:xfrm>
            <a:off x="1097280" y="1993392"/>
            <a:ext cx="9601200" cy="292608"/>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SECTION I  |  12 min</a:t>
            </a:r>
            <a:endParaRPr lang="en-US" sz="1400" dirty="0"/>
          </a:p>
        </p:txBody>
      </p:sp>
      <p:sp>
        <p:nvSpPr>
          <p:cNvPr id="4" name="Text 2"/>
          <p:cNvSpPr/>
          <p:nvPr/>
        </p:nvSpPr>
        <p:spPr>
          <a:xfrm>
            <a:off x="1097280" y="2514600"/>
            <a:ext cx="9966960" cy="1234440"/>
          </a:xfrm>
          <a:prstGeom prst="rect">
            <a:avLst/>
          </a:prstGeom>
          <a:noFill/>
          <a:ln/>
        </p:spPr>
        <p:txBody>
          <a:bodyPr wrap="square" lIns="0" tIns="0" rIns="0" bIns="0" rtlCol="0" anchor="t"/>
          <a:lstStyle/>
          <a:p>
            <a:pPr marL="0" indent="0">
              <a:buNone/>
            </a:pPr>
            <a:r>
              <a:rPr lang="en-US" sz="3400" b="1" dirty="0">
                <a:solidFill>
                  <a:srgbClr val="F2F4F8"/>
                </a:solidFill>
                <a:latin typeface="Arial" pitchFamily="34" charset="0"/>
                <a:ea typeface="Arial" pitchFamily="34" charset="-122"/>
                <a:cs typeface="Arial" pitchFamily="34" charset="-120"/>
              </a:rPr>
              <a:t>A bank runs on decisions, and every one has a price</a:t>
            </a:r>
            <a:endParaRPr lang="en-US" sz="3400" dirty="0"/>
          </a:p>
        </p:txBody>
      </p:sp>
      <p:sp>
        <p:nvSpPr>
          <p:cNvPr id="5" name="Text 3"/>
          <p:cNvSpPr/>
          <p:nvPr/>
        </p:nvSpPr>
        <p:spPr>
          <a:xfrm>
            <a:off x="1097280" y="4069080"/>
            <a:ext cx="9601200" cy="1188720"/>
          </a:xfrm>
          <a:prstGeom prst="rect">
            <a:avLst/>
          </a:prstGeom>
          <a:noFill/>
          <a:ln/>
        </p:spPr>
        <p:txBody>
          <a:bodyPr wrap="square" lIns="0" tIns="0" rIns="0" bIns="0" rtlCol="0" anchor="t"/>
          <a:lstStyle/>
          <a:p>
            <a:pPr marL="0" indent="0">
              <a:buNone/>
            </a:pPr>
            <a:r>
              <a:rPr lang="en-US" sz="2000" dirty="0">
                <a:solidFill>
                  <a:srgbClr val="AAB2C0"/>
                </a:solidFill>
                <a:latin typeface="Arial" pitchFamily="34" charset="0"/>
                <a:ea typeface="Arial" pitchFamily="34" charset="-122"/>
                <a:cs typeface="Arial" pitchFamily="34" charset="-120"/>
              </a:rPr>
              <a:t>Fraud, credit, money-laundering checks, customer service, trading. Five families of work — each with its own error cost and its own regulator.</a:t>
            </a:r>
            <a:endParaRPr lang="en-US" sz="2000" dirty="0"/>
          </a:p>
        </p:txBody>
      </p:sp>
      <p:sp>
        <p:nvSpPr>
          <p:cNvPr id="6" name="Text 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Where AI runs in a bank</a:t>
            </a:r>
            <a:endParaRPr lang="en-US" sz="1000" dirty="0"/>
          </a:p>
        </p:txBody>
      </p:sp>
      <p:sp>
        <p:nvSpPr>
          <p:cNvPr id="7" name="Text 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THE MAP BEFORE THE MODEL</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Five families of decisions run a bank</a:t>
            </a:r>
            <a:endParaRPr lang="en-US" sz="2800" dirty="0"/>
          </a:p>
        </p:txBody>
      </p:sp>
      <p:sp>
        <p:nvSpPr>
          <p:cNvPr id="4" name="Text 2"/>
          <p:cNvSpPr/>
          <p:nvPr/>
        </p:nvSpPr>
        <p:spPr>
          <a:xfrm>
            <a:off x="566928" y="1737360"/>
            <a:ext cx="301752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FAMILY</a:t>
            </a:r>
            <a:endParaRPr lang="en-US" sz="1100" dirty="0"/>
          </a:p>
        </p:txBody>
      </p:sp>
      <p:sp>
        <p:nvSpPr>
          <p:cNvPr id="5" name="Text 3"/>
          <p:cNvSpPr/>
          <p:nvPr/>
        </p:nvSpPr>
        <p:spPr>
          <a:xfrm>
            <a:off x="3584448" y="1737360"/>
            <a:ext cx="576072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THE DECISION BEING MADE</a:t>
            </a:r>
            <a:endParaRPr lang="en-US" sz="1100" dirty="0"/>
          </a:p>
        </p:txBody>
      </p:sp>
      <p:sp>
        <p:nvSpPr>
          <p:cNvPr id="6" name="Text 4"/>
          <p:cNvSpPr/>
          <p:nvPr/>
        </p:nvSpPr>
        <p:spPr>
          <a:xfrm>
            <a:off x="9345168" y="1737360"/>
            <a:ext cx="228600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TONIGHT</a:t>
            </a:r>
            <a:endParaRPr lang="en-US" sz="1100" dirty="0"/>
          </a:p>
        </p:txBody>
      </p:sp>
      <p:sp>
        <p:nvSpPr>
          <p:cNvPr id="7" name="Shape 5"/>
          <p:cNvSpPr/>
          <p:nvPr/>
        </p:nvSpPr>
        <p:spPr>
          <a:xfrm>
            <a:off x="566928" y="2103120"/>
            <a:ext cx="11064240" cy="22860"/>
          </a:xfrm>
          <a:prstGeom prst="rect">
            <a:avLst/>
          </a:prstGeom>
          <a:solidFill>
            <a:srgbClr val="22D3EE"/>
          </a:solidFill>
          <a:ln/>
        </p:spPr>
        <p:txBody>
          <a:bodyPr/>
          <a:lstStyle/>
          <a:p>
            <a:endParaRPr lang="en-US"/>
          </a:p>
        </p:txBody>
      </p:sp>
      <p:sp>
        <p:nvSpPr>
          <p:cNvPr id="8" name="Text 6"/>
          <p:cNvSpPr/>
          <p:nvPr/>
        </p:nvSpPr>
        <p:spPr>
          <a:xfrm>
            <a:off x="566928" y="2176272"/>
            <a:ext cx="2871216" cy="77724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Fraud detection</a:t>
            </a:r>
            <a:endParaRPr lang="en-US" sz="1500" dirty="0"/>
          </a:p>
        </p:txBody>
      </p:sp>
      <p:sp>
        <p:nvSpPr>
          <p:cNvPr id="9" name="Text 7"/>
          <p:cNvSpPr/>
          <p:nvPr/>
        </p:nvSpPr>
        <p:spPr>
          <a:xfrm>
            <a:off x="3584448" y="2176272"/>
            <a:ext cx="561441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Is the transaction genuine? Millions of decisions at high speed.</a:t>
            </a:r>
            <a:endParaRPr lang="en-US" sz="1500" dirty="0"/>
          </a:p>
        </p:txBody>
      </p:sp>
      <p:sp>
        <p:nvSpPr>
          <p:cNvPr id="10" name="Text 8"/>
          <p:cNvSpPr/>
          <p:nvPr/>
        </p:nvSpPr>
        <p:spPr>
          <a:xfrm>
            <a:off x="9345168" y="2176272"/>
            <a:ext cx="2139696" cy="777240"/>
          </a:xfrm>
          <a:prstGeom prst="rect">
            <a:avLst/>
          </a:prstGeom>
          <a:noFill/>
          <a:ln/>
        </p:spPr>
        <p:txBody>
          <a:bodyPr wrap="square" lIns="0" tIns="0" rIns="0" bIns="0" rtlCol="0" anchor="ctr"/>
          <a:lstStyle/>
          <a:p>
            <a:pPr marL="0" indent="0">
              <a:buNone/>
            </a:pPr>
            <a:r>
              <a:rPr lang="en-US" sz="1500" b="1" dirty="0">
                <a:solidFill>
                  <a:srgbClr val="38BDF8"/>
                </a:solidFill>
                <a:latin typeface="Arial" pitchFamily="34" charset="0"/>
                <a:ea typeface="Arial" pitchFamily="34" charset="-122"/>
                <a:cs typeface="Arial" pitchFamily="34" charset="-120"/>
              </a:rPr>
              <a:t>Session 2 lab</a:t>
            </a:r>
            <a:endParaRPr lang="en-US" sz="1500" dirty="0"/>
          </a:p>
        </p:txBody>
      </p:sp>
      <p:sp>
        <p:nvSpPr>
          <p:cNvPr id="11" name="Shape 9"/>
          <p:cNvSpPr/>
          <p:nvPr/>
        </p:nvSpPr>
        <p:spPr>
          <a:xfrm>
            <a:off x="457200" y="2953512"/>
            <a:ext cx="11283696" cy="777240"/>
          </a:xfrm>
          <a:prstGeom prst="rect">
            <a:avLst/>
          </a:prstGeom>
          <a:solidFill>
            <a:srgbClr val="1C2029"/>
          </a:solidFill>
          <a:ln/>
        </p:spPr>
        <p:txBody>
          <a:bodyPr/>
          <a:lstStyle/>
          <a:p>
            <a:endParaRPr lang="en-US"/>
          </a:p>
        </p:txBody>
      </p:sp>
      <p:sp>
        <p:nvSpPr>
          <p:cNvPr id="12" name="Text 10"/>
          <p:cNvSpPr/>
          <p:nvPr/>
        </p:nvSpPr>
        <p:spPr>
          <a:xfrm>
            <a:off x="566928" y="2953512"/>
            <a:ext cx="2871216" cy="77724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Credit lifecycle</a:t>
            </a:r>
            <a:endParaRPr lang="en-US" sz="1500" dirty="0"/>
          </a:p>
        </p:txBody>
      </p:sp>
      <p:sp>
        <p:nvSpPr>
          <p:cNvPr id="13" name="Text 11"/>
          <p:cNvSpPr/>
          <p:nvPr/>
        </p:nvSpPr>
        <p:spPr>
          <a:xfrm>
            <a:off x="3584448" y="2953512"/>
            <a:ext cx="561441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Who gets credit, on what terms, and which accounts need review?</a:t>
            </a:r>
            <a:endParaRPr lang="en-US" sz="1500" dirty="0"/>
          </a:p>
        </p:txBody>
      </p:sp>
      <p:sp>
        <p:nvSpPr>
          <p:cNvPr id="14" name="Text 12"/>
          <p:cNvSpPr/>
          <p:nvPr/>
        </p:nvSpPr>
        <p:spPr>
          <a:xfrm>
            <a:off x="9345168" y="2953512"/>
            <a:ext cx="2139696" cy="77724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Case 1 · today</a:t>
            </a:r>
            <a:endParaRPr lang="en-US" sz="1500" dirty="0"/>
          </a:p>
        </p:txBody>
      </p:sp>
      <p:sp>
        <p:nvSpPr>
          <p:cNvPr id="15" name="Text 13"/>
          <p:cNvSpPr/>
          <p:nvPr/>
        </p:nvSpPr>
        <p:spPr>
          <a:xfrm>
            <a:off x="566928" y="3730752"/>
            <a:ext cx="2871216" cy="77724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Anti-money laundering</a:t>
            </a:r>
            <a:endParaRPr lang="en-US" sz="1500" dirty="0"/>
          </a:p>
        </p:txBody>
      </p:sp>
      <p:sp>
        <p:nvSpPr>
          <p:cNvPr id="16" name="Text 14"/>
          <p:cNvSpPr/>
          <p:nvPr/>
        </p:nvSpPr>
        <p:spPr>
          <a:xfrm>
            <a:off x="3584448" y="3730752"/>
            <a:ext cx="561441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Which activity looks like hidden criminal money and must be reported to the government?</a:t>
            </a:r>
            <a:endParaRPr lang="en-US" sz="1500" dirty="0"/>
          </a:p>
        </p:txBody>
      </p:sp>
      <p:sp>
        <p:nvSpPr>
          <p:cNvPr id="17" name="Text 15"/>
          <p:cNvSpPr/>
          <p:nvPr/>
        </p:nvSpPr>
        <p:spPr>
          <a:xfrm>
            <a:off x="9345168" y="3730752"/>
            <a:ext cx="213969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a:t>
            </a:r>
            <a:endParaRPr lang="en-US" sz="1500" dirty="0"/>
          </a:p>
        </p:txBody>
      </p:sp>
      <p:sp>
        <p:nvSpPr>
          <p:cNvPr id="18" name="Shape 16"/>
          <p:cNvSpPr/>
          <p:nvPr/>
        </p:nvSpPr>
        <p:spPr>
          <a:xfrm>
            <a:off x="457200" y="4507992"/>
            <a:ext cx="11283696" cy="777240"/>
          </a:xfrm>
          <a:prstGeom prst="rect">
            <a:avLst/>
          </a:prstGeom>
          <a:solidFill>
            <a:srgbClr val="1C2029"/>
          </a:solidFill>
          <a:ln/>
        </p:spPr>
        <p:txBody>
          <a:bodyPr/>
          <a:lstStyle/>
          <a:p>
            <a:endParaRPr lang="en-US"/>
          </a:p>
        </p:txBody>
      </p:sp>
      <p:sp>
        <p:nvSpPr>
          <p:cNvPr id="19" name="Text 17"/>
          <p:cNvSpPr/>
          <p:nvPr/>
        </p:nvSpPr>
        <p:spPr>
          <a:xfrm>
            <a:off x="566928" y="4507992"/>
            <a:ext cx="2871216" cy="77724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Customer service</a:t>
            </a:r>
            <a:endParaRPr lang="en-US" sz="1500" dirty="0"/>
          </a:p>
        </p:txBody>
      </p:sp>
      <p:sp>
        <p:nvSpPr>
          <p:cNvPr id="20" name="Text 18"/>
          <p:cNvSpPr/>
          <p:nvPr/>
        </p:nvSpPr>
        <p:spPr>
          <a:xfrm>
            <a:off x="3584448" y="4507992"/>
            <a:ext cx="561441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Which team handles the request before its deadline?</a:t>
            </a:r>
            <a:endParaRPr lang="en-US" sz="1500" dirty="0"/>
          </a:p>
        </p:txBody>
      </p:sp>
      <p:sp>
        <p:nvSpPr>
          <p:cNvPr id="21" name="Text 19"/>
          <p:cNvSpPr/>
          <p:nvPr/>
        </p:nvSpPr>
        <p:spPr>
          <a:xfrm>
            <a:off x="9345168" y="4507992"/>
            <a:ext cx="2139696" cy="77724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Case 2 · today</a:t>
            </a:r>
            <a:endParaRPr lang="en-US" sz="1500" dirty="0"/>
          </a:p>
        </p:txBody>
      </p:sp>
      <p:sp>
        <p:nvSpPr>
          <p:cNvPr id="22" name="Text 20"/>
          <p:cNvSpPr/>
          <p:nvPr/>
        </p:nvSpPr>
        <p:spPr>
          <a:xfrm>
            <a:off x="566928" y="5285232"/>
            <a:ext cx="2871216" cy="77724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Trading and markets</a:t>
            </a:r>
            <a:endParaRPr lang="en-US" sz="1500" dirty="0"/>
          </a:p>
        </p:txBody>
      </p:sp>
      <p:sp>
        <p:nvSpPr>
          <p:cNvPr id="23" name="Text 21"/>
          <p:cNvSpPr/>
          <p:nvPr/>
        </p:nvSpPr>
        <p:spPr>
          <a:xfrm>
            <a:off x="3584448" y="5285232"/>
            <a:ext cx="561441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What should be bought, sold, or hedged?</a:t>
            </a:r>
            <a:endParaRPr lang="en-US" sz="1500" dirty="0"/>
          </a:p>
        </p:txBody>
      </p:sp>
      <p:sp>
        <p:nvSpPr>
          <p:cNvPr id="24" name="Text 22"/>
          <p:cNvSpPr/>
          <p:nvPr/>
        </p:nvSpPr>
        <p:spPr>
          <a:xfrm>
            <a:off x="9345168" y="5285232"/>
            <a:ext cx="2139696" cy="77724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a:t>
            </a:r>
            <a:endParaRPr lang="en-US" sz="1500" dirty="0"/>
          </a:p>
        </p:txBody>
      </p:sp>
      <p:sp>
        <p:nvSpPr>
          <p:cNvPr id="25" name="Text 23"/>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Where AI runs in a bank</a:t>
            </a:r>
            <a:endParaRPr lang="en-US" sz="1000" dirty="0"/>
          </a:p>
        </p:txBody>
      </p:sp>
      <p:sp>
        <p:nvSpPr>
          <p:cNvPr id="26" name="Text 24"/>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DETECTION AT TWO SCALES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Fraud and money-laundering checks share one lesson</a:t>
            </a:r>
            <a:endParaRPr lang="en-US" sz="2800" dirty="0"/>
          </a:p>
        </p:txBody>
      </p:sp>
      <p:sp>
        <p:nvSpPr>
          <p:cNvPr id="4" name="Shape 2"/>
          <p:cNvSpPr/>
          <p:nvPr/>
        </p:nvSpPr>
        <p:spPr>
          <a:xfrm>
            <a:off x="566928" y="1783080"/>
            <a:ext cx="5413248" cy="2514600"/>
          </a:xfrm>
          <a:prstGeom prst="roundRect">
            <a:avLst>
              <a:gd name="adj" fmla="val 2909"/>
            </a:avLst>
          </a:prstGeom>
          <a:solidFill>
            <a:srgbClr val="121C2B"/>
          </a:solidFill>
          <a:ln w="12700">
            <a:solidFill>
              <a:srgbClr val="38BDF8"/>
            </a:solidFill>
            <a:prstDash val="solid"/>
          </a:ln>
        </p:spPr>
        <p:txBody>
          <a:bodyPr/>
          <a:lstStyle/>
          <a:p>
            <a:endParaRPr lang="en-US"/>
          </a:p>
        </p:txBody>
      </p:sp>
      <p:sp>
        <p:nvSpPr>
          <p:cNvPr id="5" name="Text 3"/>
          <p:cNvSpPr/>
          <p:nvPr/>
        </p:nvSpPr>
        <p:spPr>
          <a:xfrm>
            <a:off x="768096" y="1929384"/>
            <a:ext cx="5010912" cy="438912"/>
          </a:xfrm>
          <a:prstGeom prst="rect">
            <a:avLst/>
          </a:prstGeom>
          <a:noFill/>
          <a:ln/>
        </p:spPr>
        <p:txBody>
          <a:bodyPr wrap="square" lIns="0" tIns="0" rIns="0" bIns="0" rtlCol="0" anchor="t"/>
          <a:lstStyle/>
          <a:p>
            <a:pPr marL="0" indent="0">
              <a:buNone/>
            </a:pPr>
            <a:r>
              <a:rPr lang="en-US" sz="1600" b="1" dirty="0">
                <a:solidFill>
                  <a:srgbClr val="38BDF8"/>
                </a:solidFill>
                <a:latin typeface="Arial" pitchFamily="34" charset="0"/>
                <a:ea typeface="Arial" pitchFamily="34" charset="-122"/>
                <a:cs typeface="Arial" pitchFamily="34" charset="-120"/>
              </a:rPr>
              <a:t>Fraud: the Session 2 lesson</a:t>
            </a:r>
            <a:endParaRPr lang="en-US" sz="1600" dirty="0"/>
          </a:p>
        </p:txBody>
      </p:sp>
      <p:sp>
        <p:nvSpPr>
          <p:cNvPr id="6" name="Text 4"/>
          <p:cNvSpPr/>
          <p:nvPr/>
        </p:nvSpPr>
        <p:spPr>
          <a:xfrm>
            <a:off x="768096" y="2450592"/>
            <a:ext cx="5010912" cy="171907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Score card transactions. A lower threshold catches more fraud but interrupts more honest customers. A higher threshold reverses the tradeoff. The confusion matrix makes both errors visible.</a:t>
            </a:r>
            <a:endParaRPr lang="en-US" sz="1600" dirty="0"/>
          </a:p>
        </p:txBody>
      </p:sp>
      <p:sp>
        <p:nvSpPr>
          <p:cNvPr id="7" name="Shape 5"/>
          <p:cNvSpPr/>
          <p:nvPr/>
        </p:nvSpPr>
        <p:spPr>
          <a:xfrm>
            <a:off x="6217920" y="1783080"/>
            <a:ext cx="5413248" cy="2514600"/>
          </a:xfrm>
          <a:prstGeom prst="roundRect">
            <a:avLst>
              <a:gd name="adj" fmla="val 2909"/>
            </a:avLst>
          </a:prstGeom>
          <a:solidFill>
            <a:srgbClr val="1E1830"/>
          </a:solidFill>
          <a:ln w="12700">
            <a:solidFill>
              <a:srgbClr val="818CF8"/>
            </a:solidFill>
            <a:prstDash val="solid"/>
          </a:ln>
        </p:spPr>
        <p:txBody>
          <a:bodyPr/>
          <a:lstStyle/>
          <a:p>
            <a:endParaRPr lang="en-US"/>
          </a:p>
        </p:txBody>
      </p:sp>
      <p:sp>
        <p:nvSpPr>
          <p:cNvPr id="8" name="Text 6"/>
          <p:cNvSpPr/>
          <p:nvPr/>
        </p:nvSpPr>
        <p:spPr>
          <a:xfrm>
            <a:off x="6419088" y="1929384"/>
            <a:ext cx="5010912" cy="438912"/>
          </a:xfrm>
          <a:prstGeom prst="rect">
            <a:avLst/>
          </a:prstGeom>
          <a:noFill/>
          <a:ln/>
        </p:spPr>
        <p:txBody>
          <a:bodyPr wrap="square" lIns="0" tIns="0" rIns="0" bIns="0" rtlCol="0" anchor="t"/>
          <a:lstStyle/>
          <a:p>
            <a:pPr marL="0" indent="0">
              <a:buNone/>
            </a:pPr>
            <a:r>
              <a:rPr lang="en-US" sz="1600" b="1" dirty="0">
                <a:solidFill>
                  <a:srgbClr val="818CF8"/>
                </a:solidFill>
                <a:latin typeface="Arial" pitchFamily="34" charset="0"/>
                <a:ea typeface="Arial" pitchFamily="34" charset="-122"/>
                <a:cs typeface="Arial" pitchFamily="34" charset="-120"/>
              </a:rPr>
              <a:t>Anti-money laundering (AML)</a:t>
            </a:r>
            <a:endParaRPr lang="en-US" sz="1600" dirty="0"/>
          </a:p>
        </p:txBody>
      </p:sp>
      <p:sp>
        <p:nvSpPr>
          <p:cNvPr id="9" name="Text 7"/>
          <p:cNvSpPr/>
          <p:nvPr/>
        </p:nvSpPr>
        <p:spPr>
          <a:xfrm>
            <a:off x="6419088" y="2450592"/>
            <a:ext cx="5010912" cy="171907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Flag suspicious accounts and transfers for investigators. Most alerts prove innocent, but reviewing them still costs staff time. People review alerts before reporting.</a:t>
            </a:r>
            <a:endParaRPr lang="en-US" sz="1600" dirty="0"/>
          </a:p>
        </p:txBody>
      </p:sp>
      <p:sp>
        <p:nvSpPr>
          <p:cNvPr id="10" name="Shape 8"/>
          <p:cNvSpPr/>
          <p:nvPr/>
        </p:nvSpPr>
        <p:spPr>
          <a:xfrm>
            <a:off x="566928" y="4572000"/>
            <a:ext cx="11064240" cy="1143000"/>
          </a:xfrm>
          <a:prstGeom prst="roundRect">
            <a:avLst>
              <a:gd name="adj" fmla="val 6400"/>
            </a:avLst>
          </a:prstGeom>
          <a:solidFill>
            <a:srgbClr val="171A22"/>
          </a:solidFill>
          <a:ln w="12700">
            <a:solidFill>
              <a:srgbClr val="FBBF24"/>
            </a:solidFill>
            <a:prstDash val="solid"/>
          </a:ln>
        </p:spPr>
        <p:txBody>
          <a:bodyPr/>
          <a:lstStyle/>
          <a:p>
            <a:endParaRPr lang="en-US"/>
          </a:p>
        </p:txBody>
      </p:sp>
      <p:sp>
        <p:nvSpPr>
          <p:cNvPr id="11" name="Text 9"/>
          <p:cNvSpPr/>
          <p:nvPr/>
        </p:nvSpPr>
        <p:spPr>
          <a:xfrm>
            <a:off x="786384" y="468172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The threshold sets the review workload</a:t>
            </a:r>
            <a:endParaRPr lang="en-US" sz="1600" dirty="0"/>
          </a:p>
        </p:txBody>
      </p:sp>
      <p:sp>
        <p:nvSpPr>
          <p:cNvPr id="12" name="Text 10"/>
          <p:cNvSpPr/>
          <p:nvPr/>
        </p:nvSpPr>
        <p:spPr>
          <a:xfrm>
            <a:off x="786384" y="5020056"/>
            <a:ext cx="10625328" cy="62179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Missed cases and false alarms remain a tradeoff. Someone must choose the threshold and staff the queue.</a:t>
            </a:r>
            <a:endParaRPr lang="en-US" sz="1500" dirty="0"/>
          </a:p>
        </p:txBody>
      </p:sp>
      <p:sp>
        <p:nvSpPr>
          <p:cNvPr id="13" name="Text 11"/>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Where AI runs in a bank</a:t>
            </a:r>
            <a:endParaRPr lang="en-US" sz="1000" dirty="0"/>
          </a:p>
        </p:txBody>
      </p:sp>
      <p:sp>
        <p:nvSpPr>
          <p:cNvPr id="14" name="Text 12"/>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FOUR STAGES, FOUR DIFFERENT DECISIONS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Today's case sits inside the credit lifecycle</a:t>
            </a:r>
            <a:endParaRPr lang="en-US" sz="2800" dirty="0"/>
          </a:p>
        </p:txBody>
      </p:sp>
      <p:sp>
        <p:nvSpPr>
          <p:cNvPr id="4" name="Shape 2"/>
          <p:cNvSpPr/>
          <p:nvPr/>
        </p:nvSpPr>
        <p:spPr>
          <a:xfrm>
            <a:off x="566928" y="1965960"/>
            <a:ext cx="2532888" cy="1463040"/>
          </a:xfrm>
          <a:prstGeom prst="roundRect">
            <a:avLst>
              <a:gd name="adj" fmla="val 5000"/>
            </a:avLst>
          </a:prstGeom>
          <a:solidFill>
            <a:srgbClr val="171A22"/>
          </a:solidFill>
          <a:ln w="12700">
            <a:solidFill>
              <a:srgbClr val="22D3EE"/>
            </a:solidFill>
            <a:prstDash val="solid"/>
          </a:ln>
        </p:spPr>
        <p:txBody>
          <a:bodyPr/>
          <a:lstStyle/>
          <a:p>
            <a:endParaRPr lang="en-US"/>
          </a:p>
        </p:txBody>
      </p:sp>
      <p:sp>
        <p:nvSpPr>
          <p:cNvPr id="5" name="Text 3"/>
          <p:cNvSpPr/>
          <p:nvPr/>
        </p:nvSpPr>
        <p:spPr>
          <a:xfrm>
            <a:off x="676656" y="208483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Acquisition</a:t>
            </a:r>
            <a:endParaRPr lang="en-US" sz="1500" dirty="0"/>
          </a:p>
        </p:txBody>
      </p:sp>
      <p:sp>
        <p:nvSpPr>
          <p:cNvPr id="6" name="Text 4"/>
          <p:cNvSpPr/>
          <p:nvPr/>
        </p:nvSpPr>
        <p:spPr>
          <a:xfrm>
            <a:off x="694944" y="2551176"/>
            <a:ext cx="2276856" cy="7680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Find applicants and invite them to apply.</a:t>
            </a:r>
            <a:endParaRPr lang="en-US" sz="1400" dirty="0"/>
          </a:p>
        </p:txBody>
      </p:sp>
      <p:sp>
        <p:nvSpPr>
          <p:cNvPr id="7" name="Text 5"/>
          <p:cNvSpPr/>
          <p:nvPr/>
        </p:nvSpPr>
        <p:spPr>
          <a:xfrm>
            <a:off x="3099816" y="1965960"/>
            <a:ext cx="310896" cy="14630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3410712" y="1965960"/>
            <a:ext cx="2532888" cy="1463040"/>
          </a:xfrm>
          <a:prstGeom prst="roundRect">
            <a:avLst>
              <a:gd name="adj" fmla="val 5000"/>
            </a:avLst>
          </a:prstGeom>
          <a:solidFill>
            <a:srgbClr val="171A22"/>
          </a:solidFill>
          <a:ln w="12700">
            <a:solidFill>
              <a:srgbClr val="38BDF8"/>
            </a:solidFill>
            <a:prstDash val="solid"/>
          </a:ln>
        </p:spPr>
        <p:txBody>
          <a:bodyPr/>
          <a:lstStyle/>
          <a:p>
            <a:endParaRPr lang="en-US"/>
          </a:p>
        </p:txBody>
      </p:sp>
      <p:sp>
        <p:nvSpPr>
          <p:cNvPr id="9" name="Text 7"/>
          <p:cNvSpPr/>
          <p:nvPr/>
        </p:nvSpPr>
        <p:spPr>
          <a:xfrm>
            <a:off x="3520440" y="208483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Underwriting</a:t>
            </a:r>
            <a:endParaRPr lang="en-US" sz="1500" dirty="0"/>
          </a:p>
        </p:txBody>
      </p:sp>
      <p:sp>
        <p:nvSpPr>
          <p:cNvPr id="10" name="Text 8"/>
          <p:cNvSpPr/>
          <p:nvPr/>
        </p:nvSpPr>
        <p:spPr>
          <a:xfrm>
            <a:off x="3538728" y="2551176"/>
            <a:ext cx="2276856" cy="7680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Approve or deny; set limits and rates.</a:t>
            </a:r>
            <a:endParaRPr lang="en-US" sz="1400" dirty="0"/>
          </a:p>
        </p:txBody>
      </p:sp>
      <p:sp>
        <p:nvSpPr>
          <p:cNvPr id="11" name="Text 9"/>
          <p:cNvSpPr/>
          <p:nvPr/>
        </p:nvSpPr>
        <p:spPr>
          <a:xfrm>
            <a:off x="5943600" y="1965960"/>
            <a:ext cx="310896" cy="14630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6254496" y="1965960"/>
            <a:ext cx="2532888" cy="1463040"/>
          </a:xfrm>
          <a:prstGeom prst="roundRect">
            <a:avLst>
              <a:gd name="adj" fmla="val 5000"/>
            </a:avLst>
          </a:prstGeom>
          <a:solidFill>
            <a:srgbClr val="171A22"/>
          </a:solidFill>
          <a:ln w="12700">
            <a:solidFill>
              <a:srgbClr val="FBBF24"/>
            </a:solidFill>
            <a:prstDash val="solid"/>
          </a:ln>
        </p:spPr>
        <p:txBody>
          <a:bodyPr/>
          <a:lstStyle/>
          <a:p>
            <a:endParaRPr lang="en-US"/>
          </a:p>
        </p:txBody>
      </p:sp>
      <p:sp>
        <p:nvSpPr>
          <p:cNvPr id="13" name="Text 11"/>
          <p:cNvSpPr/>
          <p:nvPr/>
        </p:nvSpPr>
        <p:spPr>
          <a:xfrm>
            <a:off x="6364224" y="2084832"/>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Account management</a:t>
            </a:r>
            <a:endParaRPr lang="en-US" sz="1500" dirty="0"/>
          </a:p>
        </p:txBody>
      </p:sp>
      <p:sp>
        <p:nvSpPr>
          <p:cNvPr id="14" name="Text 12"/>
          <p:cNvSpPr/>
          <p:nvPr/>
        </p:nvSpPr>
        <p:spPr>
          <a:xfrm>
            <a:off x="6382512" y="2551176"/>
            <a:ext cx="2276856" cy="7680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Watch existing accounts month by month; flag rising risk early.</a:t>
            </a:r>
            <a:endParaRPr lang="en-US" sz="1400" dirty="0"/>
          </a:p>
        </p:txBody>
      </p:sp>
      <p:sp>
        <p:nvSpPr>
          <p:cNvPr id="15" name="Text 13"/>
          <p:cNvSpPr/>
          <p:nvPr/>
        </p:nvSpPr>
        <p:spPr>
          <a:xfrm>
            <a:off x="8787384" y="1965960"/>
            <a:ext cx="310896" cy="14630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9098280" y="1965960"/>
            <a:ext cx="2532888" cy="1463040"/>
          </a:xfrm>
          <a:prstGeom prst="roundRect">
            <a:avLst>
              <a:gd name="adj" fmla="val 5000"/>
            </a:avLst>
          </a:prstGeom>
          <a:solidFill>
            <a:srgbClr val="171A22"/>
          </a:solidFill>
          <a:ln w="12700">
            <a:solidFill>
              <a:srgbClr val="A78BFA"/>
            </a:solidFill>
            <a:prstDash val="solid"/>
          </a:ln>
        </p:spPr>
        <p:txBody>
          <a:bodyPr/>
          <a:lstStyle/>
          <a:p>
            <a:endParaRPr lang="en-US"/>
          </a:p>
        </p:txBody>
      </p:sp>
      <p:sp>
        <p:nvSpPr>
          <p:cNvPr id="17" name="Text 15"/>
          <p:cNvSpPr/>
          <p:nvPr/>
        </p:nvSpPr>
        <p:spPr>
          <a:xfrm>
            <a:off x="9208008" y="2084832"/>
            <a:ext cx="2313432" cy="393192"/>
          </a:xfrm>
          <a:prstGeom prst="rect">
            <a:avLst/>
          </a:prstGeom>
          <a:noFill/>
          <a:ln/>
        </p:spPr>
        <p:txBody>
          <a:bodyPr wrap="square" lIns="0" tIns="0" rIns="0" bIns="0" rtlCol="0" anchor="ctr"/>
          <a:lstStyle/>
          <a:p>
            <a:pPr marL="0" indent="0" algn="ctr">
              <a:buNone/>
            </a:pPr>
            <a:r>
              <a:rPr lang="en-US" sz="1500" b="1" dirty="0">
                <a:solidFill>
                  <a:srgbClr val="A78BFA"/>
                </a:solidFill>
                <a:latin typeface="Arial" pitchFamily="34" charset="0"/>
                <a:ea typeface="Arial" pitchFamily="34" charset="-122"/>
                <a:cs typeface="Arial" pitchFamily="34" charset="-120"/>
              </a:rPr>
              <a:t>Collections</a:t>
            </a:r>
            <a:endParaRPr lang="en-US" sz="1500" dirty="0"/>
          </a:p>
        </p:txBody>
      </p:sp>
      <p:sp>
        <p:nvSpPr>
          <p:cNvPr id="18" name="Text 16"/>
          <p:cNvSpPr/>
          <p:nvPr/>
        </p:nvSpPr>
        <p:spPr>
          <a:xfrm>
            <a:off x="9226296" y="2551176"/>
            <a:ext cx="2276856" cy="7680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Recover money after payments are missed.</a:t>
            </a:r>
            <a:endParaRPr lang="en-US" sz="1400" dirty="0"/>
          </a:p>
        </p:txBody>
      </p:sp>
      <p:sp>
        <p:nvSpPr>
          <p:cNvPr id="19" name="Shape 17"/>
          <p:cNvSpPr/>
          <p:nvPr/>
        </p:nvSpPr>
        <p:spPr>
          <a:xfrm>
            <a:off x="3410712" y="3703320"/>
            <a:ext cx="2532888" cy="347472"/>
          </a:xfrm>
          <a:prstGeom prst="roundRect">
            <a:avLst>
              <a:gd name="adj" fmla="val 21053"/>
            </a:avLst>
          </a:prstGeom>
          <a:solidFill>
            <a:srgbClr val="171A22"/>
          </a:solidFill>
          <a:ln w="12700">
            <a:solidFill>
              <a:srgbClr val="38BDF8"/>
            </a:solidFill>
            <a:prstDash val="solid"/>
          </a:ln>
        </p:spPr>
        <p:txBody>
          <a:bodyPr/>
          <a:lstStyle/>
          <a:p>
            <a:endParaRPr lang="en-US"/>
          </a:p>
        </p:txBody>
      </p:sp>
      <p:sp>
        <p:nvSpPr>
          <p:cNvPr id="20" name="Text 18"/>
          <p:cNvSpPr/>
          <p:nvPr/>
        </p:nvSpPr>
        <p:spPr>
          <a:xfrm>
            <a:off x="3410712" y="3703320"/>
            <a:ext cx="2532888" cy="347472"/>
          </a:xfrm>
          <a:prstGeom prst="rect">
            <a:avLst/>
          </a:prstGeom>
          <a:noFill/>
          <a:ln/>
        </p:spPr>
        <p:txBody>
          <a:bodyPr wrap="square" lIns="0" tIns="0" rIns="0" bIns="0" rtlCol="0" anchor="ctr"/>
          <a:lstStyle/>
          <a:p>
            <a:pPr marL="0" indent="0" algn="ctr">
              <a:buNone/>
            </a:pPr>
            <a:r>
              <a:rPr lang="en-US" sz="1150" b="1" dirty="0">
                <a:solidFill>
                  <a:srgbClr val="38BDF8"/>
                </a:solidFill>
                <a:latin typeface="Arial" pitchFamily="34" charset="0"/>
                <a:ea typeface="Arial" pitchFamily="34" charset="-122"/>
                <a:cs typeface="Arial" pitchFamily="34" charset="-120"/>
              </a:rPr>
              <a:t>Apple Card sat here</a:t>
            </a:r>
            <a:endParaRPr lang="en-US" sz="1150" dirty="0"/>
          </a:p>
        </p:txBody>
      </p:sp>
      <p:sp>
        <p:nvSpPr>
          <p:cNvPr id="21" name="Shape 19"/>
          <p:cNvSpPr/>
          <p:nvPr/>
        </p:nvSpPr>
        <p:spPr>
          <a:xfrm>
            <a:off x="6254496" y="3703320"/>
            <a:ext cx="2532888" cy="347472"/>
          </a:xfrm>
          <a:prstGeom prst="roundRect">
            <a:avLst>
              <a:gd name="adj" fmla="val 21053"/>
            </a:avLst>
          </a:prstGeom>
          <a:solidFill>
            <a:srgbClr val="171A22"/>
          </a:solidFill>
          <a:ln w="12700">
            <a:solidFill>
              <a:srgbClr val="FBBF24"/>
            </a:solidFill>
            <a:prstDash val="solid"/>
          </a:ln>
        </p:spPr>
        <p:txBody>
          <a:bodyPr/>
          <a:lstStyle/>
          <a:p>
            <a:endParaRPr lang="en-US"/>
          </a:p>
        </p:txBody>
      </p:sp>
      <p:sp>
        <p:nvSpPr>
          <p:cNvPr id="22" name="Text 20"/>
          <p:cNvSpPr/>
          <p:nvPr/>
        </p:nvSpPr>
        <p:spPr>
          <a:xfrm>
            <a:off x="6254496" y="3703320"/>
            <a:ext cx="2532888" cy="347472"/>
          </a:xfrm>
          <a:prstGeom prst="rect">
            <a:avLst/>
          </a:prstGeom>
          <a:noFill/>
          <a:ln/>
        </p:spPr>
        <p:txBody>
          <a:bodyPr wrap="square" lIns="0" tIns="0" rIns="0" bIns="0" rtlCol="0" anchor="ctr"/>
          <a:lstStyle/>
          <a:p>
            <a:pPr marL="0" indent="0" algn="ctr">
              <a:buNone/>
            </a:pPr>
            <a:r>
              <a:rPr lang="en-US" sz="1150" b="1" dirty="0">
                <a:solidFill>
                  <a:srgbClr val="FBBF24"/>
                </a:solidFill>
                <a:latin typeface="Arial" pitchFamily="34" charset="0"/>
                <a:ea typeface="Arial" pitchFamily="34" charset="-122"/>
                <a:cs typeface="Arial" pitchFamily="34" charset="-120"/>
              </a:rPr>
              <a:t>Today's case sits here</a:t>
            </a:r>
            <a:endParaRPr lang="en-US" sz="1150" dirty="0"/>
          </a:p>
        </p:txBody>
      </p:sp>
      <p:sp>
        <p:nvSpPr>
          <p:cNvPr id="23" name="Shape 21"/>
          <p:cNvSpPr/>
          <p:nvPr/>
        </p:nvSpPr>
        <p:spPr>
          <a:xfrm>
            <a:off x="566928" y="4434840"/>
            <a:ext cx="11064240" cy="1188720"/>
          </a:xfrm>
          <a:prstGeom prst="roundRect">
            <a:avLst>
              <a:gd name="adj" fmla="val 6154"/>
            </a:avLst>
          </a:prstGeom>
          <a:solidFill>
            <a:srgbClr val="171A22"/>
          </a:solidFill>
          <a:ln w="12700">
            <a:solidFill>
              <a:srgbClr val="22D3EE"/>
            </a:solidFill>
            <a:prstDash val="solid"/>
          </a:ln>
        </p:spPr>
        <p:txBody>
          <a:bodyPr/>
          <a:lstStyle/>
          <a:p>
            <a:endParaRPr lang="en-US"/>
          </a:p>
        </p:txBody>
      </p:sp>
      <p:sp>
        <p:nvSpPr>
          <p:cNvPr id="24" name="Text 22"/>
          <p:cNvSpPr/>
          <p:nvPr/>
        </p:nvSpPr>
        <p:spPr>
          <a:xfrm>
            <a:off x="786384" y="454456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Same customer, four different decisions</a:t>
            </a:r>
            <a:endParaRPr lang="en-US" sz="1600" dirty="0"/>
          </a:p>
        </p:txBody>
      </p:sp>
      <p:sp>
        <p:nvSpPr>
          <p:cNvPr id="25" name="Text 23"/>
          <p:cNvSpPr/>
          <p:nvPr/>
        </p:nvSpPr>
        <p:spPr>
          <a:xfrm>
            <a:off x="786384" y="4882896"/>
            <a:ext cx="10625328" cy="66751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Each stage has different data, models, and rules. Approving an applicant and reviewing an existing account are different problems.</a:t>
            </a:r>
            <a:endParaRPr lang="en-US" sz="1500" dirty="0"/>
          </a:p>
        </p:txBody>
      </p:sp>
      <p:sp>
        <p:nvSpPr>
          <p:cNvPr id="26" name="Text 2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Where AI runs in a bank</a:t>
            </a:r>
            <a:endParaRPr lang="en-US" sz="1000" dirty="0"/>
          </a:p>
        </p:txBody>
      </p:sp>
      <p:sp>
        <p:nvSpPr>
          <p:cNvPr id="27" name="Text 2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THE PARADOX THAT RUNS THE MODULE</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Why finance adopted AI early, but deploys carefully</a:t>
            </a:r>
            <a:endParaRPr lang="en-US" sz="2800" dirty="0"/>
          </a:p>
        </p:txBody>
      </p:sp>
      <p:sp>
        <p:nvSpPr>
          <p:cNvPr id="4" name="Shape 2"/>
          <p:cNvSpPr/>
          <p:nvPr/>
        </p:nvSpPr>
        <p:spPr>
          <a:xfrm>
            <a:off x="566928" y="1719072"/>
            <a:ext cx="292608" cy="292608"/>
          </a:xfrm>
          <a:prstGeom prst="ellipse">
            <a:avLst/>
          </a:prstGeom>
          <a:solidFill>
            <a:srgbClr val="22D3EE"/>
          </a:solidFill>
          <a:ln/>
        </p:spPr>
        <p:txBody>
          <a:bodyPr/>
          <a:lstStyle/>
          <a:p>
            <a:endParaRPr lang="en-US"/>
          </a:p>
        </p:txBody>
      </p:sp>
      <p:sp>
        <p:nvSpPr>
          <p:cNvPr id="5" name="Text 3"/>
          <p:cNvSpPr/>
          <p:nvPr/>
        </p:nvSpPr>
        <p:spPr>
          <a:xfrm>
            <a:off x="566928" y="171907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069848" y="169164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The data is already there</a:t>
            </a:r>
            <a:endParaRPr lang="en-US" sz="1800" dirty="0"/>
          </a:p>
        </p:txBody>
      </p:sp>
      <p:sp>
        <p:nvSpPr>
          <p:cNvPr id="7" name="Text 5"/>
          <p:cNvSpPr/>
          <p:nvPr/>
        </p:nvSpPr>
        <p:spPr>
          <a:xfrm>
            <a:off x="1069848" y="2057400"/>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Every swipe, payment, and balance has been recorded for decades — clean, structured, and abundant.</a:t>
            </a:r>
            <a:endParaRPr lang="en-US" sz="1600" dirty="0"/>
          </a:p>
        </p:txBody>
      </p:sp>
      <p:sp>
        <p:nvSpPr>
          <p:cNvPr id="8" name="Shape 6"/>
          <p:cNvSpPr/>
          <p:nvPr/>
        </p:nvSpPr>
        <p:spPr>
          <a:xfrm>
            <a:off x="566928" y="2651760"/>
            <a:ext cx="292608" cy="292608"/>
          </a:xfrm>
          <a:prstGeom prst="ellipse">
            <a:avLst/>
          </a:prstGeom>
          <a:solidFill>
            <a:srgbClr val="38BDF8"/>
          </a:solidFill>
          <a:ln/>
        </p:spPr>
        <p:txBody>
          <a:bodyPr/>
          <a:lstStyle/>
          <a:p>
            <a:endParaRPr lang="en-US"/>
          </a:p>
        </p:txBody>
      </p:sp>
      <p:sp>
        <p:nvSpPr>
          <p:cNvPr id="9" name="Text 7"/>
          <p:cNvSpPr/>
          <p:nvPr/>
        </p:nvSpPr>
        <p:spPr>
          <a:xfrm>
            <a:off x="566928" y="2651760"/>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69848" y="2624328"/>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The outcomes label themselves</a:t>
            </a:r>
            <a:endParaRPr lang="en-US" sz="1800" dirty="0"/>
          </a:p>
        </p:txBody>
      </p:sp>
      <p:sp>
        <p:nvSpPr>
          <p:cNvPr id="11" name="Text 9"/>
          <p:cNvSpPr/>
          <p:nvPr/>
        </p:nvSpPr>
        <p:spPr>
          <a:xfrm>
            <a:off x="1069848" y="2990088"/>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A payment is either made or missed. The label arrives automatically next month, no annotator needed.</a:t>
            </a:r>
            <a:endParaRPr lang="en-US" sz="1600" dirty="0"/>
          </a:p>
        </p:txBody>
      </p:sp>
      <p:sp>
        <p:nvSpPr>
          <p:cNvPr id="12" name="Shape 10"/>
          <p:cNvSpPr/>
          <p:nvPr/>
        </p:nvSpPr>
        <p:spPr>
          <a:xfrm>
            <a:off x="566928" y="3584448"/>
            <a:ext cx="292608" cy="292608"/>
          </a:xfrm>
          <a:prstGeom prst="ellipse">
            <a:avLst/>
          </a:prstGeom>
          <a:solidFill>
            <a:srgbClr val="FBBF24"/>
          </a:solidFill>
          <a:ln/>
        </p:spPr>
        <p:txBody>
          <a:bodyPr/>
          <a:lstStyle/>
          <a:p>
            <a:endParaRPr lang="en-US"/>
          </a:p>
        </p:txBody>
      </p:sp>
      <p:sp>
        <p:nvSpPr>
          <p:cNvPr id="13" name="Text 11"/>
          <p:cNvSpPr/>
          <p:nvPr/>
        </p:nvSpPr>
        <p:spPr>
          <a:xfrm>
            <a:off x="566928" y="3584448"/>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069848" y="3557016"/>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Every error has a price in dollars</a:t>
            </a:r>
            <a:endParaRPr lang="en-US" sz="1800" dirty="0"/>
          </a:p>
        </p:txBody>
      </p:sp>
      <p:sp>
        <p:nvSpPr>
          <p:cNvPr id="15" name="Text 13"/>
          <p:cNvSpPr/>
          <p:nvPr/>
        </p:nvSpPr>
        <p:spPr>
          <a:xfrm>
            <a:off x="1069848" y="3922776"/>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A missed default costs the balance; a wasted review costs analyst time. You can compute what a model is worth.</a:t>
            </a:r>
            <a:endParaRPr lang="en-US" sz="1600" dirty="0"/>
          </a:p>
        </p:txBody>
      </p:sp>
      <p:sp>
        <p:nvSpPr>
          <p:cNvPr id="16" name="Shape 14"/>
          <p:cNvSpPr/>
          <p:nvPr/>
        </p:nvSpPr>
        <p:spPr>
          <a:xfrm>
            <a:off x="566928" y="4517136"/>
            <a:ext cx="292608" cy="292608"/>
          </a:xfrm>
          <a:prstGeom prst="ellipse">
            <a:avLst/>
          </a:prstGeom>
          <a:solidFill>
            <a:srgbClr val="A78BFA"/>
          </a:solidFill>
          <a:ln/>
        </p:spPr>
        <p:txBody>
          <a:bodyPr/>
          <a:lstStyle/>
          <a:p>
            <a:endParaRPr lang="en-US"/>
          </a:p>
        </p:txBody>
      </p:sp>
      <p:sp>
        <p:nvSpPr>
          <p:cNvPr id="17" name="Text 15"/>
          <p:cNvSpPr/>
          <p:nvPr/>
        </p:nvSpPr>
        <p:spPr>
          <a:xfrm>
            <a:off x="566928" y="4517136"/>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069848" y="4489704"/>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And the densest rulebook in this course</a:t>
            </a:r>
            <a:endParaRPr lang="en-US" sz="1800" dirty="0"/>
          </a:p>
        </p:txBody>
      </p:sp>
      <p:sp>
        <p:nvSpPr>
          <p:cNvPr id="19" name="Text 17"/>
          <p:cNvSpPr/>
          <p:nvPr/>
        </p:nvSpPr>
        <p:spPr>
          <a:xfrm>
            <a:off x="1069848" y="4855464"/>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Fair lending, adverse-action notices, and model-risk guidance make deployment slower than training.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22D3EE"/>
          </a:solidFill>
          <a:ln/>
        </p:spPr>
        <p:txBody>
          <a:bodyPr/>
          <a:lstStyle/>
          <a:p>
            <a:endParaRPr lang="en-US"/>
          </a:p>
        </p:txBody>
      </p:sp>
      <p:sp>
        <p:nvSpPr>
          <p:cNvPr id="3" name="Text 1"/>
          <p:cNvSpPr/>
          <p:nvPr/>
        </p:nvSpPr>
        <p:spPr>
          <a:xfrm>
            <a:off x="1097280" y="1993392"/>
            <a:ext cx="9601200" cy="292608"/>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SECTION II  |  15 min</a:t>
            </a:r>
            <a:endParaRPr lang="en-US" sz="1400" dirty="0"/>
          </a:p>
        </p:txBody>
      </p:sp>
      <p:sp>
        <p:nvSpPr>
          <p:cNvPr id="4" name="Text 2"/>
          <p:cNvSpPr/>
          <p:nvPr/>
        </p:nvSpPr>
        <p:spPr>
          <a:xfrm>
            <a:off x="1097280" y="2514600"/>
            <a:ext cx="9966960" cy="1234440"/>
          </a:xfrm>
          <a:prstGeom prst="rect">
            <a:avLst/>
          </a:prstGeom>
          <a:noFill/>
          <a:ln/>
        </p:spPr>
        <p:txBody>
          <a:bodyPr wrap="square" lIns="0" tIns="0" rIns="0" bIns="0" rtlCol="0" anchor="t"/>
          <a:lstStyle/>
          <a:p>
            <a:pPr marL="0" indent="0">
              <a:buNone/>
            </a:pPr>
            <a:r>
              <a:rPr lang="en-US" sz="3400" b="1" dirty="0">
                <a:solidFill>
                  <a:srgbClr val="F2F4F8"/>
                </a:solidFill>
                <a:latin typeface="Arial" pitchFamily="34" charset="0"/>
                <a:ea typeface="Arial" pitchFamily="34" charset="-122"/>
                <a:cs typeface="Arial" pitchFamily="34" charset="-120"/>
              </a:rPr>
              <a:t>Case one: a credit-risk decision, end to end</a:t>
            </a:r>
            <a:endParaRPr lang="en-US" sz="3400" dirty="0"/>
          </a:p>
        </p:txBody>
      </p:sp>
      <p:sp>
        <p:nvSpPr>
          <p:cNvPr id="5" name="Text 3"/>
          <p:cNvSpPr/>
          <p:nvPr/>
        </p:nvSpPr>
        <p:spPr>
          <a:xfrm>
            <a:off x="1097280" y="4069080"/>
            <a:ext cx="9601200" cy="1188720"/>
          </a:xfrm>
          <a:prstGeom prst="rect">
            <a:avLst/>
          </a:prstGeom>
          <a:noFill/>
          <a:ln/>
        </p:spPr>
        <p:txBody>
          <a:bodyPr wrap="square" lIns="0" tIns="0" rIns="0" bIns="0" rtlCol="0" anchor="t"/>
          <a:lstStyle/>
          <a:p>
            <a:pPr marL="0" indent="0">
              <a:buNone/>
            </a:pPr>
            <a:r>
              <a:rPr lang="en-US" sz="2000" dirty="0">
                <a:solidFill>
                  <a:srgbClr val="AAB2C0"/>
                </a:solidFill>
                <a:latin typeface="Arial" pitchFamily="34" charset="0"/>
                <a:ea typeface="Arial" pitchFamily="34" charset="-122"/>
                <a:cs typeface="Arial" pitchFamily="34" charset="-120"/>
              </a:rPr>
              <a:t>Not who gets a credit card. Which existing accounts the risk team should look at this month — and what the bank would have to tell a customer afterward.</a:t>
            </a:r>
            <a:endParaRPr lang="en-US" sz="2000" dirty="0"/>
          </a:p>
        </p:txBody>
      </p:sp>
      <p:sp>
        <p:nvSpPr>
          <p:cNvPr id="6" name="Text 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1: credit risk</a:t>
            </a:r>
            <a:endParaRPr lang="en-US" sz="1000" dirty="0"/>
          </a:p>
        </p:txBody>
      </p:sp>
      <p:sp>
        <p:nvSpPr>
          <p:cNvPr id="7" name="Text 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1 · THE DECISION</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The decision: who gets reviewed this month</a:t>
            </a:r>
            <a:endParaRPr lang="en-US" sz="2800" dirty="0"/>
          </a:p>
        </p:txBody>
      </p:sp>
      <p:sp>
        <p:nvSpPr>
          <p:cNvPr id="4" name="Shape 2"/>
          <p:cNvSpPr/>
          <p:nvPr/>
        </p:nvSpPr>
        <p:spPr>
          <a:xfrm>
            <a:off x="566928" y="1737360"/>
            <a:ext cx="3529584" cy="2377440"/>
          </a:xfrm>
          <a:prstGeom prst="roundRect">
            <a:avLst>
              <a:gd name="adj" fmla="val 3077"/>
            </a:avLst>
          </a:prstGeom>
          <a:solidFill>
            <a:srgbClr val="121C2B"/>
          </a:solidFill>
          <a:ln w="12700">
            <a:solidFill>
              <a:srgbClr val="22D3EE"/>
            </a:solidFill>
            <a:prstDash val="solid"/>
          </a:ln>
        </p:spPr>
        <p:txBody>
          <a:bodyPr/>
          <a:lstStyle/>
          <a:p>
            <a:endParaRPr lang="en-US"/>
          </a:p>
        </p:txBody>
      </p:sp>
      <p:sp>
        <p:nvSpPr>
          <p:cNvPr id="5" name="Text 3"/>
          <p:cNvSpPr/>
          <p:nvPr/>
        </p:nvSpPr>
        <p:spPr>
          <a:xfrm>
            <a:off x="768096" y="1883664"/>
            <a:ext cx="3127248" cy="438912"/>
          </a:xfrm>
          <a:prstGeom prst="rect">
            <a:avLst/>
          </a:prstGeom>
          <a:noFill/>
          <a:ln/>
        </p:spPr>
        <p:txBody>
          <a:bodyPr wrap="square" lIns="0" tIns="0" rIns="0" bIns="0" rtlCol="0" anchor="t"/>
          <a:lstStyle/>
          <a:p>
            <a:pPr marL="0" indent="0">
              <a:buNone/>
            </a:pPr>
            <a:r>
              <a:rPr lang="en-US" sz="1600" b="1" dirty="0">
                <a:solidFill>
                  <a:srgbClr val="22D3EE"/>
                </a:solidFill>
                <a:latin typeface="Arial" pitchFamily="34" charset="0"/>
                <a:ea typeface="Arial" pitchFamily="34" charset="-122"/>
                <a:cs typeface="Arial" pitchFamily="34" charset="-120"/>
              </a:rPr>
              <a:t>The problem</a:t>
            </a:r>
            <a:endParaRPr lang="en-US" sz="1600" dirty="0"/>
          </a:p>
        </p:txBody>
      </p:sp>
      <p:sp>
        <p:nvSpPr>
          <p:cNvPr id="6" name="Text 4"/>
          <p:cNvSpPr/>
          <p:nvPr/>
        </p:nvSpPr>
        <p:spPr>
          <a:xfrm>
            <a:off x="768096" y="2404872"/>
            <a:ext cx="3127248" cy="15819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Analyst capacity is limited. Which existing accounts need attention before the next missed payment?</a:t>
            </a:r>
            <a:endParaRPr lang="en-US" sz="1600" dirty="0"/>
          </a:p>
        </p:txBody>
      </p:sp>
      <p:sp>
        <p:nvSpPr>
          <p:cNvPr id="7" name="Shape 5"/>
          <p:cNvSpPr/>
          <p:nvPr/>
        </p:nvSpPr>
        <p:spPr>
          <a:xfrm>
            <a:off x="4334256" y="1737360"/>
            <a:ext cx="3529584" cy="2377440"/>
          </a:xfrm>
          <a:prstGeom prst="roundRect">
            <a:avLst>
              <a:gd name="adj" fmla="val 3077"/>
            </a:avLst>
          </a:prstGeom>
          <a:solidFill>
            <a:srgbClr val="2A2313"/>
          </a:solidFill>
          <a:ln w="12700">
            <a:solidFill>
              <a:srgbClr val="FBBF24"/>
            </a:solidFill>
            <a:prstDash val="solid"/>
          </a:ln>
        </p:spPr>
        <p:txBody>
          <a:bodyPr/>
          <a:lstStyle/>
          <a:p>
            <a:endParaRPr lang="en-US"/>
          </a:p>
        </p:txBody>
      </p:sp>
      <p:sp>
        <p:nvSpPr>
          <p:cNvPr id="8" name="Text 6"/>
          <p:cNvSpPr/>
          <p:nvPr/>
        </p:nvSpPr>
        <p:spPr>
          <a:xfrm>
            <a:off x="4535424" y="1883664"/>
            <a:ext cx="3127248"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What the model outputs</a:t>
            </a:r>
            <a:endParaRPr lang="en-US" sz="1600" dirty="0"/>
          </a:p>
        </p:txBody>
      </p:sp>
      <p:sp>
        <p:nvSpPr>
          <p:cNvPr id="9" name="Text 7"/>
          <p:cNvSpPr/>
          <p:nvPr/>
        </p:nvSpPr>
        <p:spPr>
          <a:xfrm>
            <a:off x="4535424" y="2404872"/>
            <a:ext cx="3127248" cy="15819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One estimated probability of missing next month's payment. Rank accounts for attention, not people for judgment.</a:t>
            </a:r>
            <a:endParaRPr lang="en-US" sz="1600" dirty="0"/>
          </a:p>
        </p:txBody>
      </p:sp>
      <p:sp>
        <p:nvSpPr>
          <p:cNvPr id="10" name="Shape 8"/>
          <p:cNvSpPr/>
          <p:nvPr/>
        </p:nvSpPr>
        <p:spPr>
          <a:xfrm>
            <a:off x="8101584" y="1737360"/>
            <a:ext cx="3529584" cy="2377440"/>
          </a:xfrm>
          <a:prstGeom prst="roundRect">
            <a:avLst>
              <a:gd name="adj" fmla="val 3077"/>
            </a:avLst>
          </a:prstGeom>
          <a:solidFill>
            <a:srgbClr val="10241A"/>
          </a:solidFill>
          <a:ln w="12700">
            <a:solidFill>
              <a:srgbClr val="4ADE80"/>
            </a:solidFill>
            <a:prstDash val="solid"/>
          </a:ln>
        </p:spPr>
        <p:txBody>
          <a:bodyPr/>
          <a:lstStyle/>
          <a:p>
            <a:endParaRPr lang="en-US"/>
          </a:p>
        </p:txBody>
      </p:sp>
      <p:sp>
        <p:nvSpPr>
          <p:cNvPr id="11" name="Text 9"/>
          <p:cNvSpPr/>
          <p:nvPr/>
        </p:nvSpPr>
        <p:spPr>
          <a:xfrm>
            <a:off x="8302752" y="1883664"/>
            <a:ext cx="3127248" cy="438912"/>
          </a:xfrm>
          <a:prstGeom prst="rect">
            <a:avLst/>
          </a:prstGeom>
          <a:noFill/>
          <a:ln/>
        </p:spPr>
        <p:txBody>
          <a:bodyPr wrap="square" lIns="0" tIns="0" rIns="0" bIns="0" rtlCol="0" anchor="t"/>
          <a:lstStyle/>
          <a:p>
            <a:pPr marL="0" indent="0">
              <a:buNone/>
            </a:pPr>
            <a:r>
              <a:rPr lang="en-US" sz="1600" b="1" dirty="0">
                <a:solidFill>
                  <a:srgbClr val="4ADE80"/>
                </a:solidFill>
                <a:latin typeface="Arial" pitchFamily="34" charset="0"/>
                <a:ea typeface="Arial" pitchFamily="34" charset="-122"/>
                <a:cs typeface="Arial" pitchFamily="34" charset="-120"/>
              </a:rPr>
              <a:t>What actually happens</a:t>
            </a:r>
            <a:endParaRPr lang="en-US" sz="1600" dirty="0"/>
          </a:p>
        </p:txBody>
      </p:sp>
      <p:sp>
        <p:nvSpPr>
          <p:cNvPr id="12" name="Text 10"/>
          <p:cNvSpPr/>
          <p:nvPr/>
        </p:nvSpPr>
        <p:spPr>
          <a:xfrm>
            <a:off x="8302752" y="2404872"/>
            <a:ext cx="3127248" cy="15819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An analyst reviews the account and reasons. The next step may be outreach, a payment plan, a limit review, or no action.</a:t>
            </a:r>
            <a:endParaRPr lang="en-US" sz="1600" dirty="0"/>
          </a:p>
        </p:txBody>
      </p:sp>
      <p:sp>
        <p:nvSpPr>
          <p:cNvPr id="13" name="Shape 11"/>
          <p:cNvSpPr/>
          <p:nvPr/>
        </p:nvSpPr>
        <p:spPr>
          <a:xfrm>
            <a:off x="566928" y="4297680"/>
            <a:ext cx="11064240" cy="1371600"/>
          </a:xfrm>
          <a:prstGeom prst="roundRect">
            <a:avLst>
              <a:gd name="adj" fmla="val 5333"/>
            </a:avLst>
          </a:prstGeom>
          <a:solidFill>
            <a:srgbClr val="171A22"/>
          </a:solidFill>
          <a:ln w="12700">
            <a:solidFill>
              <a:srgbClr val="FBBF24"/>
            </a:solidFill>
            <a:prstDash val="solid"/>
          </a:ln>
        </p:spPr>
        <p:txBody>
          <a:bodyPr/>
          <a:lstStyle/>
          <a:p>
            <a:endParaRPr lang="en-US"/>
          </a:p>
        </p:txBody>
      </p:sp>
      <p:sp>
        <p:nvSpPr>
          <p:cNvPr id="14" name="Text 12"/>
          <p:cNvSpPr/>
          <p:nvPr/>
        </p:nvSpPr>
        <p:spPr>
          <a:xfrm>
            <a:off x="786384" y="440740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What this system is not</a:t>
            </a:r>
            <a:endParaRPr lang="en-US" sz="1600" dirty="0"/>
          </a:p>
        </p:txBody>
      </p:sp>
      <p:sp>
        <p:nvSpPr>
          <p:cNvPr id="15" name="Text 13"/>
          <p:cNvSpPr/>
          <p:nvPr/>
        </p:nvSpPr>
        <p:spPr>
          <a:xfrm>
            <a:off x="786384" y="4745736"/>
            <a:ext cx="10625328" cy="85039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No automatic approval, denial, or limit change. A score requests human attention; it is not a decision or an outcome.</a:t>
            </a:r>
            <a:endParaRPr lang="en-US" sz="1500" dirty="0"/>
          </a:p>
        </p:txBody>
      </p:sp>
      <p:sp>
        <p:nvSpPr>
          <p:cNvPr id="16" name="Text 1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1: credit risk</a:t>
            </a:r>
            <a:endParaRPr lang="en-US" sz="1000" dirty="0"/>
          </a:p>
        </p:txBody>
      </p:sp>
      <p:sp>
        <p:nvSpPr>
          <p:cNvPr id="17" name="Text 1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1 · THE DATA</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30,000 real accounts, six months of behavior</a:t>
            </a:r>
            <a:endParaRPr lang="en-US" sz="2800" dirty="0"/>
          </a:p>
        </p:txBody>
      </p:sp>
      <p:sp>
        <p:nvSpPr>
          <p:cNvPr id="4" name="Text 2"/>
          <p:cNvSpPr/>
          <p:nvPr/>
        </p:nvSpPr>
        <p:spPr>
          <a:xfrm>
            <a:off x="566928" y="141732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One customer per row: September 2005 credit limit, demographics, and six months of bills, payments, and delays.</a:t>
            </a:r>
            <a:endParaRPr lang="en-US" sz="1700" dirty="0"/>
          </a:p>
        </p:txBody>
      </p:sp>
      <p:sp>
        <p:nvSpPr>
          <p:cNvPr id="5" name="Text 3"/>
          <p:cNvSpPr/>
          <p:nvPr/>
        </p:nvSpPr>
        <p:spPr>
          <a:xfrm>
            <a:off x="454970" y="2308860"/>
            <a:ext cx="265176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WHAT IS IN THE FILE</a:t>
            </a:r>
            <a:endParaRPr lang="en-US" sz="1100" dirty="0"/>
          </a:p>
        </p:txBody>
      </p:sp>
      <p:sp>
        <p:nvSpPr>
          <p:cNvPr id="6" name="Text 4"/>
          <p:cNvSpPr/>
          <p:nvPr/>
        </p:nvSpPr>
        <p:spPr>
          <a:xfrm>
            <a:off x="3106730" y="2308860"/>
            <a:ext cx="493776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THE COLUMNS</a:t>
            </a:r>
            <a:endParaRPr lang="en-US" sz="1100" dirty="0"/>
          </a:p>
        </p:txBody>
      </p:sp>
      <p:sp>
        <p:nvSpPr>
          <p:cNvPr id="7" name="Text 5"/>
          <p:cNvSpPr/>
          <p:nvPr/>
        </p:nvSpPr>
        <p:spPr>
          <a:xfrm>
            <a:off x="8044490" y="2308860"/>
            <a:ext cx="347472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WHY IT MATTERS TONIGHT</a:t>
            </a:r>
            <a:endParaRPr lang="en-US" sz="1100" dirty="0"/>
          </a:p>
        </p:txBody>
      </p:sp>
      <p:sp>
        <p:nvSpPr>
          <p:cNvPr id="8" name="Shape 6"/>
          <p:cNvSpPr/>
          <p:nvPr/>
        </p:nvSpPr>
        <p:spPr>
          <a:xfrm>
            <a:off x="454970" y="2674620"/>
            <a:ext cx="11064240" cy="22860"/>
          </a:xfrm>
          <a:prstGeom prst="rect">
            <a:avLst/>
          </a:prstGeom>
          <a:solidFill>
            <a:srgbClr val="22D3EE"/>
          </a:solidFill>
          <a:ln/>
        </p:spPr>
        <p:txBody>
          <a:bodyPr/>
          <a:lstStyle/>
          <a:p>
            <a:endParaRPr lang="en-US"/>
          </a:p>
        </p:txBody>
      </p:sp>
      <p:sp>
        <p:nvSpPr>
          <p:cNvPr id="9" name="Text 7"/>
          <p:cNvSpPr/>
          <p:nvPr/>
        </p:nvSpPr>
        <p:spPr>
          <a:xfrm>
            <a:off x="454970" y="2747772"/>
            <a:ext cx="2505456"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Exposure</a:t>
            </a:r>
            <a:endParaRPr lang="en-US" sz="1500" dirty="0"/>
          </a:p>
        </p:txBody>
      </p:sp>
      <p:sp>
        <p:nvSpPr>
          <p:cNvPr id="10" name="Text 8"/>
          <p:cNvSpPr/>
          <p:nvPr/>
        </p:nvSpPr>
        <p:spPr>
          <a:xfrm>
            <a:off x="3106730" y="2747772"/>
            <a:ext cx="479145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Credit limit, in New Taiwan dollars</a:t>
            </a:r>
            <a:endParaRPr lang="en-US" sz="1500" dirty="0"/>
          </a:p>
        </p:txBody>
      </p:sp>
      <p:sp>
        <p:nvSpPr>
          <p:cNvPr id="11" name="Text 9"/>
          <p:cNvSpPr/>
          <p:nvPr/>
        </p:nvSpPr>
        <p:spPr>
          <a:xfrm>
            <a:off x="8044490" y="2747772"/>
            <a:ext cx="332841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Stands in for the money at risk</a:t>
            </a:r>
            <a:endParaRPr lang="en-US" sz="1500" dirty="0"/>
          </a:p>
        </p:txBody>
      </p:sp>
      <p:sp>
        <p:nvSpPr>
          <p:cNvPr id="12" name="Shape 10"/>
          <p:cNvSpPr/>
          <p:nvPr/>
        </p:nvSpPr>
        <p:spPr>
          <a:xfrm>
            <a:off x="345242" y="3250692"/>
            <a:ext cx="11283696" cy="502920"/>
          </a:xfrm>
          <a:prstGeom prst="rect">
            <a:avLst/>
          </a:prstGeom>
          <a:solidFill>
            <a:srgbClr val="1C2029"/>
          </a:solidFill>
          <a:ln/>
        </p:spPr>
        <p:txBody>
          <a:bodyPr/>
          <a:lstStyle/>
          <a:p>
            <a:endParaRPr lang="en-US"/>
          </a:p>
        </p:txBody>
      </p:sp>
      <p:sp>
        <p:nvSpPr>
          <p:cNvPr id="13" name="Text 11"/>
          <p:cNvSpPr/>
          <p:nvPr/>
        </p:nvSpPr>
        <p:spPr>
          <a:xfrm>
            <a:off x="454970" y="3250692"/>
            <a:ext cx="2505456"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Demographics</a:t>
            </a:r>
            <a:endParaRPr lang="en-US" sz="1500" dirty="0"/>
          </a:p>
        </p:txBody>
      </p:sp>
      <p:sp>
        <p:nvSpPr>
          <p:cNvPr id="14" name="Text 12"/>
          <p:cNvSpPr/>
          <p:nvPr/>
        </p:nvSpPr>
        <p:spPr>
          <a:xfrm>
            <a:off x="3106730" y="3250692"/>
            <a:ext cx="479145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Sex, marriage, age, education</a:t>
            </a:r>
            <a:endParaRPr lang="en-US" sz="1500" dirty="0"/>
          </a:p>
        </p:txBody>
      </p:sp>
      <p:sp>
        <p:nvSpPr>
          <p:cNvPr id="15" name="Text 13"/>
          <p:cNvSpPr/>
          <p:nvPr/>
        </p:nvSpPr>
        <p:spPr>
          <a:xfrm>
            <a:off x="8044490" y="3250692"/>
            <a:ext cx="3328416" cy="50292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The fair-lending problem — slide 12</a:t>
            </a:r>
            <a:endParaRPr lang="en-US" sz="1500" dirty="0"/>
          </a:p>
        </p:txBody>
      </p:sp>
      <p:sp>
        <p:nvSpPr>
          <p:cNvPr id="16" name="Text 14"/>
          <p:cNvSpPr/>
          <p:nvPr/>
        </p:nvSpPr>
        <p:spPr>
          <a:xfrm>
            <a:off x="454970" y="3753612"/>
            <a:ext cx="2505456"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Payment status</a:t>
            </a:r>
            <a:endParaRPr lang="en-US" sz="1500" dirty="0"/>
          </a:p>
        </p:txBody>
      </p:sp>
      <p:sp>
        <p:nvSpPr>
          <p:cNvPr id="17" name="Text 15"/>
          <p:cNvSpPr/>
          <p:nvPr/>
        </p:nvSpPr>
        <p:spPr>
          <a:xfrm>
            <a:off x="3106730" y="3753612"/>
            <a:ext cx="479145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How many months behind, for each of six months</a:t>
            </a:r>
            <a:endParaRPr lang="en-US" sz="1500" dirty="0"/>
          </a:p>
        </p:txBody>
      </p:sp>
      <p:sp>
        <p:nvSpPr>
          <p:cNvPr id="18" name="Text 16"/>
          <p:cNvSpPr/>
          <p:nvPr/>
        </p:nvSpPr>
        <p:spPr>
          <a:xfrm>
            <a:off x="8044490" y="3753612"/>
            <a:ext cx="332841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The strongest signal, and easy to say out loud</a:t>
            </a:r>
            <a:endParaRPr lang="en-US" sz="1500" dirty="0"/>
          </a:p>
        </p:txBody>
      </p:sp>
      <p:sp>
        <p:nvSpPr>
          <p:cNvPr id="19" name="Shape 17"/>
          <p:cNvSpPr/>
          <p:nvPr/>
        </p:nvSpPr>
        <p:spPr>
          <a:xfrm>
            <a:off x="345242" y="4256532"/>
            <a:ext cx="11283696" cy="502920"/>
          </a:xfrm>
          <a:prstGeom prst="rect">
            <a:avLst/>
          </a:prstGeom>
          <a:solidFill>
            <a:srgbClr val="1C2029"/>
          </a:solidFill>
          <a:ln/>
        </p:spPr>
        <p:txBody>
          <a:bodyPr/>
          <a:lstStyle/>
          <a:p>
            <a:endParaRPr lang="en-US"/>
          </a:p>
        </p:txBody>
      </p:sp>
      <p:sp>
        <p:nvSpPr>
          <p:cNvPr id="20" name="Text 18"/>
          <p:cNvSpPr/>
          <p:nvPr/>
        </p:nvSpPr>
        <p:spPr>
          <a:xfrm>
            <a:off x="454970" y="4256532"/>
            <a:ext cx="2505456"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Bills</a:t>
            </a:r>
            <a:endParaRPr lang="en-US" sz="1500" dirty="0"/>
          </a:p>
        </p:txBody>
      </p:sp>
      <p:sp>
        <p:nvSpPr>
          <p:cNvPr id="21" name="Text 19"/>
          <p:cNvSpPr/>
          <p:nvPr/>
        </p:nvSpPr>
        <p:spPr>
          <a:xfrm>
            <a:off x="3106730" y="4256532"/>
            <a:ext cx="479145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Statement balance, each of six months</a:t>
            </a:r>
            <a:endParaRPr lang="en-US" sz="1500" dirty="0"/>
          </a:p>
        </p:txBody>
      </p:sp>
      <p:sp>
        <p:nvSpPr>
          <p:cNvPr id="22" name="Text 20"/>
          <p:cNvSpPr/>
          <p:nvPr/>
        </p:nvSpPr>
        <p:spPr>
          <a:xfrm>
            <a:off x="8044490" y="4256532"/>
            <a:ext cx="332841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How much of the limit is being used</a:t>
            </a:r>
            <a:endParaRPr lang="en-US" sz="1500" dirty="0"/>
          </a:p>
        </p:txBody>
      </p:sp>
      <p:sp>
        <p:nvSpPr>
          <p:cNvPr id="23" name="Text 21"/>
          <p:cNvSpPr/>
          <p:nvPr/>
        </p:nvSpPr>
        <p:spPr>
          <a:xfrm>
            <a:off x="454970" y="4759452"/>
            <a:ext cx="2505456" cy="50292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Payments</a:t>
            </a:r>
            <a:endParaRPr lang="en-US" sz="1500" dirty="0"/>
          </a:p>
        </p:txBody>
      </p:sp>
      <p:sp>
        <p:nvSpPr>
          <p:cNvPr id="24" name="Text 22"/>
          <p:cNvSpPr/>
          <p:nvPr/>
        </p:nvSpPr>
        <p:spPr>
          <a:xfrm>
            <a:off x="3106730" y="4759452"/>
            <a:ext cx="479145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Amount actually paid, each of six months</a:t>
            </a:r>
            <a:endParaRPr lang="en-US" sz="1500" dirty="0"/>
          </a:p>
        </p:txBody>
      </p:sp>
      <p:sp>
        <p:nvSpPr>
          <p:cNvPr id="25" name="Text 23"/>
          <p:cNvSpPr/>
          <p:nvPr/>
        </p:nvSpPr>
        <p:spPr>
          <a:xfrm>
            <a:off x="8044490" y="4759452"/>
            <a:ext cx="3328416" cy="5029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How hard the customer is trying to keep up</a:t>
            </a:r>
            <a:endParaRPr lang="en-US" sz="1500" dirty="0"/>
          </a:p>
        </p:txBody>
      </p:sp>
      <p:sp>
        <p:nvSpPr>
          <p:cNvPr id="30" name="Text 28"/>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1: credit risk</a:t>
            </a:r>
            <a:endParaRPr lang="en-US" sz="1000" dirty="0"/>
          </a:p>
        </p:txBody>
      </p:sp>
      <p:sp>
        <p:nvSpPr>
          <p:cNvPr id="31" name="Text 29"/>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1 · THE WORKFLOW</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From monthly snapshot to human decision</a:t>
            </a:r>
            <a:endParaRPr lang="en-US" sz="2800" dirty="0"/>
          </a:p>
        </p:txBody>
      </p:sp>
      <p:sp>
        <p:nvSpPr>
          <p:cNvPr id="4" name="Text 2"/>
          <p:cNvSpPr/>
          <p:nvPr/>
        </p:nvSpPr>
        <p:spPr>
          <a:xfrm>
            <a:off x="566928" y="1536192"/>
            <a:ext cx="5486400" cy="237744"/>
          </a:xfrm>
          <a:prstGeom prst="rect">
            <a:avLst/>
          </a:prstGeom>
          <a:noFill/>
          <a:ln/>
        </p:spPr>
        <p:txBody>
          <a:bodyPr wrap="square" lIns="0" tIns="0" rIns="0" bIns="0" rtlCol="0" anchor="ctr"/>
          <a:lstStyle/>
          <a:p>
            <a:pPr marL="0" indent="0">
              <a:buNone/>
            </a:pPr>
            <a:r>
              <a:rPr lang="en-US" sz="1000" b="1" kern="0" spc="120" dirty="0">
                <a:solidFill>
                  <a:srgbClr val="99A5B5"/>
                </a:solidFill>
                <a:latin typeface="Arial" pitchFamily="34" charset="0"/>
                <a:ea typeface="Arial" pitchFamily="34" charset="-122"/>
                <a:cs typeface="Arial" pitchFamily="34" charset="-120"/>
              </a:rPr>
              <a:t>THE AUTOMATED HALF</a:t>
            </a:r>
            <a:endParaRPr lang="en-US" sz="1000" dirty="0"/>
          </a:p>
        </p:txBody>
      </p:sp>
      <p:sp>
        <p:nvSpPr>
          <p:cNvPr id="5" name="Shape 3"/>
          <p:cNvSpPr/>
          <p:nvPr/>
        </p:nvSpPr>
        <p:spPr>
          <a:xfrm>
            <a:off x="566928" y="1828800"/>
            <a:ext cx="2532888" cy="1234440"/>
          </a:xfrm>
          <a:prstGeom prst="roundRect">
            <a:avLst>
              <a:gd name="adj" fmla="val 5926"/>
            </a:avLst>
          </a:prstGeom>
          <a:solidFill>
            <a:srgbClr val="171A22"/>
          </a:solidFill>
          <a:ln w="12700">
            <a:solidFill>
              <a:srgbClr val="22D3EE"/>
            </a:solidFill>
            <a:prstDash val="solid"/>
          </a:ln>
        </p:spPr>
        <p:txBody>
          <a:bodyPr/>
          <a:lstStyle/>
          <a:p>
            <a:endParaRPr lang="en-US"/>
          </a:p>
        </p:txBody>
      </p:sp>
      <p:sp>
        <p:nvSpPr>
          <p:cNvPr id="6" name="Text 4"/>
          <p:cNvSpPr/>
          <p:nvPr/>
        </p:nvSpPr>
        <p:spPr>
          <a:xfrm>
            <a:off x="676656" y="194767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Monthly snapshot</a:t>
            </a:r>
            <a:endParaRPr lang="en-US" sz="1500" dirty="0"/>
          </a:p>
        </p:txBody>
      </p:sp>
      <p:sp>
        <p:nvSpPr>
          <p:cNvPr id="7" name="Text 5"/>
          <p:cNvSpPr/>
          <p:nvPr/>
        </p:nvSpPr>
        <p:spPr>
          <a:xfrm>
            <a:off x="694944" y="241401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Six months of behavior for every open account.</a:t>
            </a:r>
            <a:endParaRPr lang="en-US" sz="1400" dirty="0"/>
          </a:p>
        </p:txBody>
      </p:sp>
      <p:sp>
        <p:nvSpPr>
          <p:cNvPr id="8" name="Text 6"/>
          <p:cNvSpPr/>
          <p:nvPr/>
        </p:nvSpPr>
        <p:spPr>
          <a:xfrm>
            <a:off x="3099816" y="182880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3410712" y="1828800"/>
            <a:ext cx="2532888" cy="1234440"/>
          </a:xfrm>
          <a:prstGeom prst="roundRect">
            <a:avLst>
              <a:gd name="adj" fmla="val 5926"/>
            </a:avLst>
          </a:prstGeom>
          <a:solidFill>
            <a:srgbClr val="171A22"/>
          </a:solidFill>
          <a:ln w="12700">
            <a:solidFill>
              <a:srgbClr val="38BDF8"/>
            </a:solidFill>
            <a:prstDash val="solid"/>
          </a:ln>
        </p:spPr>
        <p:txBody>
          <a:bodyPr/>
          <a:lstStyle/>
          <a:p>
            <a:endParaRPr lang="en-US"/>
          </a:p>
        </p:txBody>
      </p:sp>
      <p:sp>
        <p:nvSpPr>
          <p:cNvPr id="10" name="Text 8"/>
          <p:cNvSpPr/>
          <p:nvPr/>
        </p:nvSpPr>
        <p:spPr>
          <a:xfrm>
            <a:off x="3520440" y="194767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Validity check</a:t>
            </a:r>
            <a:endParaRPr lang="en-US" sz="1500" dirty="0"/>
          </a:p>
        </p:txBody>
      </p:sp>
      <p:sp>
        <p:nvSpPr>
          <p:cNvPr id="11" name="Text 9"/>
          <p:cNvSpPr/>
          <p:nvPr/>
        </p:nvSpPr>
        <p:spPr>
          <a:xfrm>
            <a:off x="3538728" y="241401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Invalid fields: exclude and log; do not score.</a:t>
            </a:r>
            <a:endParaRPr lang="en-US" sz="1400" dirty="0"/>
          </a:p>
        </p:txBody>
      </p:sp>
      <p:sp>
        <p:nvSpPr>
          <p:cNvPr id="12" name="Text 10"/>
          <p:cNvSpPr/>
          <p:nvPr/>
        </p:nvSpPr>
        <p:spPr>
          <a:xfrm>
            <a:off x="5943600" y="182880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6254496" y="1828800"/>
            <a:ext cx="2532888" cy="1234440"/>
          </a:xfrm>
          <a:prstGeom prst="roundRect">
            <a:avLst>
              <a:gd name="adj" fmla="val 5926"/>
            </a:avLst>
          </a:prstGeom>
          <a:solidFill>
            <a:srgbClr val="171A22"/>
          </a:solidFill>
          <a:ln w="12700">
            <a:solidFill>
              <a:srgbClr val="FBBF24"/>
            </a:solidFill>
            <a:prstDash val="solid"/>
          </a:ln>
        </p:spPr>
        <p:txBody>
          <a:bodyPr/>
          <a:lstStyle/>
          <a:p>
            <a:endParaRPr lang="en-US"/>
          </a:p>
        </p:txBody>
      </p:sp>
      <p:sp>
        <p:nvSpPr>
          <p:cNvPr id="14" name="Text 12"/>
          <p:cNvSpPr/>
          <p:nvPr/>
        </p:nvSpPr>
        <p:spPr>
          <a:xfrm>
            <a:off x="6364224" y="1947672"/>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Score</a:t>
            </a:r>
            <a:endParaRPr lang="en-US" sz="1500" dirty="0"/>
          </a:p>
        </p:txBody>
      </p:sp>
      <p:sp>
        <p:nvSpPr>
          <p:cNvPr id="15" name="Text 13"/>
          <p:cNvSpPr/>
          <p:nvPr/>
        </p:nvSpPr>
        <p:spPr>
          <a:xfrm>
            <a:off x="6382512" y="241401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Probability this account misses its next payment.</a:t>
            </a:r>
            <a:endParaRPr lang="en-US" sz="1400" dirty="0"/>
          </a:p>
        </p:txBody>
      </p:sp>
      <p:sp>
        <p:nvSpPr>
          <p:cNvPr id="16" name="Text 14"/>
          <p:cNvSpPr/>
          <p:nvPr/>
        </p:nvSpPr>
        <p:spPr>
          <a:xfrm>
            <a:off x="8787384" y="182880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098280" y="1828800"/>
            <a:ext cx="2532888" cy="1234440"/>
          </a:xfrm>
          <a:prstGeom prst="roundRect">
            <a:avLst>
              <a:gd name="adj" fmla="val 5926"/>
            </a:avLst>
          </a:prstGeom>
          <a:solidFill>
            <a:srgbClr val="171A22"/>
          </a:solidFill>
          <a:ln w="12700">
            <a:solidFill>
              <a:srgbClr val="818CF8"/>
            </a:solidFill>
            <a:prstDash val="solid"/>
          </a:ln>
        </p:spPr>
        <p:txBody>
          <a:bodyPr/>
          <a:lstStyle/>
          <a:p>
            <a:endParaRPr lang="en-US"/>
          </a:p>
        </p:txBody>
      </p:sp>
      <p:sp>
        <p:nvSpPr>
          <p:cNvPr id="18" name="Text 16"/>
          <p:cNvSpPr/>
          <p:nvPr/>
        </p:nvSpPr>
        <p:spPr>
          <a:xfrm>
            <a:off x="9208008" y="1947672"/>
            <a:ext cx="2313432" cy="393192"/>
          </a:xfrm>
          <a:prstGeom prst="rect">
            <a:avLst/>
          </a:prstGeom>
          <a:noFill/>
          <a:ln/>
        </p:spPr>
        <p:txBody>
          <a:bodyPr wrap="square" lIns="0" tIns="0" rIns="0" bIns="0" rtlCol="0" anchor="ctr"/>
          <a:lstStyle/>
          <a:p>
            <a:pPr marL="0" indent="0" algn="ctr">
              <a:buNone/>
            </a:pPr>
            <a:r>
              <a:rPr lang="en-US" sz="1500" b="1" dirty="0">
                <a:solidFill>
                  <a:srgbClr val="818CF8"/>
                </a:solidFill>
                <a:latin typeface="Arial" pitchFamily="34" charset="0"/>
                <a:ea typeface="Arial" pitchFamily="34" charset="-122"/>
                <a:cs typeface="Arial" pitchFamily="34" charset="-120"/>
              </a:rPr>
              <a:t>Cost policy</a:t>
            </a:r>
            <a:endParaRPr lang="en-US" sz="1500" dirty="0"/>
          </a:p>
        </p:txBody>
      </p:sp>
      <p:sp>
        <p:nvSpPr>
          <p:cNvPr id="19" name="Text 17"/>
          <p:cNvSpPr/>
          <p:nvPr/>
        </p:nvSpPr>
        <p:spPr>
          <a:xfrm>
            <a:off x="9226296" y="241401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Flag when review value exceeds cost.</a:t>
            </a:r>
            <a:endParaRPr lang="en-US" sz="1400" dirty="0"/>
          </a:p>
        </p:txBody>
      </p:sp>
      <p:sp>
        <p:nvSpPr>
          <p:cNvPr id="20" name="Text 18"/>
          <p:cNvSpPr/>
          <p:nvPr/>
        </p:nvSpPr>
        <p:spPr>
          <a:xfrm>
            <a:off x="566928" y="3246120"/>
            <a:ext cx="5486400" cy="237744"/>
          </a:xfrm>
          <a:prstGeom prst="rect">
            <a:avLst/>
          </a:prstGeom>
          <a:noFill/>
          <a:ln/>
        </p:spPr>
        <p:txBody>
          <a:bodyPr wrap="square" lIns="0" tIns="0" rIns="0" bIns="0" rtlCol="0" anchor="ctr"/>
          <a:lstStyle/>
          <a:p>
            <a:pPr marL="0" indent="0">
              <a:buNone/>
            </a:pPr>
            <a:r>
              <a:rPr lang="en-US" sz="1000" b="1" kern="0" spc="120" dirty="0">
                <a:solidFill>
                  <a:srgbClr val="99A5B5"/>
                </a:solidFill>
                <a:latin typeface="Arial" pitchFamily="34" charset="0"/>
                <a:ea typeface="Arial" pitchFamily="34" charset="-122"/>
                <a:cs typeface="Arial" pitchFamily="34" charset="-120"/>
              </a:rPr>
              <a:t>THE HUMAN HALF</a:t>
            </a:r>
            <a:endParaRPr lang="en-US" sz="1000" dirty="0"/>
          </a:p>
        </p:txBody>
      </p:sp>
      <p:sp>
        <p:nvSpPr>
          <p:cNvPr id="21" name="Shape 19"/>
          <p:cNvSpPr/>
          <p:nvPr/>
        </p:nvSpPr>
        <p:spPr>
          <a:xfrm>
            <a:off x="566928" y="3538728"/>
            <a:ext cx="2532888" cy="1234440"/>
          </a:xfrm>
          <a:prstGeom prst="roundRect">
            <a:avLst>
              <a:gd name="adj" fmla="val 5926"/>
            </a:avLst>
          </a:prstGeom>
          <a:solidFill>
            <a:srgbClr val="171A22"/>
          </a:solidFill>
          <a:ln w="12700">
            <a:solidFill>
              <a:srgbClr val="A78BFA"/>
            </a:solidFill>
            <a:prstDash val="solid"/>
          </a:ln>
        </p:spPr>
        <p:txBody>
          <a:bodyPr/>
          <a:lstStyle/>
          <a:p>
            <a:endParaRPr lang="en-US"/>
          </a:p>
        </p:txBody>
      </p:sp>
      <p:sp>
        <p:nvSpPr>
          <p:cNvPr id="22" name="Text 20"/>
          <p:cNvSpPr/>
          <p:nvPr/>
        </p:nvSpPr>
        <p:spPr>
          <a:xfrm>
            <a:off x="676656" y="3657600"/>
            <a:ext cx="2313432" cy="393192"/>
          </a:xfrm>
          <a:prstGeom prst="rect">
            <a:avLst/>
          </a:prstGeom>
          <a:noFill/>
          <a:ln/>
        </p:spPr>
        <p:txBody>
          <a:bodyPr wrap="square" lIns="0" tIns="0" rIns="0" bIns="0" rtlCol="0" anchor="ctr"/>
          <a:lstStyle/>
          <a:p>
            <a:pPr marL="0" indent="0" algn="ctr">
              <a:buNone/>
            </a:pPr>
            <a:r>
              <a:rPr lang="en-US" sz="1500" b="1" dirty="0">
                <a:solidFill>
                  <a:srgbClr val="A78BFA"/>
                </a:solidFill>
                <a:latin typeface="Arial" pitchFamily="34" charset="0"/>
                <a:ea typeface="Arial" pitchFamily="34" charset="-122"/>
                <a:cs typeface="Arial" pitchFamily="34" charset="-120"/>
              </a:rPr>
              <a:t>Analyst queue</a:t>
            </a:r>
            <a:endParaRPr lang="en-US" sz="1500" dirty="0"/>
          </a:p>
        </p:txBody>
      </p:sp>
      <p:sp>
        <p:nvSpPr>
          <p:cNvPr id="23" name="Text 21"/>
          <p:cNvSpPr/>
          <p:nvPr/>
        </p:nvSpPr>
        <p:spPr>
          <a:xfrm>
            <a:off x="694944" y="4123944"/>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Flagged accounts, ranked, with reasons attached.</a:t>
            </a:r>
            <a:endParaRPr lang="en-US" sz="1400" dirty="0"/>
          </a:p>
        </p:txBody>
      </p:sp>
      <p:sp>
        <p:nvSpPr>
          <p:cNvPr id="24" name="Text 22"/>
          <p:cNvSpPr/>
          <p:nvPr/>
        </p:nvSpPr>
        <p:spPr>
          <a:xfrm>
            <a:off x="3099816" y="3538728"/>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3410712" y="3538728"/>
            <a:ext cx="2532888" cy="1234440"/>
          </a:xfrm>
          <a:prstGeom prst="roundRect">
            <a:avLst>
              <a:gd name="adj" fmla="val 5926"/>
            </a:avLst>
          </a:prstGeom>
          <a:solidFill>
            <a:srgbClr val="171A22"/>
          </a:solidFill>
          <a:ln w="12700">
            <a:solidFill>
              <a:srgbClr val="4ADE80"/>
            </a:solidFill>
            <a:prstDash val="solid"/>
          </a:ln>
        </p:spPr>
        <p:txBody>
          <a:bodyPr/>
          <a:lstStyle/>
          <a:p>
            <a:endParaRPr lang="en-US"/>
          </a:p>
        </p:txBody>
      </p:sp>
      <p:sp>
        <p:nvSpPr>
          <p:cNvPr id="26" name="Text 24"/>
          <p:cNvSpPr/>
          <p:nvPr/>
        </p:nvSpPr>
        <p:spPr>
          <a:xfrm>
            <a:off x="3520440" y="3657600"/>
            <a:ext cx="2313432" cy="393192"/>
          </a:xfrm>
          <a:prstGeom prst="rect">
            <a:avLst/>
          </a:prstGeom>
          <a:noFill/>
          <a:ln/>
        </p:spPr>
        <p:txBody>
          <a:bodyPr wrap="square" lIns="0" tIns="0" rIns="0" bIns="0" rtlCol="0" anchor="ctr"/>
          <a:lstStyle/>
          <a:p>
            <a:pPr marL="0" indent="0" algn="ctr">
              <a:buNone/>
            </a:pPr>
            <a:r>
              <a:rPr lang="en-US" sz="1500" b="1" dirty="0">
                <a:solidFill>
                  <a:srgbClr val="4ADE80"/>
                </a:solidFill>
                <a:latin typeface="Arial" pitchFamily="34" charset="0"/>
                <a:ea typeface="Arial" pitchFamily="34" charset="-122"/>
                <a:cs typeface="Arial" pitchFamily="34" charset="-120"/>
              </a:rPr>
              <a:t>Analyst decides</a:t>
            </a:r>
            <a:endParaRPr lang="en-US" sz="1500" dirty="0"/>
          </a:p>
        </p:txBody>
      </p:sp>
      <p:sp>
        <p:nvSpPr>
          <p:cNvPr id="27" name="Text 25"/>
          <p:cNvSpPr/>
          <p:nvPr/>
        </p:nvSpPr>
        <p:spPr>
          <a:xfrm>
            <a:off x="3538728" y="4123944"/>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Outreach, payment plan, limit review — or no action.</a:t>
            </a:r>
            <a:endParaRPr lang="en-US" sz="1400" dirty="0"/>
          </a:p>
        </p:txBody>
      </p:sp>
      <p:sp>
        <p:nvSpPr>
          <p:cNvPr id="28" name="Text 26"/>
          <p:cNvSpPr/>
          <p:nvPr/>
        </p:nvSpPr>
        <p:spPr>
          <a:xfrm>
            <a:off x="5943600" y="3538728"/>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6254496" y="3538728"/>
            <a:ext cx="2532888" cy="1234440"/>
          </a:xfrm>
          <a:prstGeom prst="roundRect">
            <a:avLst>
              <a:gd name="adj" fmla="val 5926"/>
            </a:avLst>
          </a:prstGeom>
          <a:solidFill>
            <a:srgbClr val="171A22"/>
          </a:solidFill>
          <a:ln w="12700">
            <a:solidFill>
              <a:srgbClr val="FBBF24"/>
            </a:solidFill>
            <a:prstDash val="solid"/>
          </a:ln>
        </p:spPr>
        <p:txBody>
          <a:bodyPr/>
          <a:lstStyle/>
          <a:p>
            <a:endParaRPr lang="en-US"/>
          </a:p>
        </p:txBody>
      </p:sp>
      <p:sp>
        <p:nvSpPr>
          <p:cNvPr id="30" name="Text 28"/>
          <p:cNvSpPr/>
          <p:nvPr/>
        </p:nvSpPr>
        <p:spPr>
          <a:xfrm>
            <a:off x="6364224" y="3657600"/>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Adverse action</a:t>
            </a:r>
            <a:endParaRPr lang="en-US" sz="1500" dirty="0"/>
          </a:p>
        </p:txBody>
      </p:sp>
      <p:sp>
        <p:nvSpPr>
          <p:cNvPr id="31" name="Text 29"/>
          <p:cNvSpPr/>
          <p:nvPr/>
        </p:nvSpPr>
        <p:spPr>
          <a:xfrm>
            <a:off x="6382512" y="4123944"/>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Compliance owns the notice and specific reasons.</a:t>
            </a:r>
            <a:endParaRPr lang="en-US" sz="1400" dirty="0"/>
          </a:p>
        </p:txBody>
      </p:sp>
      <p:sp>
        <p:nvSpPr>
          <p:cNvPr id="32" name="Text 30"/>
          <p:cNvSpPr/>
          <p:nvPr/>
        </p:nvSpPr>
        <p:spPr>
          <a:xfrm>
            <a:off x="8787384" y="3538728"/>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33" name="Shape 31"/>
          <p:cNvSpPr/>
          <p:nvPr/>
        </p:nvSpPr>
        <p:spPr>
          <a:xfrm>
            <a:off x="9098280" y="3538728"/>
            <a:ext cx="2532888" cy="1234440"/>
          </a:xfrm>
          <a:prstGeom prst="roundRect">
            <a:avLst>
              <a:gd name="adj" fmla="val 5926"/>
            </a:avLst>
          </a:prstGeom>
          <a:solidFill>
            <a:srgbClr val="171A22"/>
          </a:solidFill>
          <a:ln w="12700">
            <a:solidFill>
              <a:srgbClr val="22D3EE"/>
            </a:solidFill>
            <a:prstDash val="solid"/>
          </a:ln>
        </p:spPr>
        <p:txBody>
          <a:bodyPr/>
          <a:lstStyle/>
          <a:p>
            <a:endParaRPr lang="en-US"/>
          </a:p>
        </p:txBody>
      </p:sp>
      <p:sp>
        <p:nvSpPr>
          <p:cNvPr id="34" name="Text 32"/>
          <p:cNvSpPr/>
          <p:nvPr/>
        </p:nvSpPr>
        <p:spPr>
          <a:xfrm>
            <a:off x="9208008" y="3657600"/>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Outcome recorded</a:t>
            </a:r>
            <a:endParaRPr lang="en-US" sz="1500" dirty="0"/>
          </a:p>
        </p:txBody>
      </p:sp>
      <p:sp>
        <p:nvSpPr>
          <p:cNvPr id="35" name="Text 33"/>
          <p:cNvSpPr/>
          <p:nvPr/>
        </p:nvSpPr>
        <p:spPr>
          <a:xfrm>
            <a:off x="9226296" y="4123944"/>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Next month's outcome feeds monitoring.</a:t>
            </a:r>
            <a:endParaRPr lang="en-US" sz="1400" dirty="0"/>
          </a:p>
        </p:txBody>
      </p:sp>
      <p:sp>
        <p:nvSpPr>
          <p:cNvPr id="36" name="Shape 34"/>
          <p:cNvSpPr/>
          <p:nvPr/>
        </p:nvSpPr>
        <p:spPr>
          <a:xfrm>
            <a:off x="566928" y="4956048"/>
            <a:ext cx="11064240" cy="1188720"/>
          </a:xfrm>
          <a:prstGeom prst="roundRect">
            <a:avLst>
              <a:gd name="adj" fmla="val 6154"/>
            </a:avLst>
          </a:prstGeom>
          <a:solidFill>
            <a:srgbClr val="171A22"/>
          </a:solidFill>
          <a:ln w="12700">
            <a:solidFill>
              <a:srgbClr val="22D3EE"/>
            </a:solidFill>
            <a:prstDash val="solid"/>
          </a:ln>
        </p:spPr>
        <p:txBody>
          <a:bodyPr/>
          <a:lstStyle/>
          <a:p>
            <a:endParaRPr lang="en-US"/>
          </a:p>
        </p:txBody>
      </p:sp>
      <p:sp>
        <p:nvSpPr>
          <p:cNvPr id="37" name="Text 35"/>
          <p:cNvSpPr/>
          <p:nvPr/>
        </p:nvSpPr>
        <p:spPr>
          <a:xfrm>
            <a:off x="786384" y="5065776"/>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The authority boundary runs between the two rows</a:t>
            </a:r>
            <a:endParaRPr lang="en-US" sz="1600" dirty="0"/>
          </a:p>
        </p:txBody>
      </p:sp>
      <p:sp>
        <p:nvSpPr>
          <p:cNvPr id="38" name="Text 36"/>
          <p:cNvSpPr/>
          <p:nvPr/>
        </p:nvSpPr>
        <p:spPr>
          <a:xfrm>
            <a:off x="786384" y="5404104"/>
            <a:ext cx="10625328" cy="66751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The model scores and flags. People choose the response. The model never contacts a customer, changes a limit, or declares a default.</a:t>
            </a:r>
            <a:endParaRPr lang="en-US" sz="1500" dirty="0"/>
          </a:p>
        </p:txBody>
      </p:sp>
      <p:sp>
        <p:nvSpPr>
          <p:cNvPr id="39" name="Text 37"/>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1: credit risk</a:t>
            </a:r>
            <a:endParaRPr lang="en-US" sz="1000" dirty="0"/>
          </a:p>
        </p:txBody>
      </p:sp>
      <p:sp>
        <p:nvSpPr>
          <p:cNvPr id="40" name="Text 38"/>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1 · FAIR LENDING, PREVIEWED</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The catch is sitting in the columns</a:t>
            </a:r>
            <a:endParaRPr lang="en-US" sz="2800" dirty="0"/>
          </a:p>
        </p:txBody>
      </p:sp>
      <p:sp>
        <p:nvSpPr>
          <p:cNvPr id="4" name="Text 2"/>
          <p:cNvSpPr/>
          <p:nvPr/>
        </p:nvSpPr>
        <p:spPr>
          <a:xfrm>
            <a:off x="566928" y="137160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The dataset hands us sex, marriage, and age. A model would happily use them. US credit law says a credit decision may not.</a:t>
            </a:r>
            <a:endParaRPr lang="en-US" sz="1700" dirty="0"/>
          </a:p>
        </p:txBody>
      </p:sp>
      <p:sp>
        <p:nvSpPr>
          <p:cNvPr id="5" name="Text 3"/>
          <p:cNvSpPr/>
          <p:nvPr/>
        </p:nvSpPr>
        <p:spPr>
          <a:xfrm>
            <a:off x="566928" y="2369411"/>
            <a:ext cx="283464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COLUMN IN THE FILE</a:t>
            </a:r>
            <a:endParaRPr lang="en-US" sz="1100" dirty="0"/>
          </a:p>
        </p:txBody>
      </p:sp>
      <p:sp>
        <p:nvSpPr>
          <p:cNvPr id="6" name="Text 4"/>
          <p:cNvSpPr/>
          <p:nvPr/>
        </p:nvSpPr>
        <p:spPr>
          <a:xfrm>
            <a:off x="3401568" y="2369411"/>
            <a:ext cx="475488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WHAT IT TELLS YOU</a:t>
            </a:r>
            <a:endParaRPr lang="en-US" sz="1100" dirty="0"/>
          </a:p>
        </p:txBody>
      </p:sp>
      <p:sp>
        <p:nvSpPr>
          <p:cNvPr id="7" name="Text 5"/>
          <p:cNvSpPr/>
          <p:nvPr/>
        </p:nvSpPr>
        <p:spPr>
          <a:xfrm>
            <a:off x="8156448" y="2369411"/>
            <a:ext cx="3474720" cy="347472"/>
          </a:xfrm>
          <a:prstGeom prst="rect">
            <a:avLst/>
          </a:prstGeom>
          <a:noFill/>
          <a:ln/>
        </p:spPr>
        <p:txBody>
          <a:bodyPr wrap="square" lIns="0" tIns="0" rIns="0" bIns="0" rtlCol="0" anchor="ctr"/>
          <a:lstStyle/>
          <a:p>
            <a:pPr marL="0" indent="0">
              <a:buNone/>
            </a:pPr>
            <a:r>
              <a:rPr lang="en-US" sz="1100" b="1" kern="0" spc="100" dirty="0">
                <a:solidFill>
                  <a:srgbClr val="22D3EE"/>
                </a:solidFill>
                <a:latin typeface="Arial" pitchFamily="34" charset="0"/>
                <a:ea typeface="Arial" pitchFamily="34" charset="-122"/>
                <a:cs typeface="Arial" pitchFamily="34" charset="-120"/>
              </a:rPr>
              <a:t>MAY A US CREDIT DECISION USE IT?</a:t>
            </a:r>
            <a:endParaRPr lang="en-US" sz="1100" dirty="0"/>
          </a:p>
        </p:txBody>
      </p:sp>
      <p:sp>
        <p:nvSpPr>
          <p:cNvPr id="8" name="Shape 6"/>
          <p:cNvSpPr/>
          <p:nvPr/>
        </p:nvSpPr>
        <p:spPr>
          <a:xfrm>
            <a:off x="566928" y="2735171"/>
            <a:ext cx="11064240" cy="22860"/>
          </a:xfrm>
          <a:prstGeom prst="rect">
            <a:avLst/>
          </a:prstGeom>
          <a:solidFill>
            <a:srgbClr val="22D3EE"/>
          </a:solidFill>
          <a:ln/>
        </p:spPr>
        <p:txBody>
          <a:bodyPr/>
          <a:lstStyle/>
          <a:p>
            <a:endParaRPr lang="en-US"/>
          </a:p>
        </p:txBody>
      </p:sp>
      <p:sp>
        <p:nvSpPr>
          <p:cNvPr id="9" name="Text 7"/>
          <p:cNvSpPr/>
          <p:nvPr/>
        </p:nvSpPr>
        <p:spPr>
          <a:xfrm>
            <a:off x="566928" y="28083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SEX</a:t>
            </a:r>
            <a:endParaRPr lang="en-US" sz="1500" dirty="0"/>
          </a:p>
        </p:txBody>
      </p:sp>
      <p:sp>
        <p:nvSpPr>
          <p:cNvPr id="10" name="Text 8"/>
          <p:cNvSpPr/>
          <p:nvPr/>
        </p:nvSpPr>
        <p:spPr>
          <a:xfrm>
            <a:off x="3401568" y="28083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Male or female</a:t>
            </a:r>
            <a:endParaRPr lang="en-US" sz="1500" dirty="0"/>
          </a:p>
        </p:txBody>
      </p:sp>
      <p:sp>
        <p:nvSpPr>
          <p:cNvPr id="11" name="Text 9"/>
          <p:cNvSpPr/>
          <p:nvPr/>
        </p:nvSpPr>
        <p:spPr>
          <a:xfrm>
            <a:off x="8156448" y="2808323"/>
            <a:ext cx="3328416" cy="45720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Restricted by law (ECOA)</a:t>
            </a:r>
            <a:endParaRPr lang="en-US" sz="1500" dirty="0"/>
          </a:p>
        </p:txBody>
      </p:sp>
      <p:sp>
        <p:nvSpPr>
          <p:cNvPr id="12" name="Shape 10"/>
          <p:cNvSpPr/>
          <p:nvPr/>
        </p:nvSpPr>
        <p:spPr>
          <a:xfrm>
            <a:off x="457200" y="3265523"/>
            <a:ext cx="11283696" cy="457200"/>
          </a:xfrm>
          <a:prstGeom prst="rect">
            <a:avLst/>
          </a:prstGeom>
          <a:solidFill>
            <a:srgbClr val="1C2029"/>
          </a:solidFill>
          <a:ln/>
        </p:spPr>
        <p:txBody>
          <a:bodyPr/>
          <a:lstStyle/>
          <a:p>
            <a:endParaRPr lang="en-US"/>
          </a:p>
        </p:txBody>
      </p:sp>
      <p:sp>
        <p:nvSpPr>
          <p:cNvPr id="13" name="Text 11"/>
          <p:cNvSpPr/>
          <p:nvPr/>
        </p:nvSpPr>
        <p:spPr>
          <a:xfrm>
            <a:off x="566928" y="32655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MARRIAGE</a:t>
            </a:r>
            <a:endParaRPr lang="en-US" sz="1500" dirty="0"/>
          </a:p>
        </p:txBody>
      </p:sp>
      <p:sp>
        <p:nvSpPr>
          <p:cNvPr id="14" name="Text 12"/>
          <p:cNvSpPr/>
          <p:nvPr/>
        </p:nvSpPr>
        <p:spPr>
          <a:xfrm>
            <a:off x="3401568" y="32655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Married, single, other</a:t>
            </a:r>
            <a:endParaRPr lang="en-US" sz="1500" dirty="0"/>
          </a:p>
        </p:txBody>
      </p:sp>
      <p:sp>
        <p:nvSpPr>
          <p:cNvPr id="15" name="Text 13"/>
          <p:cNvSpPr/>
          <p:nvPr/>
        </p:nvSpPr>
        <p:spPr>
          <a:xfrm>
            <a:off x="8156448" y="3265523"/>
            <a:ext cx="3328416" cy="45720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Restricted by law (ECOA)</a:t>
            </a:r>
            <a:endParaRPr lang="en-US" sz="1500" dirty="0"/>
          </a:p>
        </p:txBody>
      </p:sp>
      <p:sp>
        <p:nvSpPr>
          <p:cNvPr id="16" name="Text 14"/>
          <p:cNvSpPr/>
          <p:nvPr/>
        </p:nvSpPr>
        <p:spPr>
          <a:xfrm>
            <a:off x="566928" y="37227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AGE</a:t>
            </a:r>
            <a:endParaRPr lang="en-US" sz="1500" dirty="0"/>
          </a:p>
        </p:txBody>
      </p:sp>
      <p:sp>
        <p:nvSpPr>
          <p:cNvPr id="17" name="Text 15"/>
          <p:cNvSpPr/>
          <p:nvPr/>
        </p:nvSpPr>
        <p:spPr>
          <a:xfrm>
            <a:off x="3401568" y="37227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Age in years</a:t>
            </a:r>
            <a:endParaRPr lang="en-US" sz="1500" dirty="0"/>
          </a:p>
        </p:txBody>
      </p:sp>
      <p:sp>
        <p:nvSpPr>
          <p:cNvPr id="18" name="Text 16"/>
          <p:cNvSpPr/>
          <p:nvPr/>
        </p:nvSpPr>
        <p:spPr>
          <a:xfrm>
            <a:off x="8156448" y="3722723"/>
            <a:ext cx="3328416" cy="457200"/>
          </a:xfrm>
          <a:prstGeom prst="rect">
            <a:avLst/>
          </a:prstGeom>
          <a:noFill/>
          <a:ln/>
        </p:spPr>
        <p:txBody>
          <a:bodyPr wrap="square" lIns="0" tIns="0" rIns="0" bIns="0" rtlCol="0" anchor="ctr"/>
          <a:lstStyle/>
          <a:p>
            <a:pPr marL="0" indent="0">
              <a:buNone/>
            </a:pPr>
            <a:r>
              <a:rPr lang="en-US" sz="1500" b="1" dirty="0">
                <a:solidFill>
                  <a:srgbClr val="FBBF24"/>
                </a:solidFill>
                <a:latin typeface="Arial" pitchFamily="34" charset="0"/>
                <a:ea typeface="Arial" pitchFamily="34" charset="-122"/>
                <a:cs typeface="Arial" pitchFamily="34" charset="-120"/>
              </a:rPr>
              <a:t>Restricted by law (ECOA)</a:t>
            </a:r>
            <a:endParaRPr lang="en-US" sz="1500" dirty="0"/>
          </a:p>
        </p:txBody>
      </p:sp>
      <p:sp>
        <p:nvSpPr>
          <p:cNvPr id="19" name="Shape 17"/>
          <p:cNvSpPr/>
          <p:nvPr/>
        </p:nvSpPr>
        <p:spPr>
          <a:xfrm>
            <a:off x="457200" y="4179923"/>
            <a:ext cx="11283696" cy="457200"/>
          </a:xfrm>
          <a:prstGeom prst="rect">
            <a:avLst/>
          </a:prstGeom>
          <a:solidFill>
            <a:srgbClr val="1C2029"/>
          </a:solidFill>
          <a:ln/>
        </p:spPr>
        <p:txBody>
          <a:bodyPr/>
          <a:lstStyle/>
          <a:p>
            <a:endParaRPr lang="en-US"/>
          </a:p>
        </p:txBody>
      </p:sp>
      <p:sp>
        <p:nvSpPr>
          <p:cNvPr id="20" name="Text 18"/>
          <p:cNvSpPr/>
          <p:nvPr/>
        </p:nvSpPr>
        <p:spPr>
          <a:xfrm>
            <a:off x="566928" y="41799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EDUCATION</a:t>
            </a:r>
            <a:endParaRPr lang="en-US" sz="1500" dirty="0"/>
          </a:p>
        </p:txBody>
      </p:sp>
      <p:sp>
        <p:nvSpPr>
          <p:cNvPr id="21" name="Text 19"/>
          <p:cNvSpPr/>
          <p:nvPr/>
        </p:nvSpPr>
        <p:spPr>
          <a:xfrm>
            <a:off x="3401568" y="41799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Graduate school, university, high school</a:t>
            </a:r>
            <a:endParaRPr lang="en-US" sz="1500" dirty="0"/>
          </a:p>
        </p:txBody>
      </p:sp>
      <p:sp>
        <p:nvSpPr>
          <p:cNvPr id="22" name="Text 20"/>
          <p:cNvSpPr/>
          <p:nvPr/>
        </p:nvSpPr>
        <p:spPr>
          <a:xfrm>
            <a:off x="8156448" y="4179923"/>
            <a:ext cx="3328416" cy="457200"/>
          </a:xfrm>
          <a:prstGeom prst="rect">
            <a:avLst/>
          </a:prstGeom>
          <a:noFill/>
          <a:ln/>
        </p:spPr>
        <p:txBody>
          <a:bodyPr wrap="square" lIns="0" tIns="0" rIns="0" bIns="0" rtlCol="0" anchor="ctr"/>
          <a:lstStyle/>
          <a:p>
            <a:pPr marL="0" indent="0">
              <a:buNone/>
            </a:pPr>
            <a:r>
              <a:rPr lang="en-US" sz="1500" b="1" dirty="0">
                <a:solidFill>
                  <a:srgbClr val="38BDF8"/>
                </a:solidFill>
                <a:latin typeface="Arial" pitchFamily="34" charset="0"/>
                <a:ea typeface="Arial" pitchFamily="34" charset="-122"/>
                <a:cs typeface="Arial" pitchFamily="34" charset="-120"/>
              </a:rPr>
              <a:t>Not named, still risky</a:t>
            </a:r>
            <a:endParaRPr lang="en-US" sz="1500" dirty="0"/>
          </a:p>
        </p:txBody>
      </p:sp>
      <p:sp>
        <p:nvSpPr>
          <p:cNvPr id="23" name="Text 21"/>
          <p:cNvSpPr/>
          <p:nvPr/>
        </p:nvSpPr>
        <p:spPr>
          <a:xfrm>
            <a:off x="566928" y="46371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PAY_0 … PAY_6</a:t>
            </a:r>
            <a:endParaRPr lang="en-US" sz="1500" dirty="0"/>
          </a:p>
        </p:txBody>
      </p:sp>
      <p:sp>
        <p:nvSpPr>
          <p:cNvPr id="24" name="Text 22"/>
          <p:cNvSpPr/>
          <p:nvPr/>
        </p:nvSpPr>
        <p:spPr>
          <a:xfrm>
            <a:off x="3401568" y="46371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How many months behind, month by month</a:t>
            </a:r>
            <a:endParaRPr lang="en-US" sz="1500" dirty="0"/>
          </a:p>
        </p:txBody>
      </p:sp>
      <p:sp>
        <p:nvSpPr>
          <p:cNvPr id="25" name="Text 23"/>
          <p:cNvSpPr/>
          <p:nvPr/>
        </p:nvSpPr>
        <p:spPr>
          <a:xfrm>
            <a:off x="8156448" y="4637123"/>
            <a:ext cx="3328416" cy="457200"/>
          </a:xfrm>
          <a:prstGeom prst="rect">
            <a:avLst/>
          </a:prstGeom>
          <a:noFill/>
          <a:ln/>
        </p:spPr>
        <p:txBody>
          <a:bodyPr wrap="square" lIns="0" tIns="0" rIns="0" bIns="0" rtlCol="0" anchor="ctr"/>
          <a:lstStyle/>
          <a:p>
            <a:pPr marL="0" indent="0">
              <a:buNone/>
            </a:pPr>
            <a:r>
              <a:rPr lang="en-US" sz="1500" b="1" dirty="0">
                <a:solidFill>
                  <a:srgbClr val="4ADE80"/>
                </a:solidFill>
                <a:latin typeface="Arial" pitchFamily="34" charset="0"/>
                <a:ea typeface="Arial" pitchFamily="34" charset="-122"/>
                <a:cs typeface="Arial" pitchFamily="34" charset="-120"/>
              </a:rPr>
              <a:t>Yes — this is behavior</a:t>
            </a:r>
            <a:endParaRPr lang="en-US" sz="1500" dirty="0"/>
          </a:p>
        </p:txBody>
      </p:sp>
      <p:sp>
        <p:nvSpPr>
          <p:cNvPr id="26" name="Shape 24"/>
          <p:cNvSpPr/>
          <p:nvPr/>
        </p:nvSpPr>
        <p:spPr>
          <a:xfrm>
            <a:off x="457200" y="5094323"/>
            <a:ext cx="11283696" cy="457200"/>
          </a:xfrm>
          <a:prstGeom prst="rect">
            <a:avLst/>
          </a:prstGeom>
          <a:solidFill>
            <a:srgbClr val="1C2029"/>
          </a:solidFill>
          <a:ln/>
        </p:spPr>
        <p:txBody>
          <a:bodyPr/>
          <a:lstStyle/>
          <a:p>
            <a:endParaRPr lang="en-US"/>
          </a:p>
        </p:txBody>
      </p:sp>
      <p:sp>
        <p:nvSpPr>
          <p:cNvPr id="27" name="Text 25"/>
          <p:cNvSpPr/>
          <p:nvPr/>
        </p:nvSpPr>
        <p:spPr>
          <a:xfrm>
            <a:off x="566928" y="5094323"/>
            <a:ext cx="2688336" cy="457200"/>
          </a:xfrm>
          <a:prstGeom prst="rect">
            <a:avLst/>
          </a:prstGeom>
          <a:noFill/>
          <a:ln/>
        </p:spPr>
        <p:txBody>
          <a:bodyPr wrap="square" lIns="0" tIns="0" rIns="0" bIns="0" rtlCol="0" anchor="ctr"/>
          <a:lstStyle/>
          <a:p>
            <a:pPr marL="0" indent="0">
              <a:buNone/>
            </a:pPr>
            <a:r>
              <a:rPr lang="en-US" sz="1500" b="1" dirty="0">
                <a:solidFill>
                  <a:srgbClr val="F2F4F8"/>
                </a:solidFill>
                <a:latin typeface="Arial" pitchFamily="34" charset="0"/>
                <a:ea typeface="Arial" pitchFamily="34" charset="-122"/>
                <a:cs typeface="Arial" pitchFamily="34" charset="-120"/>
              </a:rPr>
              <a:t>BILL_AMT, PAY_AMT</a:t>
            </a:r>
            <a:endParaRPr lang="en-US" sz="1500" dirty="0"/>
          </a:p>
        </p:txBody>
      </p:sp>
      <p:sp>
        <p:nvSpPr>
          <p:cNvPr id="28" name="Text 26"/>
          <p:cNvSpPr/>
          <p:nvPr/>
        </p:nvSpPr>
        <p:spPr>
          <a:xfrm>
            <a:off x="3401568" y="5094323"/>
            <a:ext cx="4608576" cy="45720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Billed and paid amounts, month by month</a:t>
            </a:r>
            <a:endParaRPr lang="en-US" sz="1500" dirty="0"/>
          </a:p>
        </p:txBody>
      </p:sp>
      <p:sp>
        <p:nvSpPr>
          <p:cNvPr id="29" name="Text 27"/>
          <p:cNvSpPr/>
          <p:nvPr/>
        </p:nvSpPr>
        <p:spPr>
          <a:xfrm>
            <a:off x="8156448" y="5094323"/>
            <a:ext cx="3328416" cy="457200"/>
          </a:xfrm>
          <a:prstGeom prst="rect">
            <a:avLst/>
          </a:prstGeom>
          <a:noFill/>
          <a:ln/>
        </p:spPr>
        <p:txBody>
          <a:bodyPr wrap="square" lIns="0" tIns="0" rIns="0" bIns="0" rtlCol="0" anchor="ctr"/>
          <a:lstStyle/>
          <a:p>
            <a:pPr marL="0" indent="0">
              <a:buNone/>
            </a:pPr>
            <a:r>
              <a:rPr lang="en-US" sz="1500" b="1" dirty="0">
                <a:solidFill>
                  <a:srgbClr val="4ADE80"/>
                </a:solidFill>
                <a:latin typeface="Arial" pitchFamily="34" charset="0"/>
                <a:ea typeface="Arial" pitchFamily="34" charset="-122"/>
                <a:cs typeface="Arial" pitchFamily="34" charset="-120"/>
              </a:rPr>
              <a:t>Yes — this is behavior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HANDOFF · THE FIVE-STAGE BUILD</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Open the credit notebook</a:t>
            </a:r>
            <a:endParaRPr lang="en-US" sz="2800" dirty="0"/>
          </a:p>
        </p:txBody>
      </p:sp>
      <p:sp>
        <p:nvSpPr>
          <p:cNvPr id="4" name="Shape 2"/>
          <p:cNvSpPr/>
          <p:nvPr/>
        </p:nvSpPr>
        <p:spPr>
          <a:xfrm>
            <a:off x="9473184" y="384048"/>
            <a:ext cx="2148840" cy="347472"/>
          </a:xfrm>
          <a:prstGeom prst="roundRect">
            <a:avLst>
              <a:gd name="adj" fmla="val 21053"/>
            </a:avLst>
          </a:prstGeom>
          <a:solidFill>
            <a:srgbClr val="2A2313"/>
          </a:solidFill>
          <a:ln w="15240">
            <a:solidFill>
              <a:srgbClr val="FBBF24"/>
            </a:solidFill>
            <a:prstDash val="solid"/>
          </a:ln>
        </p:spPr>
        <p:txBody>
          <a:bodyPr/>
          <a:lstStyle/>
          <a:p>
            <a:endParaRPr lang="en-US"/>
          </a:p>
        </p:txBody>
      </p:sp>
      <p:sp>
        <p:nvSpPr>
          <p:cNvPr id="5" name="Text 3"/>
          <p:cNvSpPr/>
          <p:nvPr/>
        </p:nvSpPr>
        <p:spPr>
          <a:xfrm>
            <a:off x="9473184" y="384048"/>
            <a:ext cx="2148840" cy="347472"/>
          </a:xfrm>
          <a:prstGeom prst="rect">
            <a:avLst/>
          </a:prstGeom>
          <a:noFill/>
          <a:ln/>
        </p:spPr>
        <p:txBody>
          <a:bodyPr wrap="square" lIns="0" tIns="0" rIns="0" bIns="0" rtlCol="0" anchor="ctr"/>
          <a:lstStyle/>
          <a:p>
            <a:pPr marL="0" indent="0" algn="ctr">
              <a:buNone/>
            </a:pPr>
            <a:r>
              <a:rPr lang="en-US" sz="1050" b="1" dirty="0">
                <a:solidFill>
                  <a:srgbClr val="FBBF24"/>
                </a:solidFill>
                <a:latin typeface="Arial" pitchFamily="34" charset="0"/>
                <a:ea typeface="Arial" pitchFamily="34" charset="-122"/>
                <a:cs typeface="Arial" pitchFamily="34" charset="-120"/>
              </a:rPr>
              <a:t>LIVE NOTEBOOK</a:t>
            </a:r>
            <a:endParaRPr lang="en-US" sz="1050" dirty="0"/>
          </a:p>
        </p:txBody>
      </p:sp>
      <p:sp>
        <p:nvSpPr>
          <p:cNvPr id="6" name="Text 4"/>
          <p:cNvSpPr/>
          <p:nvPr/>
        </p:nvSpPr>
        <p:spPr>
          <a:xfrm>
            <a:off x="566928" y="1353312"/>
            <a:ext cx="8595360" cy="274320"/>
          </a:xfrm>
          <a:prstGeom prst="rect">
            <a:avLst/>
          </a:prstGeom>
          <a:noFill/>
          <a:ln/>
        </p:spPr>
        <p:txBody>
          <a:bodyPr wrap="square" lIns="0" tIns="0" rIns="0" bIns="0" rtlCol="0" anchor="ctr"/>
          <a:lstStyle/>
          <a:p>
            <a:pPr marL="0" indent="0">
              <a:buNone/>
            </a:pPr>
            <a:r>
              <a:rPr lang="en-US" sz="1400" b="1" dirty="0">
                <a:solidFill>
                  <a:srgbClr val="38BDF8"/>
                </a:solidFill>
                <a:latin typeface="Arial" pitchFamily="34" charset="0"/>
                <a:ea typeface="Arial" pitchFamily="34" charset="-122"/>
                <a:cs typeface="Arial" pitchFamily="34" charset="-120"/>
              </a:rPr>
              <a:t>OUR NOTEBOOK · From six months of card behavior to a review queue</a:t>
            </a:r>
            <a:endParaRPr lang="en-US" sz="1400" dirty="0"/>
          </a:p>
        </p:txBody>
      </p:sp>
      <p:sp>
        <p:nvSpPr>
          <p:cNvPr id="7" name="Text 5"/>
          <p:cNvSpPr/>
          <p:nvPr/>
        </p:nvSpPr>
        <p:spPr>
          <a:xfrm>
            <a:off x="566928" y="1664208"/>
            <a:ext cx="8595360" cy="256032"/>
          </a:xfrm>
          <a:prstGeom prst="rect">
            <a:avLst/>
          </a:prstGeom>
          <a:noFill/>
          <a:ln/>
        </p:spPr>
        <p:txBody>
          <a:bodyPr wrap="square" lIns="0" tIns="0" rIns="0" bIns="0" rtlCol="0" anchor="ctr"/>
          <a:lstStyle/>
          <a:p>
            <a:pPr marL="0" indent="0">
              <a:buNone/>
            </a:pPr>
            <a:r>
              <a:rPr lang="en-US" sz="1050" dirty="0">
                <a:solidFill>
                  <a:srgbClr val="99A5B5"/>
                </a:solidFill>
                <a:latin typeface="Arial" pitchFamily="34" charset="0"/>
                <a:ea typeface="Arial" pitchFamily="34" charset="-122"/>
                <a:cs typeface="Arial" pitchFamily="34" charset="-120"/>
              </a:rPr>
              <a:t>notebooks/credit-risk/01_credit_build.ipynb</a:t>
            </a:r>
            <a:endParaRPr lang="en-US" sz="1050" dirty="0"/>
          </a:p>
        </p:txBody>
      </p:sp>
      <p:sp>
        <p:nvSpPr>
          <p:cNvPr id="8" name="Shape 6"/>
          <p:cNvSpPr/>
          <p:nvPr/>
        </p:nvSpPr>
        <p:spPr>
          <a:xfrm>
            <a:off x="566928" y="2057400"/>
            <a:ext cx="2022653" cy="2011680"/>
          </a:xfrm>
          <a:prstGeom prst="roundRect">
            <a:avLst>
              <a:gd name="adj" fmla="val 3636"/>
            </a:avLst>
          </a:prstGeom>
          <a:solidFill>
            <a:srgbClr val="171A22"/>
          </a:solidFill>
          <a:ln w="12700">
            <a:solidFill>
              <a:srgbClr val="2A2F3A"/>
            </a:solidFill>
            <a:prstDash val="solid"/>
          </a:ln>
        </p:spPr>
        <p:txBody>
          <a:bodyPr/>
          <a:lstStyle/>
          <a:p>
            <a:endParaRPr lang="en-US"/>
          </a:p>
        </p:txBody>
      </p:sp>
      <p:sp>
        <p:nvSpPr>
          <p:cNvPr id="9" name="Shape 7"/>
          <p:cNvSpPr/>
          <p:nvPr/>
        </p:nvSpPr>
        <p:spPr>
          <a:xfrm>
            <a:off x="749808" y="2231136"/>
            <a:ext cx="310896" cy="310896"/>
          </a:xfrm>
          <a:prstGeom prst="ellipse">
            <a:avLst/>
          </a:prstGeom>
          <a:solidFill>
            <a:srgbClr val="22D3EE"/>
          </a:solidFill>
          <a:ln/>
        </p:spPr>
        <p:txBody>
          <a:bodyPr/>
          <a:lstStyle/>
          <a:p>
            <a:endParaRPr lang="en-US"/>
          </a:p>
        </p:txBody>
      </p:sp>
      <p:sp>
        <p:nvSpPr>
          <p:cNvPr id="10" name="Text 8"/>
          <p:cNvSpPr/>
          <p:nvPr/>
        </p:nvSpPr>
        <p:spPr>
          <a:xfrm>
            <a:off x="749808" y="223113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133856" y="2231136"/>
            <a:ext cx="1291133" cy="310896"/>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Data</a:t>
            </a:r>
            <a:endParaRPr lang="en-US" sz="1600" dirty="0"/>
          </a:p>
        </p:txBody>
      </p:sp>
      <p:sp>
        <p:nvSpPr>
          <p:cNvPr id="12" name="Text 10"/>
          <p:cNvSpPr/>
          <p:nvPr/>
        </p:nvSpPr>
        <p:spPr>
          <a:xfrm>
            <a:off x="749808" y="2660904"/>
            <a:ext cx="1656893" cy="1271016"/>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30,000 accounts: source and meaning</a:t>
            </a:r>
            <a:endParaRPr lang="en-US" sz="1600" dirty="0"/>
          </a:p>
        </p:txBody>
      </p:sp>
      <p:sp>
        <p:nvSpPr>
          <p:cNvPr id="13" name="Text 11"/>
          <p:cNvSpPr/>
          <p:nvPr/>
        </p:nvSpPr>
        <p:spPr>
          <a:xfrm>
            <a:off x="2589581" y="2057400"/>
            <a:ext cx="237744" cy="201168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2827325" y="2057400"/>
            <a:ext cx="2022653" cy="2011680"/>
          </a:xfrm>
          <a:prstGeom prst="roundRect">
            <a:avLst>
              <a:gd name="adj" fmla="val 3636"/>
            </a:avLst>
          </a:prstGeom>
          <a:solidFill>
            <a:srgbClr val="171A22"/>
          </a:solidFill>
          <a:ln w="12700">
            <a:solidFill>
              <a:srgbClr val="2A2F3A"/>
            </a:solidFill>
            <a:prstDash val="solid"/>
          </a:ln>
        </p:spPr>
        <p:txBody>
          <a:bodyPr/>
          <a:lstStyle/>
          <a:p>
            <a:endParaRPr lang="en-US"/>
          </a:p>
        </p:txBody>
      </p:sp>
      <p:sp>
        <p:nvSpPr>
          <p:cNvPr id="15" name="Shape 13"/>
          <p:cNvSpPr/>
          <p:nvPr/>
        </p:nvSpPr>
        <p:spPr>
          <a:xfrm>
            <a:off x="3010205" y="2231136"/>
            <a:ext cx="310896" cy="310896"/>
          </a:xfrm>
          <a:prstGeom prst="ellipse">
            <a:avLst/>
          </a:prstGeom>
          <a:solidFill>
            <a:srgbClr val="38BDF8"/>
          </a:solidFill>
          <a:ln/>
        </p:spPr>
        <p:txBody>
          <a:bodyPr/>
          <a:lstStyle/>
          <a:p>
            <a:endParaRPr lang="en-US"/>
          </a:p>
        </p:txBody>
      </p:sp>
      <p:sp>
        <p:nvSpPr>
          <p:cNvPr id="16" name="Text 14"/>
          <p:cNvSpPr/>
          <p:nvPr/>
        </p:nvSpPr>
        <p:spPr>
          <a:xfrm>
            <a:off x="3010205" y="223113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394253" y="2231136"/>
            <a:ext cx="1291133" cy="310896"/>
          </a:xfrm>
          <a:prstGeom prst="rect">
            <a:avLst/>
          </a:prstGeom>
          <a:noFill/>
          <a:ln/>
        </p:spPr>
        <p:txBody>
          <a:bodyPr wrap="square" lIns="0" tIns="0" rIns="0" bIns="0" rtlCol="0" anchor="ctr"/>
          <a:lstStyle/>
          <a:p>
            <a:pPr marL="0" indent="0">
              <a:buNone/>
            </a:pPr>
            <a:r>
              <a:rPr lang="en-US" sz="1600" b="1" dirty="0">
                <a:solidFill>
                  <a:srgbClr val="38BDF8"/>
                </a:solidFill>
                <a:latin typeface="Arial" pitchFamily="34" charset="0"/>
                <a:ea typeface="Arial" pitchFamily="34" charset="-122"/>
                <a:cs typeface="Arial" pitchFamily="34" charset="-120"/>
              </a:rPr>
              <a:t>Prepare</a:t>
            </a:r>
            <a:endParaRPr lang="en-US" sz="1600" dirty="0"/>
          </a:p>
        </p:txBody>
      </p:sp>
      <p:sp>
        <p:nvSpPr>
          <p:cNvPr id="18" name="Text 16"/>
          <p:cNvSpPr/>
          <p:nvPr/>
        </p:nvSpPr>
        <p:spPr>
          <a:xfrm>
            <a:off x="3010205" y="2660904"/>
            <a:ext cx="1656893" cy="1271016"/>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Codes, seven features, demographics set aside</a:t>
            </a:r>
            <a:endParaRPr lang="en-US" sz="1600" dirty="0"/>
          </a:p>
        </p:txBody>
      </p:sp>
      <p:sp>
        <p:nvSpPr>
          <p:cNvPr id="19" name="Text 17"/>
          <p:cNvSpPr/>
          <p:nvPr/>
        </p:nvSpPr>
        <p:spPr>
          <a:xfrm>
            <a:off x="4849978" y="2057400"/>
            <a:ext cx="237744" cy="201168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5087722" y="2057400"/>
            <a:ext cx="2022653" cy="2011680"/>
          </a:xfrm>
          <a:prstGeom prst="roundRect">
            <a:avLst>
              <a:gd name="adj" fmla="val 3636"/>
            </a:avLst>
          </a:prstGeom>
          <a:solidFill>
            <a:srgbClr val="171A22"/>
          </a:solidFill>
          <a:ln w="12700">
            <a:solidFill>
              <a:srgbClr val="2A2F3A"/>
            </a:solidFill>
            <a:prstDash val="solid"/>
          </a:ln>
        </p:spPr>
        <p:txBody>
          <a:bodyPr/>
          <a:lstStyle/>
          <a:p>
            <a:endParaRPr lang="en-US"/>
          </a:p>
        </p:txBody>
      </p:sp>
      <p:sp>
        <p:nvSpPr>
          <p:cNvPr id="21" name="Shape 19"/>
          <p:cNvSpPr/>
          <p:nvPr/>
        </p:nvSpPr>
        <p:spPr>
          <a:xfrm>
            <a:off x="5270602" y="2231136"/>
            <a:ext cx="310896" cy="310896"/>
          </a:xfrm>
          <a:prstGeom prst="ellipse">
            <a:avLst/>
          </a:prstGeom>
          <a:solidFill>
            <a:srgbClr val="FBBF24"/>
          </a:solidFill>
          <a:ln/>
        </p:spPr>
        <p:txBody>
          <a:bodyPr/>
          <a:lstStyle/>
          <a:p>
            <a:endParaRPr lang="en-US"/>
          </a:p>
        </p:txBody>
      </p:sp>
      <p:sp>
        <p:nvSpPr>
          <p:cNvPr id="22" name="Text 20"/>
          <p:cNvSpPr/>
          <p:nvPr/>
        </p:nvSpPr>
        <p:spPr>
          <a:xfrm>
            <a:off x="5270602" y="223113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5654650" y="2231136"/>
            <a:ext cx="1291133" cy="310896"/>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Train</a:t>
            </a:r>
            <a:endParaRPr lang="en-US" sz="1600" dirty="0"/>
          </a:p>
        </p:txBody>
      </p:sp>
      <p:sp>
        <p:nvSpPr>
          <p:cNvPr id="24" name="Text 22"/>
          <p:cNvSpPr/>
          <p:nvPr/>
        </p:nvSpPr>
        <p:spPr>
          <a:xfrm>
            <a:off x="5270602" y="2660904"/>
            <a:ext cx="1656893" cy="1271016"/>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Baseline, logistic regression, boosting</a:t>
            </a:r>
            <a:endParaRPr lang="en-US" sz="1600" dirty="0"/>
          </a:p>
        </p:txBody>
      </p:sp>
      <p:sp>
        <p:nvSpPr>
          <p:cNvPr id="25" name="Text 23"/>
          <p:cNvSpPr/>
          <p:nvPr/>
        </p:nvSpPr>
        <p:spPr>
          <a:xfrm>
            <a:off x="7110374" y="2057400"/>
            <a:ext cx="237744" cy="201168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7348118" y="2057400"/>
            <a:ext cx="2022653" cy="2011680"/>
          </a:xfrm>
          <a:prstGeom prst="roundRect">
            <a:avLst>
              <a:gd name="adj" fmla="val 3636"/>
            </a:avLst>
          </a:prstGeom>
          <a:solidFill>
            <a:srgbClr val="171A22"/>
          </a:solidFill>
          <a:ln w="12700">
            <a:solidFill>
              <a:srgbClr val="2A2F3A"/>
            </a:solidFill>
            <a:prstDash val="solid"/>
          </a:ln>
        </p:spPr>
        <p:txBody>
          <a:bodyPr/>
          <a:lstStyle/>
          <a:p>
            <a:endParaRPr lang="en-US"/>
          </a:p>
        </p:txBody>
      </p:sp>
      <p:sp>
        <p:nvSpPr>
          <p:cNvPr id="27" name="Shape 25"/>
          <p:cNvSpPr/>
          <p:nvPr/>
        </p:nvSpPr>
        <p:spPr>
          <a:xfrm>
            <a:off x="7530998" y="2231136"/>
            <a:ext cx="310896" cy="310896"/>
          </a:xfrm>
          <a:prstGeom prst="ellipse">
            <a:avLst/>
          </a:prstGeom>
          <a:solidFill>
            <a:srgbClr val="818CF8"/>
          </a:solidFill>
          <a:ln/>
        </p:spPr>
        <p:txBody>
          <a:bodyPr/>
          <a:lstStyle/>
          <a:p>
            <a:endParaRPr lang="en-US"/>
          </a:p>
        </p:txBody>
      </p:sp>
      <p:sp>
        <p:nvSpPr>
          <p:cNvPr id="28" name="Text 26"/>
          <p:cNvSpPr/>
          <p:nvPr/>
        </p:nvSpPr>
        <p:spPr>
          <a:xfrm>
            <a:off x="7530998" y="223113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7915046" y="2231136"/>
            <a:ext cx="1291133" cy="310896"/>
          </a:xfrm>
          <a:prstGeom prst="rect">
            <a:avLst/>
          </a:prstGeom>
          <a:noFill/>
          <a:ln/>
        </p:spPr>
        <p:txBody>
          <a:bodyPr wrap="square" lIns="0" tIns="0" rIns="0" bIns="0" rtlCol="0" anchor="ctr"/>
          <a:lstStyle/>
          <a:p>
            <a:pPr marL="0" indent="0">
              <a:buNone/>
            </a:pPr>
            <a:r>
              <a:rPr lang="en-US" sz="1600" b="1" dirty="0">
                <a:solidFill>
                  <a:srgbClr val="818CF8"/>
                </a:solidFill>
                <a:latin typeface="Arial" pitchFamily="34" charset="0"/>
                <a:ea typeface="Arial" pitchFamily="34" charset="-122"/>
                <a:cs typeface="Arial" pitchFamily="34" charset="-120"/>
              </a:rPr>
              <a:t>Validate</a:t>
            </a:r>
            <a:endParaRPr lang="en-US" sz="1600" dirty="0"/>
          </a:p>
        </p:txBody>
      </p:sp>
      <p:sp>
        <p:nvSpPr>
          <p:cNvPr id="30" name="Text 28"/>
          <p:cNvSpPr/>
          <p:nvPr/>
        </p:nvSpPr>
        <p:spPr>
          <a:xfrm>
            <a:off x="7530998" y="2660904"/>
            <a:ext cx="1656893" cy="1271016"/>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Error counts, cost sweep, fairness test</a:t>
            </a:r>
            <a:endParaRPr lang="en-US" sz="1600" dirty="0"/>
          </a:p>
        </p:txBody>
      </p:sp>
      <p:sp>
        <p:nvSpPr>
          <p:cNvPr id="31" name="Text 29"/>
          <p:cNvSpPr/>
          <p:nvPr/>
        </p:nvSpPr>
        <p:spPr>
          <a:xfrm>
            <a:off x="9370771" y="2057400"/>
            <a:ext cx="237744" cy="201168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9608515" y="2057400"/>
            <a:ext cx="2022653" cy="2011680"/>
          </a:xfrm>
          <a:prstGeom prst="roundRect">
            <a:avLst>
              <a:gd name="adj" fmla="val 3636"/>
            </a:avLst>
          </a:prstGeom>
          <a:solidFill>
            <a:srgbClr val="171A22"/>
          </a:solidFill>
          <a:ln w="12700">
            <a:solidFill>
              <a:srgbClr val="2A2F3A"/>
            </a:solidFill>
            <a:prstDash val="solid"/>
          </a:ln>
        </p:spPr>
        <p:txBody>
          <a:bodyPr/>
          <a:lstStyle/>
          <a:p>
            <a:endParaRPr lang="en-US"/>
          </a:p>
        </p:txBody>
      </p:sp>
      <p:sp>
        <p:nvSpPr>
          <p:cNvPr id="33" name="Shape 31"/>
          <p:cNvSpPr/>
          <p:nvPr/>
        </p:nvSpPr>
        <p:spPr>
          <a:xfrm>
            <a:off x="9791395" y="2231136"/>
            <a:ext cx="310896" cy="310896"/>
          </a:xfrm>
          <a:prstGeom prst="ellipse">
            <a:avLst/>
          </a:prstGeom>
          <a:solidFill>
            <a:srgbClr val="4ADE80"/>
          </a:solidFill>
          <a:ln/>
        </p:spPr>
        <p:txBody>
          <a:bodyPr/>
          <a:lstStyle/>
          <a:p>
            <a:endParaRPr lang="en-US"/>
          </a:p>
        </p:txBody>
      </p:sp>
      <p:sp>
        <p:nvSpPr>
          <p:cNvPr id="34" name="Text 32"/>
          <p:cNvSpPr/>
          <p:nvPr/>
        </p:nvSpPr>
        <p:spPr>
          <a:xfrm>
            <a:off x="9791395" y="223113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10175443" y="2231136"/>
            <a:ext cx="1291133" cy="310896"/>
          </a:xfrm>
          <a:prstGeom prst="rect">
            <a:avLst/>
          </a:prstGeom>
          <a:noFill/>
          <a:ln/>
        </p:spPr>
        <p:txBody>
          <a:bodyPr wrap="square" lIns="0" tIns="0" rIns="0" bIns="0" rtlCol="0" anchor="ctr"/>
          <a:lstStyle/>
          <a:p>
            <a:pPr marL="0" indent="0">
              <a:buNone/>
            </a:pPr>
            <a:r>
              <a:rPr lang="en-US" sz="1600" b="1" dirty="0">
                <a:solidFill>
                  <a:srgbClr val="4ADE80"/>
                </a:solidFill>
                <a:latin typeface="Arial" pitchFamily="34" charset="0"/>
                <a:ea typeface="Arial" pitchFamily="34" charset="-122"/>
                <a:cs typeface="Arial" pitchFamily="34" charset="-120"/>
              </a:rPr>
              <a:t>Handoff</a:t>
            </a:r>
            <a:endParaRPr lang="en-US" sz="1600" dirty="0"/>
          </a:p>
        </p:txBody>
      </p:sp>
      <p:sp>
        <p:nvSpPr>
          <p:cNvPr id="36" name="Text 34"/>
          <p:cNvSpPr/>
          <p:nvPr/>
        </p:nvSpPr>
        <p:spPr>
          <a:xfrm>
            <a:off x="9791395" y="2660904"/>
            <a:ext cx="1656893" cy="1271016"/>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Reason codes and exported artifacts</a:t>
            </a:r>
            <a:endParaRPr lang="en-US" sz="1600" dirty="0"/>
          </a:p>
        </p:txBody>
      </p:sp>
      <p:sp>
        <p:nvSpPr>
          <p:cNvPr id="37" name="Shape 35"/>
          <p:cNvSpPr/>
          <p:nvPr/>
        </p:nvSpPr>
        <p:spPr>
          <a:xfrm>
            <a:off x="566928" y="4297680"/>
            <a:ext cx="3529584" cy="1691640"/>
          </a:xfrm>
          <a:prstGeom prst="roundRect">
            <a:avLst>
              <a:gd name="adj" fmla="val 4324"/>
            </a:avLst>
          </a:prstGeom>
          <a:solidFill>
            <a:srgbClr val="121C2B"/>
          </a:solidFill>
          <a:ln w="12700">
            <a:solidFill>
              <a:srgbClr val="22D3EE"/>
            </a:solidFill>
            <a:prstDash val="solid"/>
          </a:ln>
        </p:spPr>
        <p:txBody>
          <a:bodyPr/>
          <a:lstStyle/>
          <a:p>
            <a:endParaRPr lang="en-US"/>
          </a:p>
        </p:txBody>
      </p:sp>
      <p:sp>
        <p:nvSpPr>
          <p:cNvPr id="38" name="Text 36"/>
          <p:cNvSpPr/>
          <p:nvPr/>
        </p:nvSpPr>
        <p:spPr>
          <a:xfrm>
            <a:off x="768096" y="4443984"/>
            <a:ext cx="3127248" cy="438912"/>
          </a:xfrm>
          <a:prstGeom prst="rect">
            <a:avLst/>
          </a:prstGeom>
          <a:noFill/>
          <a:ln/>
        </p:spPr>
        <p:txBody>
          <a:bodyPr wrap="square" lIns="0" tIns="0" rIns="0" bIns="0" rtlCol="0" anchor="t"/>
          <a:lstStyle/>
          <a:p>
            <a:pPr marL="0" indent="0">
              <a:buNone/>
            </a:pPr>
            <a:r>
              <a:rPr lang="en-US" sz="1600" b="1" dirty="0">
                <a:solidFill>
                  <a:srgbClr val="22D3EE"/>
                </a:solidFill>
                <a:latin typeface="Arial" pitchFamily="34" charset="0"/>
                <a:ea typeface="Arial" pitchFamily="34" charset="-122"/>
                <a:cs typeface="Arial" pitchFamily="34" charset="-120"/>
              </a:rPr>
              <a:t>Compare the models</a:t>
            </a:r>
            <a:endParaRPr lang="en-US" sz="1600" dirty="0"/>
          </a:p>
        </p:txBody>
      </p:sp>
      <p:sp>
        <p:nvSpPr>
          <p:cNvPr id="39" name="Text 37"/>
          <p:cNvSpPr/>
          <p:nvPr/>
        </p:nvSpPr>
        <p:spPr>
          <a:xfrm>
            <a:off x="768096" y="4965192"/>
            <a:ext cx="3127248" cy="8961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Same data and split. Compare the simpler model with boosting.</a:t>
            </a:r>
            <a:endParaRPr lang="en-US" sz="1600" dirty="0"/>
          </a:p>
        </p:txBody>
      </p:sp>
      <p:sp>
        <p:nvSpPr>
          <p:cNvPr id="40" name="Shape 38"/>
          <p:cNvSpPr/>
          <p:nvPr/>
        </p:nvSpPr>
        <p:spPr>
          <a:xfrm>
            <a:off x="4334256" y="4297680"/>
            <a:ext cx="3529584" cy="1691640"/>
          </a:xfrm>
          <a:prstGeom prst="roundRect">
            <a:avLst>
              <a:gd name="adj" fmla="val 4324"/>
            </a:avLst>
          </a:prstGeom>
          <a:solidFill>
            <a:srgbClr val="2A2313"/>
          </a:solidFill>
          <a:ln w="12700">
            <a:solidFill>
              <a:srgbClr val="FBBF24"/>
            </a:solidFill>
            <a:prstDash val="solid"/>
          </a:ln>
        </p:spPr>
        <p:txBody>
          <a:bodyPr/>
          <a:lstStyle/>
          <a:p>
            <a:endParaRPr lang="en-US"/>
          </a:p>
        </p:txBody>
      </p:sp>
      <p:sp>
        <p:nvSpPr>
          <p:cNvPr id="41" name="Text 39"/>
          <p:cNvSpPr/>
          <p:nvPr/>
        </p:nvSpPr>
        <p:spPr>
          <a:xfrm>
            <a:off x="4535424" y="4443984"/>
            <a:ext cx="3127248"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Change review cost</a:t>
            </a:r>
            <a:endParaRPr lang="en-US" sz="1600" dirty="0"/>
          </a:p>
        </p:txBody>
      </p:sp>
      <p:sp>
        <p:nvSpPr>
          <p:cNvPr id="42" name="Text 40"/>
          <p:cNvSpPr/>
          <p:nvPr/>
        </p:nvSpPr>
        <p:spPr>
          <a:xfrm>
            <a:off x="4535424" y="4965192"/>
            <a:ext cx="3127248" cy="8961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Watch the review queue grow or shrink as the cost assumption changes.</a:t>
            </a:r>
            <a:endParaRPr lang="en-US" sz="1600" dirty="0"/>
          </a:p>
        </p:txBody>
      </p:sp>
      <p:sp>
        <p:nvSpPr>
          <p:cNvPr id="43" name="Shape 41"/>
          <p:cNvSpPr/>
          <p:nvPr/>
        </p:nvSpPr>
        <p:spPr>
          <a:xfrm>
            <a:off x="8101584" y="4297680"/>
            <a:ext cx="3529584" cy="1691640"/>
          </a:xfrm>
          <a:prstGeom prst="roundRect">
            <a:avLst>
              <a:gd name="adj" fmla="val 4324"/>
            </a:avLst>
          </a:prstGeom>
          <a:solidFill>
            <a:srgbClr val="1E1830"/>
          </a:solidFill>
          <a:ln w="12700">
            <a:solidFill>
              <a:srgbClr val="A78BFA"/>
            </a:solidFill>
            <a:prstDash val="solid"/>
          </a:ln>
        </p:spPr>
        <p:txBody>
          <a:bodyPr/>
          <a:lstStyle/>
          <a:p>
            <a:endParaRPr lang="en-US"/>
          </a:p>
        </p:txBody>
      </p:sp>
      <p:sp>
        <p:nvSpPr>
          <p:cNvPr id="44" name="Text 42"/>
          <p:cNvSpPr/>
          <p:nvPr/>
        </p:nvSpPr>
        <p:spPr>
          <a:xfrm>
            <a:off x="8302752" y="4443984"/>
            <a:ext cx="3127248" cy="438912"/>
          </a:xfrm>
          <a:prstGeom prst="rect">
            <a:avLst/>
          </a:prstGeom>
          <a:noFill/>
          <a:ln/>
        </p:spPr>
        <p:txBody>
          <a:bodyPr wrap="square" lIns="0" tIns="0" rIns="0" bIns="0" rtlCol="0" anchor="t"/>
          <a:lstStyle/>
          <a:p>
            <a:pPr marL="0" indent="0">
              <a:buNone/>
            </a:pPr>
            <a:r>
              <a:rPr lang="en-US" sz="1600" b="1" dirty="0">
                <a:solidFill>
                  <a:srgbClr val="A78BFA"/>
                </a:solidFill>
                <a:latin typeface="Arial" pitchFamily="34" charset="0"/>
                <a:ea typeface="Arial" pitchFamily="34" charset="-122"/>
                <a:cs typeface="Arial" pitchFamily="34" charset="-120"/>
              </a:rPr>
              <a:t>Test feature exclusion</a:t>
            </a:r>
            <a:endParaRPr lang="en-US" sz="1600" dirty="0"/>
          </a:p>
        </p:txBody>
      </p:sp>
      <p:sp>
        <p:nvSpPr>
          <p:cNvPr id="45" name="Text 43"/>
          <p:cNvSpPr/>
          <p:nvPr/>
        </p:nvSpPr>
        <p:spPr>
          <a:xfrm>
            <a:off x="8302752" y="4965192"/>
            <a:ext cx="3127248" cy="89611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Train with and without the protected columns. Measure the difference.</a:t>
            </a:r>
            <a:endParaRPr lang="en-US" sz="1600" dirty="0"/>
          </a:p>
        </p:txBody>
      </p:sp>
      <p:sp>
        <p:nvSpPr>
          <p:cNvPr id="46" name="Text 4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Credit notebook</a:t>
            </a:r>
            <a:endParaRPr lang="en-US" sz="1000" dirty="0"/>
          </a:p>
        </p:txBody>
      </p:sp>
      <p:sp>
        <p:nvSpPr>
          <p:cNvPr id="47" name="Text 4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AFTER THE CREDIT NOTEBOOK</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What the review policy buys</a:t>
            </a:r>
            <a:endParaRPr lang="en-US" sz="2800" dirty="0"/>
          </a:p>
        </p:txBody>
      </p:sp>
      <p:sp>
        <p:nvSpPr>
          <p:cNvPr id="4" name="Shape 2"/>
          <p:cNvSpPr/>
          <p:nvPr/>
        </p:nvSpPr>
        <p:spPr>
          <a:xfrm>
            <a:off x="566928" y="1463040"/>
            <a:ext cx="11064240" cy="960120"/>
          </a:xfrm>
          <a:prstGeom prst="roundRect">
            <a:avLst>
              <a:gd name="adj" fmla="val 7619"/>
            </a:avLst>
          </a:prstGeom>
          <a:solidFill>
            <a:srgbClr val="171A22"/>
          </a:solidFill>
          <a:ln w="12700">
            <a:solidFill>
              <a:srgbClr val="22D3EE"/>
            </a:solidFill>
            <a:prstDash val="solid"/>
          </a:ln>
        </p:spPr>
        <p:txBody>
          <a:bodyPr/>
          <a:lstStyle/>
          <a:p>
            <a:endParaRPr lang="en-US"/>
          </a:p>
        </p:txBody>
      </p:sp>
      <p:sp>
        <p:nvSpPr>
          <p:cNvPr id="5" name="Text 3"/>
          <p:cNvSpPr/>
          <p:nvPr/>
        </p:nvSpPr>
        <p:spPr>
          <a:xfrm>
            <a:off x="786384" y="157276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The rule the notebook implements</a:t>
            </a:r>
            <a:endParaRPr lang="en-US" sz="1600" dirty="0"/>
          </a:p>
        </p:txBody>
      </p:sp>
      <p:sp>
        <p:nvSpPr>
          <p:cNvPr id="6" name="Text 4"/>
          <p:cNvSpPr/>
          <p:nvPr/>
        </p:nvSpPr>
        <p:spPr>
          <a:xfrm>
            <a:off x="786384" y="1911096"/>
            <a:ext cx="10625328" cy="43891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Review when probability × money at risk × loss fraction exceeds review cost. Cost and loss fraction are classroom assumptions, in New Taiwan dollars.</a:t>
            </a:r>
            <a:endParaRPr lang="en-US" sz="1500" dirty="0"/>
          </a:p>
        </p:txBody>
      </p:sp>
      <p:sp>
        <p:nvSpPr>
          <p:cNvPr id="7" name="Shape 5"/>
          <p:cNvSpPr/>
          <p:nvPr/>
        </p:nvSpPr>
        <p:spPr>
          <a:xfrm>
            <a:off x="566928" y="2606040"/>
            <a:ext cx="2587752" cy="1783080"/>
          </a:xfrm>
          <a:prstGeom prst="roundRect">
            <a:avLst>
              <a:gd name="adj" fmla="val 4103"/>
            </a:avLst>
          </a:prstGeom>
          <a:solidFill>
            <a:srgbClr val="171A22"/>
          </a:solidFill>
          <a:ln w="17780">
            <a:solidFill>
              <a:srgbClr val="22D3EE"/>
            </a:solidFill>
            <a:prstDash val="solid"/>
          </a:ln>
        </p:spPr>
        <p:txBody>
          <a:bodyPr/>
          <a:lstStyle/>
          <a:p>
            <a:endParaRPr lang="en-US"/>
          </a:p>
        </p:txBody>
      </p:sp>
      <p:sp>
        <p:nvSpPr>
          <p:cNvPr id="8" name="Text 6"/>
          <p:cNvSpPr/>
          <p:nvPr/>
        </p:nvSpPr>
        <p:spPr>
          <a:xfrm>
            <a:off x="731520" y="2734056"/>
            <a:ext cx="2258568"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Accounts flagged</a:t>
            </a:r>
            <a:endParaRPr lang="en-US" sz="1500" dirty="0"/>
          </a:p>
        </p:txBody>
      </p:sp>
      <p:sp>
        <p:nvSpPr>
          <p:cNvPr id="9" name="Text 7"/>
          <p:cNvSpPr/>
          <p:nvPr/>
        </p:nvSpPr>
        <p:spPr>
          <a:xfrm>
            <a:off x="731520" y="3209544"/>
            <a:ext cx="2258568" cy="457200"/>
          </a:xfrm>
          <a:prstGeom prst="rect">
            <a:avLst/>
          </a:prstGeom>
          <a:noFill/>
          <a:ln/>
        </p:spPr>
        <p:txBody>
          <a:bodyPr wrap="square" lIns="0" tIns="0" rIns="0" bIns="0" rtlCol="0" anchor="ctr"/>
          <a:lstStyle/>
          <a:p>
            <a:pPr marL="0" indent="0">
              <a:buNone/>
            </a:pPr>
            <a:r>
              <a:rPr lang="en-US" sz="3000" b="1" dirty="0">
                <a:solidFill>
                  <a:srgbClr val="22D3EE"/>
                </a:solidFill>
                <a:latin typeface="Arial" pitchFamily="34" charset="0"/>
                <a:ea typeface="Arial" pitchFamily="34" charset="-122"/>
                <a:cs typeface="Arial" pitchFamily="34" charset="-120"/>
              </a:rPr>
              <a:t>761</a:t>
            </a:r>
            <a:endParaRPr lang="en-US" sz="3000" dirty="0"/>
          </a:p>
        </p:txBody>
      </p:sp>
      <p:sp>
        <p:nvSpPr>
          <p:cNvPr id="10" name="Text 8"/>
          <p:cNvSpPr/>
          <p:nvPr/>
        </p:nvSpPr>
        <p:spPr>
          <a:xfrm>
            <a:off x="731520" y="3767328"/>
            <a:ext cx="2258568" cy="51206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of 6,000 test accounts</a:t>
            </a:r>
            <a:endParaRPr lang="en-US" sz="1400" dirty="0"/>
          </a:p>
          <a:p>
            <a:pPr marL="0" indent="0">
              <a:buNone/>
            </a:pPr>
            <a:r>
              <a:rPr lang="en-US" sz="1400" dirty="0">
                <a:solidFill>
                  <a:srgbClr val="AAB2C0"/>
                </a:solidFill>
                <a:latin typeface="Arial" pitchFamily="34" charset="0"/>
                <a:ea typeface="Arial" pitchFamily="34" charset="-122"/>
                <a:cs typeface="Arial" pitchFamily="34" charset="-120"/>
              </a:rPr>
              <a:t>12.68% reviewed</a:t>
            </a:r>
            <a:endParaRPr lang="en-US" sz="1400" dirty="0"/>
          </a:p>
        </p:txBody>
      </p:sp>
      <p:sp>
        <p:nvSpPr>
          <p:cNvPr id="11" name="Shape 9"/>
          <p:cNvSpPr/>
          <p:nvPr/>
        </p:nvSpPr>
        <p:spPr>
          <a:xfrm>
            <a:off x="3392424" y="2606040"/>
            <a:ext cx="2587752" cy="1783080"/>
          </a:xfrm>
          <a:prstGeom prst="roundRect">
            <a:avLst>
              <a:gd name="adj" fmla="val 4103"/>
            </a:avLst>
          </a:prstGeom>
          <a:solidFill>
            <a:srgbClr val="171A22"/>
          </a:solidFill>
          <a:ln w="17780">
            <a:solidFill>
              <a:srgbClr val="4ADE80"/>
            </a:solidFill>
            <a:prstDash val="solid"/>
          </a:ln>
        </p:spPr>
        <p:txBody>
          <a:bodyPr/>
          <a:lstStyle/>
          <a:p>
            <a:endParaRPr lang="en-US"/>
          </a:p>
        </p:txBody>
      </p:sp>
      <p:sp>
        <p:nvSpPr>
          <p:cNvPr id="12" name="Text 10"/>
          <p:cNvSpPr/>
          <p:nvPr/>
        </p:nvSpPr>
        <p:spPr>
          <a:xfrm>
            <a:off x="3557016" y="2734056"/>
            <a:ext cx="2258568"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Precision</a:t>
            </a:r>
            <a:endParaRPr lang="en-US" sz="1500" dirty="0"/>
          </a:p>
        </p:txBody>
      </p:sp>
      <p:sp>
        <p:nvSpPr>
          <p:cNvPr id="13" name="Text 11"/>
          <p:cNvSpPr/>
          <p:nvPr/>
        </p:nvSpPr>
        <p:spPr>
          <a:xfrm>
            <a:off x="3557016" y="3209544"/>
            <a:ext cx="2258568" cy="457200"/>
          </a:xfrm>
          <a:prstGeom prst="rect">
            <a:avLst/>
          </a:prstGeom>
          <a:noFill/>
          <a:ln/>
        </p:spPr>
        <p:txBody>
          <a:bodyPr wrap="square" lIns="0" tIns="0" rIns="0" bIns="0" rtlCol="0" anchor="ctr"/>
          <a:lstStyle/>
          <a:p>
            <a:pPr marL="0" indent="0">
              <a:buNone/>
            </a:pPr>
            <a:r>
              <a:rPr lang="en-US" sz="3000" b="1" dirty="0">
                <a:solidFill>
                  <a:srgbClr val="4ADE80"/>
                </a:solidFill>
                <a:latin typeface="Arial" pitchFamily="34" charset="0"/>
                <a:ea typeface="Arial" pitchFamily="34" charset="-122"/>
                <a:cs typeface="Arial" pitchFamily="34" charset="-120"/>
              </a:rPr>
              <a:t>48.2%</a:t>
            </a:r>
            <a:endParaRPr lang="en-US" sz="3000" dirty="0"/>
          </a:p>
        </p:txBody>
      </p:sp>
      <p:sp>
        <p:nvSpPr>
          <p:cNvPr id="14" name="Text 12"/>
          <p:cNvSpPr/>
          <p:nvPr/>
        </p:nvSpPr>
        <p:spPr>
          <a:xfrm>
            <a:off x="3557016" y="3767328"/>
            <a:ext cx="2258568" cy="51206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367 defaults among</a:t>
            </a:r>
            <a:endParaRPr lang="en-US" sz="1400" dirty="0"/>
          </a:p>
          <a:p>
            <a:pPr marL="0" indent="0">
              <a:buNone/>
            </a:pPr>
            <a:r>
              <a:rPr lang="en-US" sz="1400" dirty="0">
                <a:solidFill>
                  <a:srgbClr val="AAB2C0"/>
                </a:solidFill>
                <a:latin typeface="Arial" pitchFamily="34" charset="0"/>
                <a:ea typeface="Arial" pitchFamily="34" charset="-122"/>
                <a:cs typeface="Arial" pitchFamily="34" charset="-120"/>
              </a:rPr>
              <a:t>761 flagged accounts</a:t>
            </a:r>
            <a:endParaRPr lang="en-US" sz="1400" dirty="0"/>
          </a:p>
        </p:txBody>
      </p:sp>
      <p:sp>
        <p:nvSpPr>
          <p:cNvPr id="15" name="Shape 13"/>
          <p:cNvSpPr/>
          <p:nvPr/>
        </p:nvSpPr>
        <p:spPr>
          <a:xfrm>
            <a:off x="6217920" y="2606040"/>
            <a:ext cx="2587752" cy="1783080"/>
          </a:xfrm>
          <a:prstGeom prst="roundRect">
            <a:avLst>
              <a:gd name="adj" fmla="val 4103"/>
            </a:avLst>
          </a:prstGeom>
          <a:solidFill>
            <a:srgbClr val="171A22"/>
          </a:solidFill>
          <a:ln w="17780">
            <a:solidFill>
              <a:srgbClr val="FBBF24"/>
            </a:solidFill>
            <a:prstDash val="solid"/>
          </a:ln>
        </p:spPr>
        <p:txBody>
          <a:bodyPr/>
          <a:lstStyle/>
          <a:p>
            <a:endParaRPr lang="en-US"/>
          </a:p>
        </p:txBody>
      </p:sp>
      <p:sp>
        <p:nvSpPr>
          <p:cNvPr id="16" name="Text 14"/>
          <p:cNvSpPr/>
          <p:nvPr/>
        </p:nvSpPr>
        <p:spPr>
          <a:xfrm>
            <a:off x="6382512" y="2734056"/>
            <a:ext cx="2258568"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Missed defaults</a:t>
            </a:r>
            <a:endParaRPr lang="en-US" sz="1500" dirty="0"/>
          </a:p>
        </p:txBody>
      </p:sp>
      <p:sp>
        <p:nvSpPr>
          <p:cNvPr id="17" name="Text 15"/>
          <p:cNvSpPr/>
          <p:nvPr/>
        </p:nvSpPr>
        <p:spPr>
          <a:xfrm>
            <a:off x="6382512" y="3209544"/>
            <a:ext cx="2258568" cy="457200"/>
          </a:xfrm>
          <a:prstGeom prst="rect">
            <a:avLst/>
          </a:prstGeom>
          <a:noFill/>
          <a:ln/>
        </p:spPr>
        <p:txBody>
          <a:bodyPr wrap="square" lIns="0" tIns="0" rIns="0" bIns="0" rtlCol="0" anchor="ctr"/>
          <a:lstStyle/>
          <a:p>
            <a:pPr marL="0" indent="0">
              <a:buNone/>
            </a:pPr>
            <a:r>
              <a:rPr lang="en-US" sz="3000" b="1" dirty="0">
                <a:solidFill>
                  <a:srgbClr val="FBBF24"/>
                </a:solidFill>
                <a:latin typeface="Arial" pitchFamily="34" charset="0"/>
                <a:ea typeface="Arial" pitchFamily="34" charset="-122"/>
                <a:cs typeface="Arial" pitchFamily="34" charset="-120"/>
              </a:rPr>
              <a:t>960</a:t>
            </a:r>
            <a:endParaRPr lang="en-US" sz="3000" dirty="0"/>
          </a:p>
        </p:txBody>
      </p:sp>
      <p:sp>
        <p:nvSpPr>
          <p:cNvPr id="18" name="Text 16"/>
          <p:cNvSpPr/>
          <p:nvPr/>
        </p:nvSpPr>
        <p:spPr>
          <a:xfrm>
            <a:off x="6382512" y="3767328"/>
            <a:ext cx="2258568" cy="51206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of 1,327 defaults</a:t>
            </a:r>
            <a:endParaRPr lang="en-US" sz="1400" dirty="0"/>
          </a:p>
          <a:p>
            <a:pPr marL="0" indent="0">
              <a:buNone/>
            </a:pPr>
            <a:r>
              <a:rPr lang="en-US" sz="1400" dirty="0">
                <a:solidFill>
                  <a:srgbClr val="AAB2C0"/>
                </a:solidFill>
                <a:latin typeface="Arial" pitchFamily="34" charset="0"/>
                <a:ea typeface="Arial" pitchFamily="34" charset="-122"/>
                <a:cs typeface="Arial" pitchFamily="34" charset="-120"/>
              </a:rPr>
              <a:t>27.7% caught</a:t>
            </a:r>
            <a:endParaRPr lang="en-US" sz="1400" dirty="0"/>
          </a:p>
        </p:txBody>
      </p:sp>
      <p:sp>
        <p:nvSpPr>
          <p:cNvPr id="19" name="Shape 17"/>
          <p:cNvSpPr/>
          <p:nvPr/>
        </p:nvSpPr>
        <p:spPr>
          <a:xfrm>
            <a:off x="9043416" y="2606040"/>
            <a:ext cx="2587752" cy="1783080"/>
          </a:xfrm>
          <a:prstGeom prst="roundRect">
            <a:avLst>
              <a:gd name="adj" fmla="val 4103"/>
            </a:avLst>
          </a:prstGeom>
          <a:solidFill>
            <a:srgbClr val="171A22"/>
          </a:solidFill>
          <a:ln w="17780">
            <a:solidFill>
              <a:srgbClr val="A78BFA"/>
            </a:solidFill>
            <a:prstDash val="solid"/>
          </a:ln>
        </p:spPr>
        <p:txBody>
          <a:bodyPr/>
          <a:lstStyle/>
          <a:p>
            <a:endParaRPr lang="en-US"/>
          </a:p>
        </p:txBody>
      </p:sp>
      <p:sp>
        <p:nvSpPr>
          <p:cNvPr id="20" name="Text 18"/>
          <p:cNvSpPr/>
          <p:nvPr/>
        </p:nvSpPr>
        <p:spPr>
          <a:xfrm>
            <a:off x="9208008" y="2734056"/>
            <a:ext cx="2258568"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Net savings vs none</a:t>
            </a:r>
            <a:endParaRPr lang="en-US" sz="1500" dirty="0"/>
          </a:p>
        </p:txBody>
      </p:sp>
      <p:sp>
        <p:nvSpPr>
          <p:cNvPr id="21" name="Text 19"/>
          <p:cNvSpPr/>
          <p:nvPr/>
        </p:nvSpPr>
        <p:spPr>
          <a:xfrm>
            <a:off x="9208008" y="3209544"/>
            <a:ext cx="2258568" cy="457200"/>
          </a:xfrm>
          <a:prstGeom prst="rect">
            <a:avLst/>
          </a:prstGeom>
          <a:noFill/>
          <a:ln/>
        </p:spPr>
        <p:txBody>
          <a:bodyPr wrap="square" lIns="0" tIns="0" rIns="0" bIns="0" rtlCol="0" anchor="ctr"/>
          <a:lstStyle/>
          <a:p>
            <a:pPr marL="0" indent="0">
              <a:buNone/>
            </a:pPr>
            <a:r>
              <a:rPr lang="en-US" sz="2700" b="1" dirty="0">
                <a:solidFill>
                  <a:srgbClr val="A78BFA"/>
                </a:solidFill>
                <a:latin typeface="Arial" pitchFamily="34" charset="0"/>
                <a:ea typeface="Arial" pitchFamily="34" charset="-122"/>
                <a:cs typeface="Arial" pitchFamily="34" charset="-120"/>
              </a:rPr>
              <a:t>NT$14.6M</a:t>
            </a:r>
            <a:endParaRPr lang="en-US" sz="2700" dirty="0"/>
          </a:p>
        </p:txBody>
      </p:sp>
      <p:sp>
        <p:nvSpPr>
          <p:cNvPr id="22" name="Text 20"/>
          <p:cNvSpPr/>
          <p:nvPr/>
        </p:nvSpPr>
        <p:spPr>
          <a:xfrm>
            <a:off x="9208008" y="3767328"/>
            <a:ext cx="2258568" cy="51206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NT$14,623,904</a:t>
            </a:r>
            <a:endParaRPr lang="en-US" sz="1400" dirty="0"/>
          </a:p>
          <a:p>
            <a:pPr marL="0" indent="0">
              <a:buNone/>
            </a:pPr>
            <a:r>
              <a:rPr lang="en-US" sz="1400" dirty="0">
                <a:solidFill>
                  <a:srgbClr val="AAB2C0"/>
                </a:solidFill>
                <a:latin typeface="Arial" pitchFamily="34" charset="0"/>
                <a:ea typeface="Arial" pitchFamily="34" charset="-122"/>
                <a:cs typeface="Arial" pitchFamily="34" charset="-120"/>
              </a:rPr>
              <a:t>NT$10,000 per review</a:t>
            </a:r>
            <a:endParaRPr lang="en-US" sz="1400" dirty="0"/>
          </a:p>
        </p:txBody>
      </p:sp>
      <p:sp>
        <p:nvSpPr>
          <p:cNvPr id="23" name="Shape 21"/>
          <p:cNvSpPr/>
          <p:nvPr/>
        </p:nvSpPr>
        <p:spPr>
          <a:xfrm>
            <a:off x="566928" y="4553712"/>
            <a:ext cx="5413248" cy="1152144"/>
          </a:xfrm>
          <a:prstGeom prst="roundRect">
            <a:avLst>
              <a:gd name="adj" fmla="val 6349"/>
            </a:avLst>
          </a:prstGeom>
          <a:solidFill>
            <a:srgbClr val="171A22"/>
          </a:solidFill>
          <a:ln w="12700">
            <a:solidFill>
              <a:srgbClr val="94A3B8"/>
            </a:solidFill>
            <a:prstDash val="solid"/>
          </a:ln>
        </p:spPr>
        <p:txBody>
          <a:bodyPr/>
          <a:lstStyle/>
          <a:p>
            <a:endParaRPr lang="en-US"/>
          </a:p>
        </p:txBody>
      </p:sp>
      <p:sp>
        <p:nvSpPr>
          <p:cNvPr id="24" name="Text 22"/>
          <p:cNvSpPr/>
          <p:nvPr/>
        </p:nvSpPr>
        <p:spPr>
          <a:xfrm>
            <a:off x="768096" y="4700016"/>
            <a:ext cx="5010912" cy="292608"/>
          </a:xfrm>
          <a:prstGeom prst="rect">
            <a:avLst/>
          </a:prstGeom>
          <a:noFill/>
          <a:ln/>
        </p:spPr>
        <p:txBody>
          <a:bodyPr wrap="square" lIns="0" tIns="0" rIns="0" bIns="0" rtlCol="0" anchor="t"/>
          <a:lstStyle/>
          <a:p>
            <a:pPr marL="0" indent="0">
              <a:buNone/>
            </a:pPr>
            <a:r>
              <a:rPr lang="en-US" sz="1600" b="1" dirty="0">
                <a:solidFill>
                  <a:srgbClr val="94A3B8"/>
                </a:solidFill>
                <a:latin typeface="Arial" pitchFamily="34" charset="0"/>
                <a:ea typeface="Arial" pitchFamily="34" charset="-122"/>
                <a:cs typeface="Arial" pitchFamily="34" charset="-120"/>
              </a:rPr>
              <a:t>Review nobody: NT$0</a:t>
            </a:r>
            <a:endParaRPr lang="en-US" sz="1600" dirty="0"/>
          </a:p>
        </p:txBody>
      </p:sp>
      <p:sp>
        <p:nvSpPr>
          <p:cNvPr id="25" name="Text 23"/>
          <p:cNvSpPr/>
          <p:nvPr/>
        </p:nvSpPr>
        <p:spPr>
          <a:xfrm>
            <a:off x="768096" y="5074920"/>
            <a:ext cx="5010912" cy="502920"/>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No review cost and no avoided loss. This is the comparison baseline.</a:t>
            </a:r>
            <a:endParaRPr lang="en-US" sz="1500" dirty="0"/>
          </a:p>
        </p:txBody>
      </p:sp>
      <p:sp>
        <p:nvSpPr>
          <p:cNvPr id="26" name="Shape 24"/>
          <p:cNvSpPr/>
          <p:nvPr/>
        </p:nvSpPr>
        <p:spPr>
          <a:xfrm>
            <a:off x="6217920" y="4553712"/>
            <a:ext cx="5413248" cy="1152144"/>
          </a:xfrm>
          <a:prstGeom prst="roundRect">
            <a:avLst>
              <a:gd name="adj" fmla="val 6349"/>
            </a:avLst>
          </a:prstGeom>
          <a:solidFill>
            <a:srgbClr val="171A22"/>
          </a:solidFill>
          <a:ln w="12700">
            <a:solidFill>
              <a:srgbClr val="94A3B8"/>
            </a:solidFill>
            <a:prstDash val="solid"/>
          </a:ln>
        </p:spPr>
        <p:txBody>
          <a:bodyPr/>
          <a:lstStyle/>
          <a:p>
            <a:endParaRPr lang="en-US"/>
          </a:p>
        </p:txBody>
      </p:sp>
      <p:sp>
        <p:nvSpPr>
          <p:cNvPr id="27" name="Text 25"/>
          <p:cNvSpPr/>
          <p:nvPr/>
        </p:nvSpPr>
        <p:spPr>
          <a:xfrm>
            <a:off x="6419088" y="4700016"/>
            <a:ext cx="5010912" cy="292608"/>
          </a:xfrm>
          <a:prstGeom prst="rect">
            <a:avLst/>
          </a:prstGeom>
          <a:noFill/>
          <a:ln/>
        </p:spPr>
        <p:txBody>
          <a:bodyPr wrap="square" lIns="0" tIns="0" rIns="0" bIns="0" rtlCol="0" anchor="t"/>
          <a:lstStyle/>
          <a:p>
            <a:pPr marL="0" indent="0">
              <a:buNone/>
            </a:pPr>
            <a:r>
              <a:rPr lang="en-US" sz="1600" b="1" dirty="0">
                <a:solidFill>
                  <a:srgbClr val="94A3B8"/>
                </a:solidFill>
                <a:latin typeface="Arial" pitchFamily="34" charset="0"/>
                <a:ea typeface="Arial" pitchFamily="34" charset="-122"/>
                <a:cs typeface="Arial" pitchFamily="34" charset="-120"/>
              </a:rPr>
              <a:t>Review everybody: −NT$27.9M</a:t>
            </a:r>
            <a:endParaRPr lang="en-US" sz="1600" dirty="0"/>
          </a:p>
        </p:txBody>
      </p:sp>
      <p:sp>
        <p:nvSpPr>
          <p:cNvPr id="28" name="Text 26"/>
          <p:cNvSpPr/>
          <p:nvPr/>
        </p:nvSpPr>
        <p:spPr>
          <a:xfrm>
            <a:off x="6419088" y="5074920"/>
            <a:ext cx="5010912" cy="502920"/>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All defaults caught, but wasted reviews produce a net loss of NT$27,908,148.</a:t>
            </a:r>
            <a:endParaRPr lang="en-US" sz="1500" dirty="0"/>
          </a:p>
        </p:txBody>
      </p:sp>
      <p:sp>
        <p:nvSpPr>
          <p:cNvPr id="29" name="Text 27"/>
          <p:cNvSpPr/>
          <p:nvPr/>
        </p:nvSpPr>
        <p:spPr>
          <a:xfrm>
            <a:off x="566928" y="585216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Frozen test split: 6,000 accounts. Review cost and loss-given-default are synthetic classroom assumptions, not measured financial outcomes.</a:t>
            </a:r>
            <a:endParaRPr lang="en-US" sz="1100" dirty="0"/>
          </a:p>
        </p:txBody>
      </p:sp>
      <p:sp>
        <p:nvSpPr>
          <p:cNvPr id="30" name="Text 28"/>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Credit notebook</a:t>
            </a:r>
            <a:endParaRPr lang="en-US" sz="1000" dirty="0"/>
          </a:p>
        </p:txBody>
      </p:sp>
      <p:sp>
        <p:nvSpPr>
          <p:cNvPr id="31" name="Text 29"/>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22D3EE"/>
          </a:solidFill>
          <a:ln/>
        </p:spPr>
        <p:txBody>
          <a:bodyPr/>
          <a:lstStyle/>
          <a:p>
            <a:endParaRPr lang="en-US"/>
          </a:p>
        </p:txBody>
      </p:sp>
      <p:sp>
        <p:nvSpPr>
          <p:cNvPr id="3" name="Text 1"/>
          <p:cNvSpPr/>
          <p:nvPr/>
        </p:nvSpPr>
        <p:spPr>
          <a:xfrm>
            <a:off x="1097280" y="1993392"/>
            <a:ext cx="9601200" cy="292608"/>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SECTION IV  |  14 min</a:t>
            </a:r>
            <a:endParaRPr lang="en-US" sz="1400" dirty="0"/>
          </a:p>
        </p:txBody>
      </p:sp>
      <p:sp>
        <p:nvSpPr>
          <p:cNvPr id="4" name="Text 2"/>
          <p:cNvSpPr/>
          <p:nvPr/>
        </p:nvSpPr>
        <p:spPr>
          <a:xfrm>
            <a:off x="1097280" y="2514600"/>
            <a:ext cx="9966960" cy="1234440"/>
          </a:xfrm>
          <a:prstGeom prst="rect">
            <a:avLst/>
          </a:prstGeom>
          <a:noFill/>
          <a:ln/>
        </p:spPr>
        <p:txBody>
          <a:bodyPr wrap="square" lIns="0" tIns="0" rIns="0" bIns="0" rtlCol="0" anchor="t"/>
          <a:lstStyle/>
          <a:p>
            <a:pPr marL="0" indent="0">
              <a:buNone/>
            </a:pPr>
            <a:r>
              <a:rPr lang="en-US" sz="3400" b="1" dirty="0">
                <a:solidFill>
                  <a:srgbClr val="F2F4F8"/>
                </a:solidFill>
                <a:latin typeface="Arial" pitchFamily="34" charset="0"/>
                <a:ea typeface="Arial" pitchFamily="34" charset="-122"/>
                <a:cs typeface="Arial" pitchFamily="34" charset="-120"/>
              </a:rPr>
              <a:t>The model must explain itself. That's the law.</a:t>
            </a:r>
            <a:endParaRPr lang="en-US" sz="3400" dirty="0"/>
          </a:p>
        </p:txBody>
      </p:sp>
      <p:sp>
        <p:nvSpPr>
          <p:cNvPr id="5" name="Text 3"/>
          <p:cNvSpPr/>
          <p:nvPr/>
        </p:nvSpPr>
        <p:spPr>
          <a:xfrm>
            <a:off x="1097280" y="4069080"/>
            <a:ext cx="9601200" cy="1188720"/>
          </a:xfrm>
          <a:prstGeom prst="rect">
            <a:avLst/>
          </a:prstGeom>
          <a:noFill/>
          <a:ln/>
        </p:spPr>
        <p:txBody>
          <a:bodyPr wrap="square" lIns="0" tIns="0" rIns="0" bIns="0" rtlCol="0" anchor="t"/>
          <a:lstStyle/>
          <a:p>
            <a:pPr marL="0" indent="0">
              <a:buNone/>
            </a:pPr>
            <a:r>
              <a:rPr lang="en-US" sz="2000" dirty="0">
                <a:solidFill>
                  <a:srgbClr val="AAB2C0"/>
                </a:solidFill>
                <a:latin typeface="Arial" pitchFamily="34" charset="0"/>
                <a:ea typeface="Arial" pitchFamily="34" charset="-122"/>
                <a:cs typeface="Arial" pitchFamily="34" charset="-120"/>
              </a:rPr>
              <a:t>US credit law does not only ask whether the model is accurate. It asks whether the bank can tell one customer, in specific words, why the answer went against them.</a:t>
            </a:r>
            <a:endParaRPr lang="en-US" sz="2000" dirty="0"/>
          </a:p>
        </p:txBody>
      </p:sp>
      <p:sp>
        <p:nvSpPr>
          <p:cNvPr id="6" name="Text 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Explainability &amp; fair lending</a:t>
            </a:r>
            <a:endParaRPr lang="en-US" sz="1000" dirty="0"/>
          </a:p>
        </p:txBody>
      </p:sp>
      <p:sp>
        <p:nvSpPr>
          <p:cNvPr id="7" name="Text 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REGULATION B</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Adverse action requires specific reasons</a:t>
            </a:r>
            <a:endParaRPr lang="en-US" sz="2800" dirty="0"/>
          </a:p>
        </p:txBody>
      </p:sp>
      <p:sp>
        <p:nvSpPr>
          <p:cNvPr id="4" name="Text 2"/>
          <p:cNvSpPr/>
          <p:nvPr/>
        </p:nvSpPr>
        <p:spPr>
          <a:xfrm>
            <a:off x="566928" y="141732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Denied credit, a reduced limit, or changed terms: the customer needs an explanation of the adverse decision.</a:t>
            </a:r>
            <a:endParaRPr lang="en-US" sz="1700" dirty="0"/>
          </a:p>
        </p:txBody>
      </p:sp>
      <p:sp>
        <p:nvSpPr>
          <p:cNvPr id="5" name="Shape 3"/>
          <p:cNvSpPr/>
          <p:nvPr/>
        </p:nvSpPr>
        <p:spPr>
          <a:xfrm>
            <a:off x="566928" y="2148840"/>
            <a:ext cx="292608" cy="292608"/>
          </a:xfrm>
          <a:prstGeom prst="ellipse">
            <a:avLst/>
          </a:prstGeom>
          <a:solidFill>
            <a:srgbClr val="22D3EE"/>
          </a:solidFill>
          <a:ln/>
        </p:spPr>
        <p:txBody>
          <a:bodyPr/>
          <a:lstStyle/>
          <a:p>
            <a:endParaRPr lang="en-US"/>
          </a:p>
        </p:txBody>
      </p:sp>
      <p:sp>
        <p:nvSpPr>
          <p:cNvPr id="6" name="Text 4"/>
          <p:cNvSpPr/>
          <p:nvPr/>
        </p:nvSpPr>
        <p:spPr>
          <a:xfrm>
            <a:off x="566928" y="2148840"/>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69848" y="2121408"/>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The notice must give specific principal reasons</a:t>
            </a:r>
            <a:endParaRPr lang="en-US" sz="1800" dirty="0"/>
          </a:p>
        </p:txBody>
      </p:sp>
      <p:sp>
        <p:nvSpPr>
          <p:cNvPr id="8" name="Text 6"/>
          <p:cNvSpPr/>
          <p:nvPr/>
        </p:nvSpPr>
        <p:spPr>
          <a:xfrm>
            <a:off x="1069848" y="2487168"/>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Regulation B, section 1002.9: state the main factors for this person, not a generic policy summary.</a:t>
            </a:r>
            <a:endParaRPr lang="en-US" sz="1600" dirty="0"/>
          </a:p>
        </p:txBody>
      </p:sp>
      <p:sp>
        <p:nvSpPr>
          <p:cNvPr id="9" name="Shape 7"/>
          <p:cNvSpPr/>
          <p:nvPr/>
        </p:nvSpPr>
        <p:spPr>
          <a:xfrm>
            <a:off x="566928" y="3081528"/>
            <a:ext cx="292608" cy="292608"/>
          </a:xfrm>
          <a:prstGeom prst="ellipse">
            <a:avLst/>
          </a:prstGeom>
          <a:solidFill>
            <a:srgbClr val="FBBF24"/>
          </a:solidFill>
          <a:ln/>
        </p:spPr>
        <p:txBody>
          <a:bodyPr/>
          <a:lstStyle/>
          <a:p>
            <a:endParaRPr lang="en-US"/>
          </a:p>
        </p:txBody>
      </p:sp>
      <p:sp>
        <p:nvSpPr>
          <p:cNvPr id="10" name="Text 8"/>
          <p:cNvSpPr/>
          <p:nvPr/>
        </p:nvSpPr>
        <p:spPr>
          <a:xfrm>
            <a:off x="566928" y="3081528"/>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069848" y="3054096"/>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“Failed to achieve a qualifying score” is not enough</a:t>
            </a:r>
            <a:endParaRPr lang="en-US" sz="1800" dirty="0"/>
          </a:p>
        </p:txBody>
      </p:sp>
      <p:sp>
        <p:nvSpPr>
          <p:cNvPr id="12" name="Text 10"/>
          <p:cNvSpPr/>
          <p:nvPr/>
        </p:nvSpPr>
        <p:spPr>
          <a:xfrm>
            <a:off x="1069848" y="3419856"/>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A low score alone is not a specific reason. Explain the factors behind it.</a:t>
            </a:r>
            <a:endParaRPr lang="en-US" sz="1600" dirty="0"/>
          </a:p>
        </p:txBody>
      </p:sp>
      <p:sp>
        <p:nvSpPr>
          <p:cNvPr id="13" name="Shape 11"/>
          <p:cNvSpPr/>
          <p:nvPr/>
        </p:nvSpPr>
        <p:spPr>
          <a:xfrm>
            <a:off x="566928" y="4014216"/>
            <a:ext cx="292608" cy="292608"/>
          </a:xfrm>
          <a:prstGeom prst="ellipse">
            <a:avLst/>
          </a:prstGeom>
          <a:solidFill>
            <a:srgbClr val="A78BFA"/>
          </a:solidFill>
          <a:ln/>
        </p:spPr>
        <p:txBody>
          <a:bodyPr/>
          <a:lstStyle/>
          <a:p>
            <a:endParaRPr lang="en-US"/>
          </a:p>
        </p:txBody>
      </p:sp>
      <p:sp>
        <p:nvSpPr>
          <p:cNvPr id="14" name="Text 12"/>
          <p:cNvSpPr/>
          <p:nvPr/>
        </p:nvSpPr>
        <p:spPr>
          <a:xfrm>
            <a:off x="566928" y="4014216"/>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1069848" y="3986784"/>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A complicated model is not a defense</a:t>
            </a:r>
            <a:endParaRPr lang="en-US" sz="1800" dirty="0"/>
          </a:p>
        </p:txBody>
      </p:sp>
      <p:sp>
        <p:nvSpPr>
          <p:cNvPr id="16" name="Text 14"/>
          <p:cNvSpPr/>
          <p:nvPr/>
        </p:nvSpPr>
        <p:spPr>
          <a:xfrm>
            <a:off x="1069848" y="4352544"/>
            <a:ext cx="10424160" cy="539496"/>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CFPB Circular 2022-03: not understanding the model does not excuse missing reasons. Complexity is not a defense.</a:t>
            </a:r>
            <a:endParaRPr lang="en-US" sz="1600" dirty="0"/>
          </a:p>
        </p:txBody>
      </p:sp>
      <p:sp>
        <p:nvSpPr>
          <p:cNvPr id="17" name="Shape 15"/>
          <p:cNvSpPr/>
          <p:nvPr/>
        </p:nvSpPr>
        <p:spPr>
          <a:xfrm>
            <a:off x="566928" y="5029200"/>
            <a:ext cx="11064240" cy="896112"/>
          </a:xfrm>
          <a:prstGeom prst="roundRect">
            <a:avLst>
              <a:gd name="adj" fmla="val 8163"/>
            </a:avLst>
          </a:prstGeom>
          <a:solidFill>
            <a:srgbClr val="171A22"/>
          </a:solidFill>
          <a:ln w="12700">
            <a:solidFill>
              <a:srgbClr val="FBBF24"/>
            </a:solidFill>
            <a:prstDash val="solid"/>
          </a:ln>
        </p:spPr>
        <p:txBody>
          <a:bodyPr/>
          <a:lstStyle/>
          <a:p>
            <a:endParaRPr lang="en-US"/>
          </a:p>
        </p:txBody>
      </p:sp>
      <p:sp>
        <p:nvSpPr>
          <p:cNvPr id="18" name="Text 16"/>
          <p:cNvSpPr/>
          <p:nvPr/>
        </p:nvSpPr>
        <p:spPr>
          <a:xfrm>
            <a:off x="786384" y="513892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Explainability is an engineering requirement</a:t>
            </a:r>
            <a:endParaRPr lang="en-US" sz="1600" dirty="0"/>
          </a:p>
        </p:txBody>
      </p:sp>
      <p:sp>
        <p:nvSpPr>
          <p:cNvPr id="19" name="Text 17"/>
          <p:cNvSpPr/>
          <p:nvPr/>
        </p:nvSpPr>
        <p:spPr>
          <a:xfrm>
            <a:off x="786384" y="5477256"/>
            <a:ext cx="10625328" cy="374904"/>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The system must answer why this account, not merely explain how the model works in general.</a:t>
            </a:r>
            <a:endParaRPr lang="en-US" sz="1500" dirty="0"/>
          </a:p>
        </p:txBody>
      </p:sp>
      <p:sp>
        <p:nvSpPr>
          <p:cNvPr id="20" name="Text 18"/>
          <p:cNvSpPr/>
          <p:nvPr/>
        </p:nvSpPr>
        <p:spPr>
          <a:xfrm>
            <a:off x="566928" y="6016752"/>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Sources: Regulation B, 12 CFR 1002.9 (adverse-action notifications) · CFPB Circular 2022-03</a:t>
            </a:r>
            <a:endParaRPr lang="en-US" sz="1100" dirty="0"/>
          </a:p>
        </p:txBody>
      </p:sp>
      <p:sp>
        <p:nvSpPr>
          <p:cNvPr id="21" name="Text 19"/>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Explainability &amp; fair lending</a:t>
            </a:r>
            <a:endParaRPr lang="en-US" sz="1000" dirty="0"/>
          </a:p>
        </p:txBody>
      </p:sp>
      <p:sp>
        <p:nvSpPr>
          <p:cNvPr id="22" name="Text 20"/>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REASON CODES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From a score to a sentence a customer can read</a:t>
            </a:r>
            <a:endParaRPr lang="en-US" sz="2800" dirty="0"/>
          </a:p>
        </p:txBody>
      </p:sp>
      <p:sp>
        <p:nvSpPr>
          <p:cNvPr id="4" name="Shape 2"/>
          <p:cNvSpPr/>
          <p:nvPr/>
        </p:nvSpPr>
        <p:spPr>
          <a:xfrm>
            <a:off x="566928" y="1783080"/>
            <a:ext cx="2532888" cy="1234440"/>
          </a:xfrm>
          <a:prstGeom prst="roundRect">
            <a:avLst>
              <a:gd name="adj" fmla="val 5926"/>
            </a:avLst>
          </a:prstGeom>
          <a:solidFill>
            <a:srgbClr val="171A22"/>
          </a:solidFill>
          <a:ln w="12700">
            <a:solidFill>
              <a:srgbClr val="22D3EE"/>
            </a:solidFill>
            <a:prstDash val="solid"/>
          </a:ln>
        </p:spPr>
        <p:txBody>
          <a:bodyPr/>
          <a:lstStyle/>
          <a:p>
            <a:endParaRPr lang="en-US"/>
          </a:p>
        </p:txBody>
      </p:sp>
      <p:sp>
        <p:nvSpPr>
          <p:cNvPr id="5" name="Text 3"/>
          <p:cNvSpPr/>
          <p:nvPr/>
        </p:nvSpPr>
        <p:spPr>
          <a:xfrm>
            <a:off x="676656" y="190195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One flagged account</a:t>
            </a:r>
            <a:endParaRPr lang="en-US" sz="1500" dirty="0"/>
          </a:p>
        </p:txBody>
      </p:sp>
      <p:sp>
        <p:nvSpPr>
          <p:cNvPr id="6" name="Text 4"/>
          <p:cNvSpPr/>
          <p:nvPr/>
        </p:nvSpPr>
        <p:spPr>
          <a:xfrm>
            <a:off x="694944" y="236829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The score, plus the six months of behavior behind it.</a:t>
            </a:r>
            <a:endParaRPr lang="en-US" sz="1400" dirty="0"/>
          </a:p>
        </p:txBody>
      </p:sp>
      <p:sp>
        <p:nvSpPr>
          <p:cNvPr id="7" name="Text 5"/>
          <p:cNvSpPr/>
          <p:nvPr/>
        </p:nvSpPr>
        <p:spPr>
          <a:xfrm>
            <a:off x="3099816" y="178308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3410712" y="1783080"/>
            <a:ext cx="2532888" cy="1234440"/>
          </a:xfrm>
          <a:prstGeom prst="roundRect">
            <a:avLst>
              <a:gd name="adj" fmla="val 5926"/>
            </a:avLst>
          </a:prstGeom>
          <a:solidFill>
            <a:srgbClr val="171A22"/>
          </a:solidFill>
          <a:ln w="12700">
            <a:solidFill>
              <a:srgbClr val="38BDF8"/>
            </a:solidFill>
            <a:prstDash val="solid"/>
          </a:ln>
        </p:spPr>
        <p:txBody>
          <a:bodyPr/>
          <a:lstStyle/>
          <a:p>
            <a:endParaRPr lang="en-US"/>
          </a:p>
        </p:txBody>
      </p:sp>
      <p:sp>
        <p:nvSpPr>
          <p:cNvPr id="9" name="Text 7"/>
          <p:cNvSpPr/>
          <p:nvPr/>
        </p:nvSpPr>
        <p:spPr>
          <a:xfrm>
            <a:off x="3520440" y="190195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Top contributions</a:t>
            </a:r>
            <a:endParaRPr lang="en-US" sz="1500" dirty="0"/>
          </a:p>
        </p:txBody>
      </p:sp>
      <p:sp>
        <p:nvSpPr>
          <p:cNvPr id="10" name="Text 8"/>
          <p:cNvSpPr/>
          <p:nvPr/>
        </p:nvSpPr>
        <p:spPr>
          <a:xfrm>
            <a:off x="3538728" y="236829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Rank the features that raised this account's score.</a:t>
            </a:r>
            <a:endParaRPr lang="en-US" sz="1400" dirty="0"/>
          </a:p>
        </p:txBody>
      </p:sp>
      <p:sp>
        <p:nvSpPr>
          <p:cNvPr id="11" name="Text 9"/>
          <p:cNvSpPr/>
          <p:nvPr/>
        </p:nvSpPr>
        <p:spPr>
          <a:xfrm>
            <a:off x="5943600" y="178308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6254496" y="1783080"/>
            <a:ext cx="2532888" cy="1234440"/>
          </a:xfrm>
          <a:prstGeom prst="roundRect">
            <a:avLst>
              <a:gd name="adj" fmla="val 5926"/>
            </a:avLst>
          </a:prstGeom>
          <a:solidFill>
            <a:srgbClr val="171A22"/>
          </a:solidFill>
          <a:ln w="12700">
            <a:solidFill>
              <a:srgbClr val="FBBF24"/>
            </a:solidFill>
            <a:prstDash val="solid"/>
          </a:ln>
        </p:spPr>
        <p:txBody>
          <a:bodyPr/>
          <a:lstStyle/>
          <a:p>
            <a:endParaRPr lang="en-US"/>
          </a:p>
        </p:txBody>
      </p:sp>
      <p:sp>
        <p:nvSpPr>
          <p:cNvPr id="13" name="Text 11"/>
          <p:cNvSpPr/>
          <p:nvPr/>
        </p:nvSpPr>
        <p:spPr>
          <a:xfrm>
            <a:off x="6364224" y="1901952"/>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Plain language</a:t>
            </a:r>
            <a:endParaRPr lang="en-US" sz="1500" dirty="0"/>
          </a:p>
        </p:txBody>
      </p:sp>
      <p:sp>
        <p:nvSpPr>
          <p:cNvPr id="14" name="Text 12"/>
          <p:cNvSpPr/>
          <p:nvPr/>
        </p:nvSpPr>
        <p:spPr>
          <a:xfrm>
            <a:off x="6382512" y="236829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Translate contributions into customer-readable reasons.</a:t>
            </a:r>
            <a:endParaRPr lang="en-US" sz="1400" dirty="0"/>
          </a:p>
        </p:txBody>
      </p:sp>
      <p:sp>
        <p:nvSpPr>
          <p:cNvPr id="15" name="Text 13"/>
          <p:cNvSpPr/>
          <p:nvPr/>
        </p:nvSpPr>
        <p:spPr>
          <a:xfrm>
            <a:off x="8787384" y="178308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9098280" y="1783080"/>
            <a:ext cx="2532888" cy="1234440"/>
          </a:xfrm>
          <a:prstGeom prst="roundRect">
            <a:avLst>
              <a:gd name="adj" fmla="val 5926"/>
            </a:avLst>
          </a:prstGeom>
          <a:solidFill>
            <a:srgbClr val="171A22"/>
          </a:solidFill>
          <a:ln w="12700">
            <a:solidFill>
              <a:srgbClr val="4ADE80"/>
            </a:solidFill>
            <a:prstDash val="solid"/>
          </a:ln>
        </p:spPr>
        <p:txBody>
          <a:bodyPr/>
          <a:lstStyle/>
          <a:p>
            <a:endParaRPr lang="en-US"/>
          </a:p>
        </p:txBody>
      </p:sp>
      <p:sp>
        <p:nvSpPr>
          <p:cNvPr id="17" name="Text 15"/>
          <p:cNvSpPr/>
          <p:nvPr/>
        </p:nvSpPr>
        <p:spPr>
          <a:xfrm>
            <a:off x="9208008" y="1901952"/>
            <a:ext cx="2313432" cy="393192"/>
          </a:xfrm>
          <a:prstGeom prst="rect">
            <a:avLst/>
          </a:prstGeom>
          <a:noFill/>
          <a:ln/>
        </p:spPr>
        <p:txBody>
          <a:bodyPr wrap="square" lIns="0" tIns="0" rIns="0" bIns="0" rtlCol="0" anchor="ctr"/>
          <a:lstStyle/>
          <a:p>
            <a:pPr marL="0" indent="0" algn="ctr">
              <a:buNone/>
            </a:pPr>
            <a:r>
              <a:rPr lang="en-US" sz="1500" b="1" dirty="0">
                <a:solidFill>
                  <a:srgbClr val="4ADE80"/>
                </a:solidFill>
                <a:latin typeface="Arial" pitchFamily="34" charset="0"/>
                <a:ea typeface="Arial" pitchFamily="34" charset="-122"/>
                <a:cs typeface="Arial" pitchFamily="34" charset="-120"/>
              </a:rPr>
              <a:t>The notice</a:t>
            </a:r>
            <a:endParaRPr lang="en-US" sz="1500" dirty="0"/>
          </a:p>
        </p:txBody>
      </p:sp>
      <p:sp>
        <p:nvSpPr>
          <p:cNvPr id="18" name="Text 16"/>
          <p:cNvSpPr/>
          <p:nvPr/>
        </p:nvSpPr>
        <p:spPr>
          <a:xfrm>
            <a:off x="9226296" y="236829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Compliance sends reasons for the adverse action.</a:t>
            </a:r>
            <a:endParaRPr lang="en-US" sz="1400" dirty="0"/>
          </a:p>
        </p:txBody>
      </p:sp>
      <p:sp>
        <p:nvSpPr>
          <p:cNvPr id="19" name="Shape 17"/>
          <p:cNvSpPr/>
          <p:nvPr/>
        </p:nvSpPr>
        <p:spPr>
          <a:xfrm>
            <a:off x="566928" y="3182112"/>
            <a:ext cx="11064240" cy="1847088"/>
          </a:xfrm>
          <a:prstGeom prst="roundRect">
            <a:avLst>
              <a:gd name="adj" fmla="val 3960"/>
            </a:avLst>
          </a:prstGeom>
          <a:solidFill>
            <a:srgbClr val="171A22"/>
          </a:solidFill>
          <a:ln w="12700">
            <a:solidFill>
              <a:srgbClr val="FBBF24"/>
            </a:solidFill>
            <a:prstDash val="solid"/>
          </a:ln>
        </p:spPr>
        <p:txBody>
          <a:bodyPr/>
          <a:lstStyle/>
          <a:p>
            <a:endParaRPr lang="en-US"/>
          </a:p>
        </p:txBody>
      </p:sp>
      <p:sp>
        <p:nvSpPr>
          <p:cNvPr id="20" name="Text 18"/>
          <p:cNvSpPr/>
          <p:nvPr/>
        </p:nvSpPr>
        <p:spPr>
          <a:xfrm>
            <a:off x="804672" y="3310128"/>
            <a:ext cx="10588752" cy="237744"/>
          </a:xfrm>
          <a:prstGeom prst="rect">
            <a:avLst/>
          </a:prstGeom>
          <a:noFill/>
          <a:ln/>
        </p:spPr>
        <p:txBody>
          <a:bodyPr wrap="square" lIns="0" tIns="0" rIns="0" bIns="0" rtlCol="0" anchor="ctr"/>
          <a:lstStyle/>
          <a:p>
            <a:pPr marL="0" indent="0">
              <a:buNone/>
            </a:pPr>
            <a:r>
              <a:rPr lang="en-US" sz="1000" b="1" kern="0" spc="120" dirty="0">
                <a:solidFill>
                  <a:srgbClr val="FBBF24"/>
                </a:solidFill>
                <a:latin typeface="Arial" pitchFamily="34" charset="0"/>
                <a:ea typeface="Arial" pitchFamily="34" charset="-122"/>
                <a:cs typeface="Arial" pitchFamily="34" charset="-120"/>
              </a:rPr>
              <a:t>EXAMPLE · WHAT THE CUSTOMER WOULD ACTUALLY READ</a:t>
            </a:r>
            <a:endParaRPr lang="en-US" sz="1000" dirty="0"/>
          </a:p>
        </p:txBody>
      </p:sp>
      <p:sp>
        <p:nvSpPr>
          <p:cNvPr id="21" name="Text 19"/>
          <p:cNvSpPr/>
          <p:nvPr/>
        </p:nvSpPr>
        <p:spPr>
          <a:xfrm>
            <a:off x="804672" y="3602736"/>
            <a:ext cx="10588752" cy="731520"/>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“The principal reasons for this decision were: you were up to three months behind on payments in the last six months; you are currently two months behind; and you paid late in six of the last six months.”</a:t>
            </a:r>
            <a:endParaRPr lang="en-US" sz="1600" dirty="0"/>
          </a:p>
        </p:txBody>
      </p:sp>
      <p:sp>
        <p:nvSpPr>
          <p:cNvPr id="22" name="Text 20"/>
          <p:cNvSpPr/>
          <p:nvPr/>
        </p:nvSpPr>
        <p:spPr>
          <a:xfrm>
            <a:off x="804672" y="4407408"/>
            <a:ext cx="10588752" cy="51206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The customer can check these statements against payment history. Example wording; the notebook generates the account-specific text.</a:t>
            </a:r>
            <a:endParaRPr lang="en-US" sz="1400" dirty="0"/>
          </a:p>
        </p:txBody>
      </p:sp>
      <p:sp>
        <p:nvSpPr>
          <p:cNvPr id="23" name="Shape 21"/>
          <p:cNvSpPr/>
          <p:nvPr/>
        </p:nvSpPr>
        <p:spPr>
          <a:xfrm>
            <a:off x="566928" y="5138928"/>
            <a:ext cx="11064240" cy="914400"/>
          </a:xfrm>
          <a:prstGeom prst="roundRect">
            <a:avLst>
              <a:gd name="adj" fmla="val 8000"/>
            </a:avLst>
          </a:prstGeom>
          <a:solidFill>
            <a:srgbClr val="171A22"/>
          </a:solidFill>
          <a:ln w="12700">
            <a:solidFill>
              <a:srgbClr val="22D3EE"/>
            </a:solidFill>
            <a:prstDash val="solid"/>
          </a:ln>
        </p:spPr>
        <p:txBody>
          <a:bodyPr/>
          <a:lstStyle/>
          <a:p>
            <a:endParaRPr lang="en-US"/>
          </a:p>
        </p:txBody>
      </p:sp>
      <p:sp>
        <p:nvSpPr>
          <p:cNvPr id="24" name="Text 22"/>
          <p:cNvSpPr/>
          <p:nvPr/>
        </p:nvSpPr>
        <p:spPr>
          <a:xfrm>
            <a:off x="786384" y="5248656"/>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Reason codes are why we built the features the way we did</a:t>
            </a:r>
            <a:endParaRPr lang="en-US" sz="1600" dirty="0"/>
          </a:p>
        </p:txBody>
      </p:sp>
      <p:sp>
        <p:nvSpPr>
          <p:cNvPr id="25" name="Text 23"/>
          <p:cNvSpPr/>
          <p:nvPr/>
        </p:nvSpPr>
        <p:spPr>
          <a:xfrm>
            <a:off x="786384" y="5586984"/>
            <a:ext cx="10625328" cy="39319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Seven readable features can become sentences. A raw column name such as PAY_3 is not a useful customer explanation.</a:t>
            </a:r>
            <a:endParaRPr lang="en-US" sz="1500" dirty="0"/>
          </a:p>
        </p:txBody>
      </p:sp>
      <p:sp>
        <p:nvSpPr>
          <p:cNvPr id="26" name="Text 2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Explainability &amp; fair lending</a:t>
            </a:r>
            <a:endParaRPr lang="en-US" sz="1000" dirty="0"/>
          </a:p>
        </p:txBody>
      </p:sp>
      <p:sp>
        <p:nvSpPr>
          <p:cNvPr id="27" name="Text 2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THE BEFORE-AND-AFTER EXPERIMENT</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Remove the columns. Compare the scores.</a:t>
            </a:r>
            <a:endParaRPr lang="en-US" sz="2800" dirty="0"/>
          </a:p>
        </p:txBody>
      </p:sp>
      <p:sp>
        <p:nvSpPr>
          <p:cNvPr id="4" name="Text 2"/>
          <p:cNvSpPr/>
          <p:nvPr/>
        </p:nvSpPr>
        <p:spPr>
          <a:xfrm>
            <a:off x="566928" y="141732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Our classroom model leaves out sex, marital status, and age. We retrain without those columns and compare the results on the same accounts.</a:t>
            </a:r>
            <a:endParaRPr lang="en-US" sz="1700" dirty="0"/>
          </a:p>
        </p:txBody>
      </p:sp>
      <p:sp>
        <p:nvSpPr>
          <p:cNvPr id="5" name="Shape 3"/>
          <p:cNvSpPr/>
          <p:nvPr/>
        </p:nvSpPr>
        <p:spPr>
          <a:xfrm>
            <a:off x="566928" y="2441448"/>
            <a:ext cx="5394960" cy="1645920"/>
          </a:xfrm>
          <a:prstGeom prst="roundRect">
            <a:avLst>
              <a:gd name="adj" fmla="val 4444"/>
            </a:avLst>
          </a:prstGeom>
          <a:solidFill>
            <a:srgbClr val="171A22"/>
          </a:solidFill>
          <a:ln w="17780">
            <a:solidFill>
              <a:srgbClr val="FBBF24"/>
            </a:solidFill>
            <a:prstDash val="solid"/>
          </a:ln>
        </p:spPr>
        <p:txBody>
          <a:bodyPr/>
          <a:lstStyle/>
          <a:p>
            <a:endParaRPr lang="en-US"/>
          </a:p>
        </p:txBody>
      </p:sp>
      <p:sp>
        <p:nvSpPr>
          <p:cNvPr id="6" name="Text 4"/>
          <p:cNvSpPr/>
          <p:nvPr/>
        </p:nvSpPr>
        <p:spPr>
          <a:xfrm>
            <a:off x="731520" y="2569464"/>
            <a:ext cx="5065776"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With sex, marriage, and age</a:t>
            </a:r>
            <a:endParaRPr lang="en-US" sz="1500" dirty="0"/>
          </a:p>
        </p:txBody>
      </p:sp>
      <p:sp>
        <p:nvSpPr>
          <p:cNvPr id="7" name="Text 5"/>
          <p:cNvSpPr/>
          <p:nvPr/>
        </p:nvSpPr>
        <p:spPr>
          <a:xfrm>
            <a:off x="731520" y="3044952"/>
            <a:ext cx="5065776" cy="457200"/>
          </a:xfrm>
          <a:prstGeom prst="rect">
            <a:avLst/>
          </a:prstGeom>
          <a:noFill/>
          <a:ln/>
        </p:spPr>
        <p:txBody>
          <a:bodyPr wrap="square" lIns="0" tIns="0" rIns="0" bIns="0" rtlCol="0" anchor="ctr"/>
          <a:lstStyle/>
          <a:p>
            <a:pPr marL="0" indent="0">
              <a:buNone/>
            </a:pPr>
            <a:r>
              <a:rPr lang="en-US" sz="3000" b="1" dirty="0">
                <a:solidFill>
                  <a:srgbClr val="FBBF24"/>
                </a:solidFill>
                <a:latin typeface="Arial" pitchFamily="34" charset="0"/>
                <a:ea typeface="Arial" pitchFamily="34" charset="-122"/>
                <a:cs typeface="Arial" pitchFamily="34" charset="-120"/>
              </a:rPr>
              <a:t>AUC 0.7670</a:t>
            </a:r>
            <a:endParaRPr lang="en-US" sz="3000" dirty="0"/>
          </a:p>
        </p:txBody>
      </p:sp>
      <p:sp>
        <p:nvSpPr>
          <p:cNvPr id="8" name="Text 6"/>
          <p:cNvSpPr/>
          <p:nvPr/>
        </p:nvSpPr>
        <p:spPr>
          <a:xfrm>
            <a:off x="731520" y="3602736"/>
            <a:ext cx="5065776" cy="37490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10 inputs. Same 6,000 validation accounts.</a:t>
            </a:r>
            <a:endParaRPr lang="en-US" sz="1400" dirty="0"/>
          </a:p>
        </p:txBody>
      </p:sp>
      <p:sp>
        <p:nvSpPr>
          <p:cNvPr id="9" name="Shape 7"/>
          <p:cNvSpPr/>
          <p:nvPr/>
        </p:nvSpPr>
        <p:spPr>
          <a:xfrm>
            <a:off x="6236208" y="2441448"/>
            <a:ext cx="5394960" cy="1645920"/>
          </a:xfrm>
          <a:prstGeom prst="roundRect">
            <a:avLst>
              <a:gd name="adj" fmla="val 4444"/>
            </a:avLst>
          </a:prstGeom>
          <a:solidFill>
            <a:srgbClr val="171A22"/>
          </a:solidFill>
          <a:ln w="17780">
            <a:solidFill>
              <a:srgbClr val="4ADE80"/>
            </a:solidFill>
            <a:prstDash val="solid"/>
          </a:ln>
        </p:spPr>
        <p:txBody>
          <a:bodyPr/>
          <a:lstStyle/>
          <a:p>
            <a:endParaRPr lang="en-US"/>
          </a:p>
        </p:txBody>
      </p:sp>
      <p:sp>
        <p:nvSpPr>
          <p:cNvPr id="10" name="Text 8"/>
          <p:cNvSpPr/>
          <p:nvPr/>
        </p:nvSpPr>
        <p:spPr>
          <a:xfrm>
            <a:off x="6400800" y="2569464"/>
            <a:ext cx="5065776" cy="384048"/>
          </a:xfrm>
          <a:prstGeom prst="rect">
            <a:avLst/>
          </a:prstGeom>
          <a:noFill/>
          <a:ln/>
        </p:spPr>
        <p:txBody>
          <a:bodyPr wrap="square" lIns="0" tIns="0" rIns="0" bIns="0" rtlCol="0" anchor="t"/>
          <a:lstStyle/>
          <a:p>
            <a:pPr marL="0" indent="0">
              <a:buNone/>
            </a:pPr>
            <a:r>
              <a:rPr lang="en-US" sz="1500" b="1" dirty="0">
                <a:solidFill>
                  <a:srgbClr val="F2F4F8"/>
                </a:solidFill>
                <a:latin typeface="Arial" pitchFamily="34" charset="0"/>
                <a:ea typeface="Arial" pitchFamily="34" charset="-122"/>
                <a:cs typeface="Arial" pitchFamily="34" charset="-120"/>
              </a:rPr>
              <a:t>Without those three columns</a:t>
            </a:r>
            <a:endParaRPr lang="en-US" sz="1500" dirty="0"/>
          </a:p>
        </p:txBody>
      </p:sp>
      <p:sp>
        <p:nvSpPr>
          <p:cNvPr id="11" name="Text 9"/>
          <p:cNvSpPr/>
          <p:nvPr/>
        </p:nvSpPr>
        <p:spPr>
          <a:xfrm>
            <a:off x="6400800" y="3044952"/>
            <a:ext cx="5065776" cy="457200"/>
          </a:xfrm>
          <a:prstGeom prst="rect">
            <a:avLst/>
          </a:prstGeom>
          <a:noFill/>
          <a:ln/>
        </p:spPr>
        <p:txBody>
          <a:bodyPr wrap="square" lIns="0" tIns="0" rIns="0" bIns="0" rtlCol="0" anchor="ctr"/>
          <a:lstStyle/>
          <a:p>
            <a:pPr marL="0" indent="0">
              <a:buNone/>
            </a:pPr>
            <a:r>
              <a:rPr lang="en-US" sz="3000" b="1" dirty="0">
                <a:solidFill>
                  <a:srgbClr val="4ADE80"/>
                </a:solidFill>
                <a:latin typeface="Arial" pitchFamily="34" charset="0"/>
                <a:ea typeface="Arial" pitchFamily="34" charset="-122"/>
                <a:cs typeface="Arial" pitchFamily="34" charset="-120"/>
              </a:rPr>
              <a:t>AUC 0.7655</a:t>
            </a:r>
            <a:endParaRPr lang="en-US" sz="3000" dirty="0"/>
          </a:p>
        </p:txBody>
      </p:sp>
      <p:sp>
        <p:nvSpPr>
          <p:cNvPr id="12" name="Text 10"/>
          <p:cNvSpPr/>
          <p:nvPr/>
        </p:nvSpPr>
        <p:spPr>
          <a:xfrm>
            <a:off x="6400800" y="3602736"/>
            <a:ext cx="5065776" cy="374904"/>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7 inputs. Same 6,000 validation accounts.</a:t>
            </a:r>
            <a:endParaRPr lang="en-US" sz="1400" dirty="0"/>
          </a:p>
        </p:txBody>
      </p:sp>
      <p:sp>
        <p:nvSpPr>
          <p:cNvPr id="13" name="Shape 11"/>
          <p:cNvSpPr/>
          <p:nvPr/>
        </p:nvSpPr>
        <p:spPr>
          <a:xfrm>
            <a:off x="566928" y="4361688"/>
            <a:ext cx="11064240" cy="1078992"/>
          </a:xfrm>
          <a:prstGeom prst="roundRect">
            <a:avLst>
              <a:gd name="adj" fmla="val 6780"/>
            </a:avLst>
          </a:prstGeom>
          <a:solidFill>
            <a:srgbClr val="121C2B"/>
          </a:solidFill>
          <a:ln w="12700">
            <a:solidFill>
              <a:srgbClr val="38BDF8"/>
            </a:solidFill>
            <a:prstDash val="solid"/>
          </a:ln>
        </p:spPr>
        <p:txBody>
          <a:bodyPr/>
          <a:lstStyle/>
          <a:p>
            <a:endParaRPr lang="en-US"/>
          </a:p>
        </p:txBody>
      </p:sp>
      <p:sp>
        <p:nvSpPr>
          <p:cNvPr id="14" name="Text 12"/>
          <p:cNvSpPr/>
          <p:nvPr/>
        </p:nvSpPr>
        <p:spPr>
          <a:xfrm>
            <a:off x="786384" y="4471416"/>
            <a:ext cx="10625328" cy="274320"/>
          </a:xfrm>
          <a:prstGeom prst="rect">
            <a:avLst/>
          </a:prstGeom>
          <a:noFill/>
          <a:ln/>
        </p:spPr>
        <p:txBody>
          <a:bodyPr wrap="square" lIns="0" tIns="0" rIns="0" bIns="0" rtlCol="0" anchor="ctr"/>
          <a:lstStyle/>
          <a:p>
            <a:pPr marL="0" indent="0">
              <a:buNone/>
            </a:pPr>
            <a:r>
              <a:rPr lang="en-US" sz="1600" b="1" dirty="0">
                <a:solidFill>
                  <a:srgbClr val="38BDF8"/>
                </a:solidFill>
                <a:latin typeface="Arial" pitchFamily="34" charset="0"/>
                <a:ea typeface="Arial" pitchFamily="34" charset="-122"/>
                <a:cs typeface="Arial" pitchFamily="34" charset="-120"/>
              </a:rPr>
              <a:t>The score changed very little in this run</a:t>
            </a:r>
            <a:endParaRPr lang="en-US" sz="1600" dirty="0"/>
          </a:p>
        </p:txBody>
      </p:sp>
      <p:sp>
        <p:nvSpPr>
          <p:cNvPr id="15" name="Text 13"/>
          <p:cNvSpPr/>
          <p:nvPr/>
        </p:nvSpPr>
        <p:spPr>
          <a:xfrm>
            <a:off x="786384" y="4809744"/>
            <a:ext cx="10625328" cy="557784"/>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AUC fell by 0.0015. We keep the version with seven inputs and no demographic columns.</a:t>
            </a:r>
            <a:endParaRPr lang="en-US" sz="1500" dirty="0"/>
          </a:p>
        </p:txBody>
      </p:sp>
      <p:sp>
        <p:nvSpPr>
          <p:cNvPr id="17" name="Text 15"/>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Explainability &amp; fair lending</a:t>
            </a:r>
            <a:endParaRPr lang="en-US" sz="1000" dirty="0"/>
          </a:p>
        </p:txBody>
      </p:sp>
      <p:sp>
        <p:nvSpPr>
          <p:cNvPr id="18" name="Text 16"/>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22D3EE"/>
          </a:solidFill>
          <a:ln/>
        </p:spPr>
        <p:txBody>
          <a:bodyPr/>
          <a:lstStyle/>
          <a:p>
            <a:endParaRPr lang="en-US"/>
          </a:p>
        </p:txBody>
      </p:sp>
      <p:sp>
        <p:nvSpPr>
          <p:cNvPr id="3" name="Text 1"/>
          <p:cNvSpPr/>
          <p:nvPr/>
        </p:nvSpPr>
        <p:spPr>
          <a:xfrm>
            <a:off x="1097280" y="1993392"/>
            <a:ext cx="9601200" cy="292608"/>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SECTION V  |  18 min</a:t>
            </a:r>
            <a:endParaRPr lang="en-US" sz="1400" dirty="0"/>
          </a:p>
        </p:txBody>
      </p:sp>
      <p:sp>
        <p:nvSpPr>
          <p:cNvPr id="4" name="Text 2"/>
          <p:cNvSpPr/>
          <p:nvPr/>
        </p:nvSpPr>
        <p:spPr>
          <a:xfrm>
            <a:off x="1097280" y="2514600"/>
            <a:ext cx="9966960" cy="1234440"/>
          </a:xfrm>
          <a:prstGeom prst="rect">
            <a:avLst/>
          </a:prstGeom>
          <a:noFill/>
          <a:ln/>
        </p:spPr>
        <p:txBody>
          <a:bodyPr wrap="square" lIns="0" tIns="0" rIns="0" bIns="0" rtlCol="0" anchor="t"/>
          <a:lstStyle/>
          <a:p>
            <a:pPr marL="0" indent="0">
              <a:buNone/>
            </a:pPr>
            <a:r>
              <a:rPr lang="en-US" sz="3400" b="1" dirty="0">
                <a:solidFill>
                  <a:srgbClr val="F2F4F8"/>
                </a:solidFill>
                <a:latin typeface="Arial" pitchFamily="34" charset="0"/>
                <a:ea typeface="Arial" pitchFamily="34" charset="-122"/>
                <a:cs typeface="Arial" pitchFamily="34" charset="-120"/>
              </a:rPr>
              <a:t>Case two: same industry, but the data is words</a:t>
            </a:r>
            <a:endParaRPr lang="en-US" sz="3400" dirty="0"/>
          </a:p>
        </p:txBody>
      </p:sp>
      <p:sp>
        <p:nvSpPr>
          <p:cNvPr id="5" name="Text 3"/>
          <p:cNvSpPr/>
          <p:nvPr/>
        </p:nvSpPr>
        <p:spPr>
          <a:xfrm>
            <a:off x="1097280" y="4069080"/>
            <a:ext cx="9601200" cy="1188720"/>
          </a:xfrm>
          <a:prstGeom prst="rect">
            <a:avLst/>
          </a:prstGeom>
          <a:noFill/>
          <a:ln/>
        </p:spPr>
        <p:txBody>
          <a:bodyPr wrap="square" lIns="0" tIns="0" rIns="0" bIns="0" rtlCol="0" anchor="t"/>
          <a:lstStyle/>
          <a:p>
            <a:pPr marL="0" indent="0">
              <a:buNone/>
            </a:pPr>
            <a:r>
              <a:rPr lang="en-US" sz="2000" dirty="0">
                <a:solidFill>
                  <a:srgbClr val="AAB2C0"/>
                </a:solidFill>
                <a:latin typeface="Arial" pitchFamily="34" charset="0"/>
                <a:ea typeface="Arial" pitchFamily="34" charset="-122"/>
                <a:cs typeface="Arial" pitchFamily="34" charset="-120"/>
              </a:rPr>
              <a:t>A consumer writes a paragraph about what went wrong. Eight specialist teams could handle it, a regulatory clock is already running, and somebody has to decide where it goes.</a:t>
            </a:r>
            <a:endParaRPr lang="en-US" sz="2000" dirty="0"/>
          </a:p>
        </p:txBody>
      </p:sp>
      <p:sp>
        <p:nvSpPr>
          <p:cNvPr id="6" name="Text 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7" name="Text 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2 · THE DECISION</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Route each complaint to the right team</a:t>
            </a:r>
            <a:endParaRPr lang="en-US" sz="2800" dirty="0"/>
          </a:p>
        </p:txBody>
      </p:sp>
      <p:sp>
        <p:nvSpPr>
          <p:cNvPr id="4" name="Shape 2"/>
          <p:cNvSpPr/>
          <p:nvPr/>
        </p:nvSpPr>
        <p:spPr>
          <a:xfrm>
            <a:off x="566928" y="1417320"/>
            <a:ext cx="11064240" cy="1298448"/>
          </a:xfrm>
          <a:prstGeom prst="roundRect">
            <a:avLst>
              <a:gd name="adj" fmla="val 5634"/>
            </a:avLst>
          </a:prstGeom>
          <a:solidFill>
            <a:srgbClr val="1C2029"/>
          </a:solidFill>
          <a:ln w="12700">
            <a:solidFill>
              <a:srgbClr val="38BDF8"/>
            </a:solidFill>
            <a:prstDash val="solid"/>
          </a:ln>
        </p:spPr>
        <p:txBody>
          <a:bodyPr/>
          <a:lstStyle/>
          <a:p>
            <a:endParaRPr lang="en-US"/>
          </a:p>
        </p:txBody>
      </p:sp>
      <p:sp>
        <p:nvSpPr>
          <p:cNvPr id="5" name="Text 3"/>
          <p:cNvSpPr/>
          <p:nvPr/>
        </p:nvSpPr>
        <p:spPr>
          <a:xfrm>
            <a:off x="804672" y="1536192"/>
            <a:ext cx="10588752" cy="237744"/>
          </a:xfrm>
          <a:prstGeom prst="rect">
            <a:avLst/>
          </a:prstGeom>
          <a:noFill/>
          <a:ln/>
        </p:spPr>
        <p:txBody>
          <a:bodyPr wrap="square" lIns="0" tIns="0" rIns="0" bIns="0" rtlCol="0" anchor="ctr"/>
          <a:lstStyle/>
          <a:p>
            <a:pPr marL="0" indent="0">
              <a:buNone/>
            </a:pPr>
            <a:r>
              <a:rPr lang="en-US" sz="1000" b="1" kern="0" spc="120" dirty="0">
                <a:solidFill>
                  <a:srgbClr val="38BDF8"/>
                </a:solidFill>
                <a:latin typeface="Arial" pitchFamily="34" charset="0"/>
                <a:ea typeface="Arial" pitchFamily="34" charset="-122"/>
                <a:cs typeface="Arial" pitchFamily="34" charset="-120"/>
              </a:rPr>
              <a:t>A REAL COMPLAINT, AS PUBLISHED BY THE REGULATOR</a:t>
            </a:r>
            <a:endParaRPr lang="en-US" sz="1000" dirty="0"/>
          </a:p>
        </p:txBody>
      </p:sp>
      <p:sp>
        <p:nvSpPr>
          <p:cNvPr id="6" name="Text 4"/>
          <p:cNvSpPr/>
          <p:nvPr/>
        </p:nvSpPr>
        <p:spPr>
          <a:xfrm>
            <a:off x="804672" y="1828800"/>
            <a:ext cx="10588752" cy="822960"/>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“According to my research, the title agency is supposed to provide my settlement agreement 3 days prior to close so I have time to review and question any details. It is 24 hours to close and I still have not received it.”</a:t>
            </a:r>
            <a:endParaRPr lang="en-US" sz="1500" dirty="0"/>
          </a:p>
        </p:txBody>
      </p:sp>
      <p:sp>
        <p:nvSpPr>
          <p:cNvPr id="7" name="Shape 5"/>
          <p:cNvSpPr/>
          <p:nvPr/>
        </p:nvSpPr>
        <p:spPr>
          <a:xfrm>
            <a:off x="566928" y="2788920"/>
            <a:ext cx="2532888" cy="1234440"/>
          </a:xfrm>
          <a:prstGeom prst="roundRect">
            <a:avLst>
              <a:gd name="adj" fmla="val 5926"/>
            </a:avLst>
          </a:prstGeom>
          <a:solidFill>
            <a:srgbClr val="171A22"/>
          </a:solidFill>
          <a:ln w="12700">
            <a:solidFill>
              <a:srgbClr val="22D3EE"/>
            </a:solidFill>
            <a:prstDash val="solid"/>
          </a:ln>
        </p:spPr>
        <p:txBody>
          <a:bodyPr/>
          <a:lstStyle/>
          <a:p>
            <a:endParaRPr lang="en-US"/>
          </a:p>
        </p:txBody>
      </p:sp>
      <p:sp>
        <p:nvSpPr>
          <p:cNvPr id="8" name="Text 6"/>
          <p:cNvSpPr/>
          <p:nvPr/>
        </p:nvSpPr>
        <p:spPr>
          <a:xfrm>
            <a:off x="676656" y="290779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The narrative</a:t>
            </a:r>
            <a:endParaRPr lang="en-US" sz="1500" dirty="0"/>
          </a:p>
        </p:txBody>
      </p:sp>
      <p:sp>
        <p:nvSpPr>
          <p:cNvPr id="9" name="Text 7"/>
          <p:cNvSpPr/>
          <p:nvPr/>
        </p:nvSpPr>
        <p:spPr>
          <a:xfrm>
            <a:off x="694944" y="337413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The consumer's own words.</a:t>
            </a:r>
            <a:endParaRPr lang="en-US" sz="1400" dirty="0"/>
          </a:p>
        </p:txBody>
      </p:sp>
      <p:sp>
        <p:nvSpPr>
          <p:cNvPr id="10" name="Text 8"/>
          <p:cNvSpPr/>
          <p:nvPr/>
        </p:nvSpPr>
        <p:spPr>
          <a:xfrm>
            <a:off x="3099816" y="278892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3410712" y="2788920"/>
            <a:ext cx="2532888" cy="1234440"/>
          </a:xfrm>
          <a:prstGeom prst="roundRect">
            <a:avLst>
              <a:gd name="adj" fmla="val 5926"/>
            </a:avLst>
          </a:prstGeom>
          <a:solidFill>
            <a:srgbClr val="171A22"/>
          </a:solidFill>
          <a:ln w="12700">
            <a:solidFill>
              <a:srgbClr val="38BDF8"/>
            </a:solidFill>
            <a:prstDash val="solid"/>
          </a:ln>
        </p:spPr>
        <p:txBody>
          <a:bodyPr/>
          <a:lstStyle/>
          <a:p>
            <a:endParaRPr lang="en-US"/>
          </a:p>
        </p:txBody>
      </p:sp>
      <p:sp>
        <p:nvSpPr>
          <p:cNvPr id="12" name="Text 10"/>
          <p:cNvSpPr/>
          <p:nvPr/>
        </p:nvSpPr>
        <p:spPr>
          <a:xfrm>
            <a:off x="3520440" y="290779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The model</a:t>
            </a:r>
            <a:endParaRPr lang="en-US" sz="1500" dirty="0"/>
          </a:p>
        </p:txBody>
      </p:sp>
      <p:sp>
        <p:nvSpPr>
          <p:cNvPr id="13" name="Text 11"/>
          <p:cNvSpPr/>
          <p:nvPr/>
        </p:nvSpPr>
        <p:spPr>
          <a:xfrm>
            <a:off x="3538728" y="337413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Which of eight specialist teams does this belong to?</a:t>
            </a:r>
            <a:endParaRPr lang="en-US" sz="1400" dirty="0"/>
          </a:p>
        </p:txBody>
      </p:sp>
      <p:sp>
        <p:nvSpPr>
          <p:cNvPr id="14" name="Text 12"/>
          <p:cNvSpPr/>
          <p:nvPr/>
        </p:nvSpPr>
        <p:spPr>
          <a:xfrm>
            <a:off x="5943600" y="278892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6254496" y="2788920"/>
            <a:ext cx="2532888" cy="1234440"/>
          </a:xfrm>
          <a:prstGeom prst="roundRect">
            <a:avLst>
              <a:gd name="adj" fmla="val 5926"/>
            </a:avLst>
          </a:prstGeom>
          <a:solidFill>
            <a:srgbClr val="171A22"/>
          </a:solidFill>
          <a:ln w="12700">
            <a:solidFill>
              <a:srgbClr val="FBBF24"/>
            </a:solidFill>
            <a:prstDash val="solid"/>
          </a:ln>
        </p:spPr>
        <p:txBody>
          <a:bodyPr/>
          <a:lstStyle/>
          <a:p>
            <a:endParaRPr lang="en-US"/>
          </a:p>
        </p:txBody>
      </p:sp>
      <p:sp>
        <p:nvSpPr>
          <p:cNvPr id="16" name="Text 14"/>
          <p:cNvSpPr/>
          <p:nvPr/>
        </p:nvSpPr>
        <p:spPr>
          <a:xfrm>
            <a:off x="6364224" y="2907792"/>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Confidence</a:t>
            </a:r>
            <a:endParaRPr lang="en-US" sz="1500" dirty="0"/>
          </a:p>
        </p:txBody>
      </p:sp>
      <p:sp>
        <p:nvSpPr>
          <p:cNvPr id="17" name="Text 15"/>
          <p:cNvSpPr/>
          <p:nvPr/>
        </p:nvSpPr>
        <p:spPr>
          <a:xfrm>
            <a:off x="6382512" y="337413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High: auto-route. Low: human triage.</a:t>
            </a:r>
            <a:endParaRPr lang="en-US" sz="1400" dirty="0"/>
          </a:p>
        </p:txBody>
      </p:sp>
      <p:sp>
        <p:nvSpPr>
          <p:cNvPr id="18" name="Text 16"/>
          <p:cNvSpPr/>
          <p:nvPr/>
        </p:nvSpPr>
        <p:spPr>
          <a:xfrm>
            <a:off x="8787384" y="2788920"/>
            <a:ext cx="310896" cy="123444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9098280" y="2788920"/>
            <a:ext cx="2532888" cy="1234440"/>
          </a:xfrm>
          <a:prstGeom prst="roundRect">
            <a:avLst>
              <a:gd name="adj" fmla="val 5926"/>
            </a:avLst>
          </a:prstGeom>
          <a:solidFill>
            <a:srgbClr val="171A22"/>
          </a:solidFill>
          <a:ln w="12700">
            <a:solidFill>
              <a:srgbClr val="4ADE80"/>
            </a:solidFill>
            <a:prstDash val="solid"/>
          </a:ln>
        </p:spPr>
        <p:txBody>
          <a:bodyPr/>
          <a:lstStyle/>
          <a:p>
            <a:endParaRPr lang="en-US"/>
          </a:p>
        </p:txBody>
      </p:sp>
      <p:sp>
        <p:nvSpPr>
          <p:cNvPr id="20" name="Text 18"/>
          <p:cNvSpPr/>
          <p:nvPr/>
        </p:nvSpPr>
        <p:spPr>
          <a:xfrm>
            <a:off x="9208008" y="2907792"/>
            <a:ext cx="2313432" cy="393192"/>
          </a:xfrm>
          <a:prstGeom prst="rect">
            <a:avLst/>
          </a:prstGeom>
          <a:noFill/>
          <a:ln/>
        </p:spPr>
        <p:txBody>
          <a:bodyPr wrap="square" lIns="0" tIns="0" rIns="0" bIns="0" rtlCol="0" anchor="ctr"/>
          <a:lstStyle/>
          <a:p>
            <a:pPr marL="0" indent="0" algn="ctr">
              <a:buNone/>
            </a:pPr>
            <a:r>
              <a:rPr lang="en-US" sz="1500" b="1" dirty="0">
                <a:solidFill>
                  <a:srgbClr val="4ADE80"/>
                </a:solidFill>
                <a:latin typeface="Arial" pitchFamily="34" charset="0"/>
                <a:ea typeface="Arial" pitchFamily="34" charset="-122"/>
                <a:cs typeface="Arial" pitchFamily="34" charset="-120"/>
              </a:rPr>
              <a:t>A team queue</a:t>
            </a:r>
            <a:endParaRPr lang="en-US" sz="1500" dirty="0"/>
          </a:p>
        </p:txBody>
      </p:sp>
      <p:sp>
        <p:nvSpPr>
          <p:cNvPr id="21" name="Text 19"/>
          <p:cNvSpPr/>
          <p:nvPr/>
        </p:nvSpPr>
        <p:spPr>
          <a:xfrm>
            <a:off x="9226296" y="3374136"/>
            <a:ext cx="2276856" cy="53949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Highlighted words explain the route.</a:t>
            </a:r>
            <a:endParaRPr lang="en-US" sz="1400" dirty="0"/>
          </a:p>
        </p:txBody>
      </p:sp>
      <p:sp>
        <p:nvSpPr>
          <p:cNvPr id="22" name="Shape 20"/>
          <p:cNvSpPr/>
          <p:nvPr/>
        </p:nvSpPr>
        <p:spPr>
          <a:xfrm>
            <a:off x="566928" y="4160520"/>
            <a:ext cx="11064240" cy="1051560"/>
          </a:xfrm>
          <a:prstGeom prst="roundRect">
            <a:avLst>
              <a:gd name="adj" fmla="val 6957"/>
            </a:avLst>
          </a:prstGeom>
          <a:solidFill>
            <a:srgbClr val="171A22"/>
          </a:solidFill>
          <a:ln w="12700">
            <a:solidFill>
              <a:srgbClr val="FBBF24"/>
            </a:solidFill>
            <a:prstDash val="solid"/>
          </a:ln>
        </p:spPr>
        <p:txBody>
          <a:bodyPr/>
          <a:lstStyle/>
          <a:p>
            <a:endParaRPr lang="en-US"/>
          </a:p>
        </p:txBody>
      </p:sp>
      <p:sp>
        <p:nvSpPr>
          <p:cNvPr id="23" name="Text 21"/>
          <p:cNvSpPr/>
          <p:nvPr/>
        </p:nvSpPr>
        <p:spPr>
          <a:xfrm>
            <a:off x="786384" y="427024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The clock is already running, and misrouting spends it</a:t>
            </a:r>
            <a:endParaRPr lang="en-US" sz="1600" dirty="0"/>
          </a:p>
        </p:txBody>
      </p:sp>
      <p:sp>
        <p:nvSpPr>
          <p:cNvPr id="24" name="Text 22"/>
          <p:cNvSpPr/>
          <p:nvPr/>
        </p:nvSpPr>
        <p:spPr>
          <a:xfrm>
            <a:off x="786384" y="4608576"/>
            <a:ext cx="10625328" cy="53035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Three days on the wrong desk consumes three days of the response deadline. Misrouting delays the consumer's answer.</a:t>
            </a:r>
            <a:endParaRPr lang="en-US" sz="1500" dirty="0"/>
          </a:p>
        </p:txBody>
      </p:sp>
      <p:sp>
        <p:nvSpPr>
          <p:cNvPr id="25" name="Text 23"/>
          <p:cNvSpPr/>
          <p:nvPr/>
        </p:nvSpPr>
        <p:spPr>
          <a:xfrm>
            <a:off x="566928" y="5376672"/>
            <a:ext cx="11064240" cy="274320"/>
          </a:xfrm>
          <a:prstGeom prst="rect">
            <a:avLst/>
          </a:prstGeom>
          <a:noFill/>
          <a:ln/>
        </p:spPr>
        <p:txBody>
          <a:bodyPr wrap="square" lIns="0" tIns="0" rIns="0" bIns="0" rtlCol="0" anchor="ctr"/>
          <a:lstStyle/>
          <a:p>
            <a:pPr marL="0" indent="0">
              <a:buNone/>
            </a:pPr>
            <a:r>
              <a:rPr lang="en-US" sz="1500" dirty="0">
                <a:solidFill>
                  <a:srgbClr val="AAB2C0"/>
                </a:solidFill>
                <a:latin typeface="Arial" pitchFamily="34" charset="0"/>
                <a:ea typeface="Arial" pitchFamily="34" charset="-122"/>
                <a:cs typeface="Arial" pitchFamily="34" charset="-120"/>
              </a:rPr>
              <a:t>The model does not judge whether the complaint is valid, does not draft the reply, and never contacts the consumer.</a:t>
            </a:r>
            <a:endParaRPr lang="en-US" sz="1500" dirty="0"/>
          </a:p>
        </p:txBody>
      </p:sp>
      <p:sp>
        <p:nvSpPr>
          <p:cNvPr id="26" name="Text 24"/>
          <p:cNvSpPr/>
          <p:nvPr/>
        </p:nvSpPr>
        <p:spPr>
          <a:xfrm>
            <a:off x="566928" y="580644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Narrative quoted from the CFPB Consumer Complaint Database — public US government data; narratives are opt-in and scrubbed of personal details before publication.</a:t>
            </a:r>
            <a:endParaRPr lang="en-US" sz="1100" dirty="0"/>
          </a:p>
        </p:txBody>
      </p:sp>
      <p:sp>
        <p:nvSpPr>
          <p:cNvPr id="27" name="Text 25"/>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28" name="Text 26"/>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2 · THE DATA</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Real text, with real mess in it</a:t>
            </a:r>
            <a:endParaRPr lang="en-US" sz="2800" dirty="0"/>
          </a:p>
        </p:txBody>
      </p:sp>
      <p:sp>
        <p:nvSpPr>
          <p:cNvPr id="4" name="Shape 2"/>
          <p:cNvSpPr/>
          <p:nvPr/>
        </p:nvSpPr>
        <p:spPr>
          <a:xfrm>
            <a:off x="566928" y="1563624"/>
            <a:ext cx="292608" cy="292608"/>
          </a:xfrm>
          <a:prstGeom prst="ellipse">
            <a:avLst/>
          </a:prstGeom>
          <a:solidFill>
            <a:srgbClr val="22D3EE"/>
          </a:solidFill>
          <a:ln/>
        </p:spPr>
        <p:txBody>
          <a:bodyPr/>
          <a:lstStyle/>
          <a:p>
            <a:endParaRPr lang="en-US"/>
          </a:p>
        </p:txBody>
      </p:sp>
      <p:sp>
        <p:nvSpPr>
          <p:cNvPr id="5" name="Text 3"/>
          <p:cNvSpPr/>
          <p:nvPr/>
        </p:nvSpPr>
        <p:spPr>
          <a:xfrm>
            <a:off x="566928" y="1563624"/>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069848" y="1536192"/>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Narratives are opt-in</a:t>
            </a:r>
            <a:endParaRPr lang="en-US" sz="1800" dirty="0"/>
          </a:p>
        </p:txBody>
      </p:sp>
      <p:sp>
        <p:nvSpPr>
          <p:cNvPr id="7" name="Text 5"/>
          <p:cNvSpPr/>
          <p:nvPr/>
        </p:nvSpPr>
        <p:spPr>
          <a:xfrm>
            <a:off x="1069848" y="1901952"/>
            <a:ext cx="10424160" cy="502920"/>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Our 2023+ window held 2,634,602 narratives. These consumers chose publication; they do not represent everyone.</a:t>
            </a:r>
            <a:endParaRPr lang="en-US" sz="1600" dirty="0"/>
          </a:p>
        </p:txBody>
      </p:sp>
      <p:sp>
        <p:nvSpPr>
          <p:cNvPr id="8" name="Shape 6"/>
          <p:cNvSpPr/>
          <p:nvPr/>
        </p:nvSpPr>
        <p:spPr>
          <a:xfrm>
            <a:off x="566928" y="2459736"/>
            <a:ext cx="292608" cy="292608"/>
          </a:xfrm>
          <a:prstGeom prst="ellipse">
            <a:avLst/>
          </a:prstGeom>
          <a:solidFill>
            <a:srgbClr val="38BDF8"/>
          </a:solidFill>
          <a:ln/>
        </p:spPr>
        <p:txBody>
          <a:bodyPr/>
          <a:lstStyle/>
          <a:p>
            <a:endParaRPr lang="en-US"/>
          </a:p>
        </p:txBody>
      </p:sp>
      <p:sp>
        <p:nvSpPr>
          <p:cNvPr id="9" name="Text 7"/>
          <p:cNvSpPr/>
          <p:nvPr/>
        </p:nvSpPr>
        <p:spPr>
          <a:xfrm>
            <a:off x="566928" y="2459736"/>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69848" y="2432304"/>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One team swamps all the others</a:t>
            </a:r>
            <a:endParaRPr lang="en-US" sz="1800" dirty="0"/>
          </a:p>
        </p:txBody>
      </p:sp>
      <p:sp>
        <p:nvSpPr>
          <p:cNvPr id="11" name="Text 9"/>
          <p:cNvSpPr/>
          <p:nvPr/>
        </p:nvSpPr>
        <p:spPr>
          <a:xfrm>
            <a:off x="1069848" y="2798064"/>
            <a:ext cx="10424160" cy="502920"/>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Credit reporting: 2,664 of 8,728 test complaints. Always choosing it gives 30.5% accuracy but only 0.0585 macro-F1.</a:t>
            </a:r>
            <a:endParaRPr lang="en-US" sz="1600" dirty="0"/>
          </a:p>
        </p:txBody>
      </p:sp>
      <p:sp>
        <p:nvSpPr>
          <p:cNvPr id="12" name="Shape 10"/>
          <p:cNvSpPr/>
          <p:nvPr/>
        </p:nvSpPr>
        <p:spPr>
          <a:xfrm>
            <a:off x="566928" y="3355848"/>
            <a:ext cx="292608" cy="292608"/>
          </a:xfrm>
          <a:prstGeom prst="ellipse">
            <a:avLst/>
          </a:prstGeom>
          <a:solidFill>
            <a:srgbClr val="FBBF24"/>
          </a:solidFill>
          <a:ln/>
        </p:spPr>
        <p:txBody>
          <a:bodyPr/>
          <a:lstStyle/>
          <a:p>
            <a:endParaRPr lang="en-US"/>
          </a:p>
        </p:txBody>
      </p:sp>
      <p:sp>
        <p:nvSpPr>
          <p:cNvPr id="13" name="Text 11"/>
          <p:cNvSpPr/>
          <p:nvPr/>
        </p:nvSpPr>
        <p:spPr>
          <a:xfrm>
            <a:off x="566928" y="3355848"/>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069848" y="3328416"/>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41.5% of the recent narratives are exact duplicates</a:t>
            </a:r>
            <a:endParaRPr lang="en-US" sz="1800" dirty="0"/>
          </a:p>
        </p:txBody>
      </p:sp>
      <p:sp>
        <p:nvSpPr>
          <p:cNvPr id="15" name="Text 13"/>
          <p:cNvSpPr/>
          <p:nvPr/>
        </p:nvSpPr>
        <p:spPr>
          <a:xfrm>
            <a:off x="1069848" y="3694176"/>
            <a:ext cx="10424160" cy="502920"/>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1,093,131 copied rows out of 2,634,602. Remove duplicate letters before splitting, or testing rewards memorization.</a:t>
            </a:r>
            <a:endParaRPr lang="en-US" sz="1600" dirty="0"/>
          </a:p>
        </p:txBody>
      </p:sp>
      <p:sp>
        <p:nvSpPr>
          <p:cNvPr id="16" name="Shape 14"/>
          <p:cNvSpPr/>
          <p:nvPr/>
        </p:nvSpPr>
        <p:spPr>
          <a:xfrm>
            <a:off x="566928" y="4251960"/>
            <a:ext cx="292608" cy="292608"/>
          </a:xfrm>
          <a:prstGeom prst="ellipse">
            <a:avLst/>
          </a:prstGeom>
          <a:solidFill>
            <a:srgbClr val="A78BFA"/>
          </a:solidFill>
          <a:ln/>
        </p:spPr>
        <p:txBody>
          <a:bodyPr/>
          <a:lstStyle/>
          <a:p>
            <a:endParaRPr lang="en-US"/>
          </a:p>
        </p:txBody>
      </p:sp>
      <p:sp>
        <p:nvSpPr>
          <p:cNvPr id="17" name="Text 15"/>
          <p:cNvSpPr/>
          <p:nvPr/>
        </p:nvSpPr>
        <p:spPr>
          <a:xfrm>
            <a:off x="566928" y="4251960"/>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069848" y="4224528"/>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The category names changed over the years</a:t>
            </a:r>
            <a:endParaRPr lang="en-US" sz="1800" dirty="0"/>
          </a:p>
        </p:txBody>
      </p:sp>
      <p:sp>
        <p:nvSpPr>
          <p:cNvPr id="19" name="Text 17"/>
          <p:cNvSpPr/>
          <p:nvPr/>
        </p:nvSpPr>
        <p:spPr>
          <a:xfrm>
            <a:off x="1069848" y="4590288"/>
            <a:ext cx="10424160" cy="502920"/>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Map renamed product labels onto eight teams, and document the mapping.</a:t>
            </a:r>
            <a:endParaRPr lang="en-US" sz="1600" dirty="0"/>
          </a:p>
        </p:txBody>
      </p:sp>
      <p:sp>
        <p:nvSpPr>
          <p:cNvPr id="20" name="Shape 18"/>
          <p:cNvSpPr/>
          <p:nvPr/>
        </p:nvSpPr>
        <p:spPr>
          <a:xfrm>
            <a:off x="566928" y="5212080"/>
            <a:ext cx="11064240" cy="987552"/>
          </a:xfrm>
          <a:prstGeom prst="roundRect">
            <a:avLst>
              <a:gd name="adj" fmla="val 7407"/>
            </a:avLst>
          </a:prstGeom>
          <a:solidFill>
            <a:srgbClr val="171A22"/>
          </a:solidFill>
          <a:ln w="12700">
            <a:solidFill>
              <a:srgbClr val="22D3EE"/>
            </a:solidFill>
            <a:prstDash val="solid"/>
          </a:ln>
        </p:spPr>
        <p:txBody>
          <a:bodyPr/>
          <a:lstStyle/>
          <a:p>
            <a:endParaRPr lang="en-US"/>
          </a:p>
        </p:txBody>
      </p:sp>
      <p:sp>
        <p:nvSpPr>
          <p:cNvPr id="21" name="Text 19"/>
          <p:cNvSpPr/>
          <p:nvPr/>
        </p:nvSpPr>
        <p:spPr>
          <a:xfrm>
            <a:off x="786384" y="532180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Data preparation sets the model's limits</a:t>
            </a:r>
            <a:endParaRPr lang="en-US" sz="1600" dirty="0"/>
          </a:p>
        </p:txBody>
      </p:sp>
      <p:sp>
        <p:nvSpPr>
          <p:cNvPr id="22" name="Text 20"/>
          <p:cNvSpPr/>
          <p:nvPr/>
        </p:nvSpPr>
        <p:spPr>
          <a:xfrm>
            <a:off x="786384" y="5660136"/>
            <a:ext cx="10625328" cy="466344"/>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Document each choice. Macro-F1 balances precision and recall within each team, then averages the eight team scores equally.</a:t>
            </a:r>
            <a:endParaRPr lang="en-US" sz="1500" dirty="0"/>
          </a:p>
        </p:txBody>
      </p:sp>
      <p:sp>
        <p:nvSpPr>
          <p:cNvPr id="23" name="Text 21"/>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24" name="Text 22"/>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TURNING TEXT INTO NUMBERS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Way one: count the words</a:t>
            </a:r>
            <a:endParaRPr lang="en-US" sz="2800" dirty="0"/>
          </a:p>
        </p:txBody>
      </p:sp>
      <p:sp>
        <p:nvSpPr>
          <p:cNvPr id="4" name="Text 2"/>
          <p:cNvSpPr/>
          <p:nvPr/>
        </p:nvSpPr>
        <p:spPr>
          <a:xfrm>
            <a:off x="566928" y="141732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First turn the paragraph into numbers. Count words and word pairs, then give more weight to distinctive terms.</a:t>
            </a:r>
            <a:endParaRPr lang="en-US" sz="1700" dirty="0"/>
          </a:p>
        </p:txBody>
      </p:sp>
      <p:sp>
        <p:nvSpPr>
          <p:cNvPr id="5" name="Shape 3"/>
          <p:cNvSpPr/>
          <p:nvPr/>
        </p:nvSpPr>
        <p:spPr>
          <a:xfrm>
            <a:off x="566928" y="2011680"/>
            <a:ext cx="2532888" cy="1298448"/>
          </a:xfrm>
          <a:prstGeom prst="roundRect">
            <a:avLst>
              <a:gd name="adj" fmla="val 5634"/>
            </a:avLst>
          </a:prstGeom>
          <a:solidFill>
            <a:srgbClr val="171A22"/>
          </a:solidFill>
          <a:ln w="12700">
            <a:solidFill>
              <a:srgbClr val="22D3EE"/>
            </a:solidFill>
            <a:prstDash val="solid"/>
          </a:ln>
        </p:spPr>
        <p:txBody>
          <a:bodyPr/>
          <a:lstStyle/>
          <a:p>
            <a:endParaRPr lang="en-US"/>
          </a:p>
        </p:txBody>
      </p:sp>
      <p:sp>
        <p:nvSpPr>
          <p:cNvPr id="6" name="Text 4"/>
          <p:cNvSpPr/>
          <p:nvPr/>
        </p:nvSpPr>
        <p:spPr>
          <a:xfrm>
            <a:off x="676656" y="213055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Split it up</a:t>
            </a:r>
            <a:endParaRPr lang="en-US" sz="1500" dirty="0"/>
          </a:p>
        </p:txBody>
      </p:sp>
      <p:sp>
        <p:nvSpPr>
          <p:cNvPr id="7" name="Text 5"/>
          <p:cNvSpPr/>
          <p:nvPr/>
        </p:nvSpPr>
        <p:spPr>
          <a:xfrm>
            <a:off x="694944" y="2596896"/>
            <a:ext cx="2276856" cy="603504"/>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Single words and word pairs.</a:t>
            </a:r>
            <a:endParaRPr lang="en-US" sz="1400" dirty="0"/>
          </a:p>
        </p:txBody>
      </p:sp>
      <p:sp>
        <p:nvSpPr>
          <p:cNvPr id="8" name="Text 6"/>
          <p:cNvSpPr/>
          <p:nvPr/>
        </p:nvSpPr>
        <p:spPr>
          <a:xfrm>
            <a:off x="3099816" y="2011680"/>
            <a:ext cx="310896" cy="1298448"/>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3410712" y="2011680"/>
            <a:ext cx="2532888" cy="1298448"/>
          </a:xfrm>
          <a:prstGeom prst="roundRect">
            <a:avLst>
              <a:gd name="adj" fmla="val 5634"/>
            </a:avLst>
          </a:prstGeom>
          <a:solidFill>
            <a:srgbClr val="171A22"/>
          </a:solidFill>
          <a:ln w="12700">
            <a:solidFill>
              <a:srgbClr val="38BDF8"/>
            </a:solidFill>
            <a:prstDash val="solid"/>
          </a:ln>
        </p:spPr>
        <p:txBody>
          <a:bodyPr/>
          <a:lstStyle/>
          <a:p>
            <a:endParaRPr lang="en-US"/>
          </a:p>
        </p:txBody>
      </p:sp>
      <p:sp>
        <p:nvSpPr>
          <p:cNvPr id="10" name="Text 8"/>
          <p:cNvSpPr/>
          <p:nvPr/>
        </p:nvSpPr>
        <p:spPr>
          <a:xfrm>
            <a:off x="3520440" y="213055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Count them</a:t>
            </a:r>
            <a:endParaRPr lang="en-US" sz="1500" dirty="0"/>
          </a:p>
        </p:txBody>
      </p:sp>
      <p:sp>
        <p:nvSpPr>
          <p:cNvPr id="11" name="Text 9"/>
          <p:cNvSpPr/>
          <p:nvPr/>
        </p:nvSpPr>
        <p:spPr>
          <a:xfrm>
            <a:off x="3538728" y="2596896"/>
            <a:ext cx="2276856" cy="603504"/>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Count each term in this complaint.</a:t>
            </a:r>
            <a:endParaRPr lang="en-US" sz="1400" dirty="0"/>
          </a:p>
        </p:txBody>
      </p:sp>
      <p:sp>
        <p:nvSpPr>
          <p:cNvPr id="12" name="Text 10"/>
          <p:cNvSpPr/>
          <p:nvPr/>
        </p:nvSpPr>
        <p:spPr>
          <a:xfrm>
            <a:off x="5943600" y="2011680"/>
            <a:ext cx="310896" cy="1298448"/>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6254496" y="2011680"/>
            <a:ext cx="2532888" cy="1298448"/>
          </a:xfrm>
          <a:prstGeom prst="roundRect">
            <a:avLst>
              <a:gd name="adj" fmla="val 5634"/>
            </a:avLst>
          </a:prstGeom>
          <a:solidFill>
            <a:srgbClr val="171A22"/>
          </a:solidFill>
          <a:ln w="12700">
            <a:solidFill>
              <a:srgbClr val="FBBF24"/>
            </a:solidFill>
            <a:prstDash val="solid"/>
          </a:ln>
        </p:spPr>
        <p:txBody>
          <a:bodyPr/>
          <a:lstStyle/>
          <a:p>
            <a:endParaRPr lang="en-US"/>
          </a:p>
        </p:txBody>
      </p:sp>
      <p:sp>
        <p:nvSpPr>
          <p:cNvPr id="14" name="Text 12"/>
          <p:cNvSpPr/>
          <p:nvPr/>
        </p:nvSpPr>
        <p:spPr>
          <a:xfrm>
            <a:off x="6364224" y="2130552"/>
            <a:ext cx="2313432" cy="393192"/>
          </a:xfrm>
          <a:prstGeom prst="rect">
            <a:avLst/>
          </a:prstGeom>
          <a:noFill/>
          <a:ln/>
        </p:spPr>
        <p:txBody>
          <a:bodyPr wrap="square" lIns="0" tIns="0" rIns="0" bIns="0" rtlCol="0" anchor="ctr"/>
          <a:lstStyle/>
          <a:p>
            <a:pPr marL="0" indent="0" algn="ctr">
              <a:buNone/>
            </a:pPr>
            <a:r>
              <a:rPr lang="en-US" sz="1500" b="1" dirty="0">
                <a:solidFill>
                  <a:srgbClr val="FBBF24"/>
                </a:solidFill>
                <a:latin typeface="Arial" pitchFamily="34" charset="0"/>
                <a:ea typeface="Arial" pitchFamily="34" charset="-122"/>
                <a:cs typeface="Arial" pitchFamily="34" charset="-120"/>
              </a:rPr>
              <a:t>Weight them</a:t>
            </a:r>
            <a:endParaRPr lang="en-US" sz="1500" dirty="0"/>
          </a:p>
        </p:txBody>
      </p:sp>
      <p:sp>
        <p:nvSpPr>
          <p:cNvPr id="15" name="Text 13"/>
          <p:cNvSpPr/>
          <p:nvPr/>
        </p:nvSpPr>
        <p:spPr>
          <a:xfrm>
            <a:off x="6382512" y="2596896"/>
            <a:ext cx="2276856" cy="603504"/>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Rare, specific terms carry more weight.</a:t>
            </a:r>
            <a:endParaRPr lang="en-US" sz="1400" dirty="0"/>
          </a:p>
        </p:txBody>
      </p:sp>
      <p:sp>
        <p:nvSpPr>
          <p:cNvPr id="16" name="Text 14"/>
          <p:cNvSpPr/>
          <p:nvPr/>
        </p:nvSpPr>
        <p:spPr>
          <a:xfrm>
            <a:off x="8787384" y="2011680"/>
            <a:ext cx="310896" cy="1298448"/>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098280" y="2011680"/>
            <a:ext cx="2532888" cy="1298448"/>
          </a:xfrm>
          <a:prstGeom prst="roundRect">
            <a:avLst>
              <a:gd name="adj" fmla="val 5634"/>
            </a:avLst>
          </a:prstGeom>
          <a:solidFill>
            <a:srgbClr val="171A22"/>
          </a:solidFill>
          <a:ln w="12700">
            <a:solidFill>
              <a:srgbClr val="4ADE80"/>
            </a:solidFill>
            <a:prstDash val="solid"/>
          </a:ln>
        </p:spPr>
        <p:txBody>
          <a:bodyPr/>
          <a:lstStyle/>
          <a:p>
            <a:endParaRPr lang="en-US"/>
          </a:p>
        </p:txBody>
      </p:sp>
      <p:sp>
        <p:nvSpPr>
          <p:cNvPr id="18" name="Text 16"/>
          <p:cNvSpPr/>
          <p:nvPr/>
        </p:nvSpPr>
        <p:spPr>
          <a:xfrm>
            <a:off x="9208008" y="2130552"/>
            <a:ext cx="2313432" cy="393192"/>
          </a:xfrm>
          <a:prstGeom prst="rect">
            <a:avLst/>
          </a:prstGeom>
          <a:noFill/>
          <a:ln/>
        </p:spPr>
        <p:txBody>
          <a:bodyPr wrap="square" lIns="0" tIns="0" rIns="0" bIns="0" rtlCol="0" anchor="ctr"/>
          <a:lstStyle/>
          <a:p>
            <a:pPr marL="0" indent="0" algn="ctr">
              <a:buNone/>
            </a:pPr>
            <a:r>
              <a:rPr lang="en-US" sz="1500" b="1" dirty="0">
                <a:solidFill>
                  <a:srgbClr val="4ADE80"/>
                </a:solidFill>
                <a:latin typeface="Arial" pitchFamily="34" charset="0"/>
                <a:ea typeface="Arial" pitchFamily="34" charset="-122"/>
                <a:cs typeface="Arial" pitchFamily="34" charset="-120"/>
              </a:rPr>
              <a:t>Score each team</a:t>
            </a:r>
            <a:endParaRPr lang="en-US" sz="1500" dirty="0"/>
          </a:p>
        </p:txBody>
      </p:sp>
      <p:sp>
        <p:nvSpPr>
          <p:cNvPr id="19" name="Text 17"/>
          <p:cNvSpPr/>
          <p:nvPr/>
        </p:nvSpPr>
        <p:spPr>
          <a:xfrm>
            <a:off x="9226296" y="2596896"/>
            <a:ext cx="2276856" cy="603504"/>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The weighted terms produce a team score.</a:t>
            </a:r>
            <a:endParaRPr lang="en-US" sz="1400" dirty="0"/>
          </a:p>
        </p:txBody>
      </p:sp>
      <p:sp>
        <p:nvSpPr>
          <p:cNvPr id="20" name="Shape 18"/>
          <p:cNvSpPr/>
          <p:nvPr/>
        </p:nvSpPr>
        <p:spPr>
          <a:xfrm>
            <a:off x="566928" y="3493008"/>
            <a:ext cx="11064240" cy="1170432"/>
          </a:xfrm>
          <a:prstGeom prst="roundRect">
            <a:avLst>
              <a:gd name="adj" fmla="val 6250"/>
            </a:avLst>
          </a:prstGeom>
          <a:solidFill>
            <a:srgbClr val="171A22"/>
          </a:solidFill>
          <a:ln w="12700">
            <a:solidFill>
              <a:srgbClr val="38BDF8"/>
            </a:solidFill>
            <a:prstDash val="solid"/>
          </a:ln>
        </p:spPr>
        <p:txBody>
          <a:bodyPr/>
          <a:lstStyle/>
          <a:p>
            <a:endParaRPr lang="en-US"/>
          </a:p>
        </p:txBody>
      </p:sp>
      <p:sp>
        <p:nvSpPr>
          <p:cNvPr id="21" name="Text 19"/>
          <p:cNvSpPr/>
          <p:nvPr/>
        </p:nvSpPr>
        <p:spPr>
          <a:xfrm>
            <a:off x="804672" y="3611880"/>
            <a:ext cx="10588752" cy="237744"/>
          </a:xfrm>
          <a:prstGeom prst="rect">
            <a:avLst/>
          </a:prstGeom>
          <a:noFill/>
          <a:ln/>
        </p:spPr>
        <p:txBody>
          <a:bodyPr wrap="square" lIns="0" tIns="0" rIns="0" bIns="0" rtlCol="0" anchor="ctr"/>
          <a:lstStyle/>
          <a:p>
            <a:pPr marL="0" indent="0">
              <a:buNone/>
            </a:pPr>
            <a:r>
              <a:rPr lang="en-US" sz="1000" b="1" kern="0" spc="120" dirty="0">
                <a:solidFill>
                  <a:srgbClr val="38BDF8"/>
                </a:solidFill>
                <a:latin typeface="Arial" pitchFamily="34" charset="0"/>
                <a:ea typeface="Arial" pitchFamily="34" charset="-122"/>
                <a:cs typeface="Arial" pitchFamily="34" charset="-120"/>
              </a:rPr>
              <a:t>WHY THE COMPLAINT ABOVE WENT TO THE MORTGAGE TEAM</a:t>
            </a:r>
            <a:endParaRPr lang="en-US" sz="1000" dirty="0"/>
          </a:p>
        </p:txBody>
      </p:sp>
      <p:sp>
        <p:nvSpPr>
          <p:cNvPr id="22" name="Text 20"/>
          <p:cNvSpPr/>
          <p:nvPr/>
        </p:nvSpPr>
        <p:spPr>
          <a:xfrm>
            <a:off x="804672" y="3877056"/>
            <a:ext cx="10588752" cy="329184"/>
          </a:xfrm>
          <a:prstGeom prst="rect">
            <a:avLst/>
          </a:prstGeom>
          <a:noFill/>
          <a:ln/>
        </p:spPr>
        <p:txBody>
          <a:bodyPr wrap="square" lIns="0" tIns="0" rIns="0" bIns="0" rtlCol="0" anchor="ctr"/>
          <a:lstStyle/>
          <a:p>
            <a:pPr marL="0" indent="0">
              <a:buNone/>
            </a:pPr>
            <a:r>
              <a:rPr lang="en-US" sz="1900" b="1" dirty="0">
                <a:solidFill>
                  <a:srgbClr val="F2F4F8"/>
                </a:solidFill>
                <a:latin typeface="Arial" pitchFamily="34" charset="0"/>
                <a:ea typeface="Arial" pitchFamily="34" charset="-122"/>
                <a:cs typeface="Arial" pitchFamily="34" charset="-120"/>
              </a:rPr>
              <a:t>mortgage   ·   loan   ·   foreclosure   ·   modification   ·   equity</a:t>
            </a:r>
            <a:endParaRPr lang="en-US" sz="1900" dirty="0"/>
          </a:p>
        </p:txBody>
      </p:sp>
      <p:sp>
        <p:nvSpPr>
          <p:cNvPr id="23" name="Text 21"/>
          <p:cNvSpPr/>
          <p:nvPr/>
        </p:nvSpPr>
        <p:spPr>
          <a:xfrm>
            <a:off x="804672" y="4261104"/>
            <a:ext cx="10588752" cy="274320"/>
          </a:xfrm>
          <a:prstGeom prst="rect">
            <a:avLst/>
          </a:prstGeom>
          <a:noFill/>
          <a:ln/>
        </p:spPr>
        <p:txBody>
          <a:bodyPr wrap="square" lIns="0" tIns="0" rIns="0" bIns="0" rtlCol="0" anchor="ctr"/>
          <a:lstStyle/>
          <a:p>
            <a:pPr marL="0" indent="0">
              <a:buNone/>
            </a:pPr>
            <a:r>
              <a:rPr lang="en-US" sz="1250" dirty="0">
                <a:solidFill>
                  <a:srgbClr val="AAB2C0"/>
                </a:solidFill>
                <a:latin typeface="Arial" pitchFamily="34" charset="0"/>
                <a:ea typeface="Arial" pitchFamily="34" charset="-122"/>
                <a:cs typeface="Arial" pitchFamily="34" charset="-120"/>
              </a:rPr>
              <a:t>The highest-weighted words in that complaint for that team. The explanation is not a second system bolted on afterward — the explanation is the model.</a:t>
            </a:r>
            <a:endParaRPr lang="en-US" sz="1250" dirty="0"/>
          </a:p>
        </p:txBody>
      </p:sp>
      <p:sp>
        <p:nvSpPr>
          <p:cNvPr id="24" name="Shape 22"/>
          <p:cNvSpPr/>
          <p:nvPr/>
        </p:nvSpPr>
        <p:spPr>
          <a:xfrm>
            <a:off x="566928" y="4800600"/>
            <a:ext cx="11064240" cy="960120"/>
          </a:xfrm>
          <a:prstGeom prst="roundRect">
            <a:avLst>
              <a:gd name="adj" fmla="val 7619"/>
            </a:avLst>
          </a:prstGeom>
          <a:solidFill>
            <a:srgbClr val="10241A"/>
          </a:solidFill>
          <a:ln w="12700">
            <a:solidFill>
              <a:srgbClr val="4ADE80"/>
            </a:solidFill>
            <a:prstDash val="solid"/>
          </a:ln>
        </p:spPr>
        <p:txBody>
          <a:bodyPr/>
          <a:lstStyle/>
          <a:p>
            <a:endParaRPr lang="en-US"/>
          </a:p>
        </p:txBody>
      </p:sp>
      <p:sp>
        <p:nvSpPr>
          <p:cNvPr id="25" name="Text 23"/>
          <p:cNvSpPr/>
          <p:nvPr/>
        </p:nvSpPr>
        <p:spPr>
          <a:xfrm>
            <a:off x="786384" y="4910328"/>
            <a:ext cx="10625328" cy="274320"/>
          </a:xfrm>
          <a:prstGeom prst="rect">
            <a:avLst/>
          </a:prstGeom>
          <a:noFill/>
          <a:ln/>
        </p:spPr>
        <p:txBody>
          <a:bodyPr wrap="square" lIns="0" tIns="0" rIns="0" bIns="0" rtlCol="0" anchor="ctr"/>
          <a:lstStyle/>
          <a:p>
            <a:pPr marL="0" indent="0">
              <a:buNone/>
            </a:pPr>
            <a:r>
              <a:rPr lang="en-US" sz="1600" b="1" dirty="0">
                <a:solidFill>
                  <a:srgbClr val="4ADE80"/>
                </a:solidFill>
                <a:latin typeface="Arial" pitchFamily="34" charset="0"/>
                <a:ea typeface="Arial" pitchFamily="34" charset="-122"/>
                <a:cs typeface="Arial" pitchFamily="34" charset="-120"/>
              </a:rPr>
              <a:t>This is the model the bank actually deploys</a:t>
            </a:r>
            <a:endParaRPr lang="en-US" sz="1600" dirty="0"/>
          </a:p>
        </p:txBody>
      </p:sp>
      <p:sp>
        <p:nvSpPr>
          <p:cNvPr id="26" name="Text 24"/>
          <p:cNvSpPr/>
          <p:nvPr/>
        </p:nvSpPr>
        <p:spPr>
          <a:xfrm>
            <a:off x="786384" y="5248656"/>
            <a:ext cx="10625328" cy="43891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Fast laptop training, offline inference, and visible routing words. The transformer is a comparison, not a replacement.</a:t>
            </a:r>
            <a:endParaRPr lang="en-US" sz="1500" dirty="0"/>
          </a:p>
        </p:txBody>
      </p:sp>
      <p:sp>
        <p:nvSpPr>
          <p:cNvPr id="27" name="Text 25"/>
          <p:cNvSpPr/>
          <p:nvPr/>
        </p:nvSpPr>
        <p:spPr>
          <a:xfrm>
            <a:off x="566928" y="589788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Method: TF-IDF word and word-pair features, then logistic regression — the same classifier used in the transformer comparison.</a:t>
            </a:r>
            <a:endParaRPr lang="en-US" sz="1100" dirty="0"/>
          </a:p>
        </p:txBody>
      </p:sp>
      <p:sp>
        <p:nvSpPr>
          <p:cNvPr id="28" name="Text 26"/>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29" name="Text 27"/>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TOKENS, ATTENTION, AND EMBEDDINGS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Way two: the transformer</a:t>
            </a:r>
            <a:endParaRPr lang="en-US" sz="2800" dirty="0"/>
          </a:p>
        </p:txBody>
      </p:sp>
      <p:sp>
        <p:nvSpPr>
          <p:cNvPr id="4" name="Text 2"/>
          <p:cNvSpPr/>
          <p:nvPr/>
        </p:nvSpPr>
        <p:spPr>
          <a:xfrm>
            <a:off x="566928" y="1216152"/>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Counting words treats “the bank charged me a late fee” and “a late fee charged me the bank” as identical. A transformer reads each word in the company of every other word.</a:t>
            </a:r>
            <a:endParaRPr lang="en-US" sz="1700" dirty="0"/>
          </a:p>
        </p:txBody>
      </p:sp>
      <p:sp>
        <p:nvSpPr>
          <p:cNvPr id="5" name="Shape 3"/>
          <p:cNvSpPr/>
          <p:nvPr/>
        </p:nvSpPr>
        <p:spPr>
          <a:xfrm>
            <a:off x="566928" y="1965960"/>
            <a:ext cx="2532888" cy="1280160"/>
          </a:xfrm>
          <a:prstGeom prst="roundRect">
            <a:avLst>
              <a:gd name="adj" fmla="val 5714"/>
            </a:avLst>
          </a:prstGeom>
          <a:solidFill>
            <a:srgbClr val="171A22"/>
          </a:solidFill>
          <a:ln w="12700">
            <a:solidFill>
              <a:srgbClr val="22D3EE"/>
            </a:solidFill>
            <a:prstDash val="solid"/>
          </a:ln>
        </p:spPr>
        <p:txBody>
          <a:bodyPr/>
          <a:lstStyle/>
          <a:p>
            <a:endParaRPr lang="en-US"/>
          </a:p>
        </p:txBody>
      </p:sp>
      <p:sp>
        <p:nvSpPr>
          <p:cNvPr id="6" name="Text 4"/>
          <p:cNvSpPr/>
          <p:nvPr/>
        </p:nvSpPr>
        <p:spPr>
          <a:xfrm>
            <a:off x="676656" y="2084832"/>
            <a:ext cx="2313432" cy="393192"/>
          </a:xfrm>
          <a:prstGeom prst="rect">
            <a:avLst/>
          </a:prstGeom>
          <a:noFill/>
          <a:ln/>
        </p:spPr>
        <p:txBody>
          <a:bodyPr wrap="square" lIns="0" tIns="0" rIns="0" bIns="0" rtlCol="0" anchor="ctr"/>
          <a:lstStyle/>
          <a:p>
            <a:pPr marL="0" indent="0" algn="ctr">
              <a:buNone/>
            </a:pPr>
            <a:r>
              <a:rPr lang="en-US" sz="1500" b="1" dirty="0">
                <a:solidFill>
                  <a:srgbClr val="22D3EE"/>
                </a:solidFill>
                <a:latin typeface="Arial" pitchFamily="34" charset="0"/>
                <a:ea typeface="Arial" pitchFamily="34" charset="-122"/>
                <a:cs typeface="Arial" pitchFamily="34" charset="-120"/>
              </a:rPr>
              <a:t>Tokens</a:t>
            </a:r>
            <a:endParaRPr lang="en-US" sz="1500" dirty="0"/>
          </a:p>
        </p:txBody>
      </p:sp>
      <p:sp>
        <p:nvSpPr>
          <p:cNvPr id="7" name="Text 5"/>
          <p:cNvSpPr/>
          <p:nvPr/>
        </p:nvSpPr>
        <p:spPr>
          <a:xfrm>
            <a:off x="694944" y="2551176"/>
            <a:ext cx="2276856" cy="58521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Split text into known word pieces.</a:t>
            </a:r>
            <a:endParaRPr lang="en-US" sz="1400" dirty="0"/>
          </a:p>
        </p:txBody>
      </p:sp>
      <p:sp>
        <p:nvSpPr>
          <p:cNvPr id="8" name="Text 6"/>
          <p:cNvSpPr/>
          <p:nvPr/>
        </p:nvSpPr>
        <p:spPr>
          <a:xfrm>
            <a:off x="3099816" y="1965960"/>
            <a:ext cx="310896" cy="128016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3410712" y="1965960"/>
            <a:ext cx="2532888" cy="1280160"/>
          </a:xfrm>
          <a:prstGeom prst="roundRect">
            <a:avLst>
              <a:gd name="adj" fmla="val 5714"/>
            </a:avLst>
          </a:prstGeom>
          <a:solidFill>
            <a:srgbClr val="171A22"/>
          </a:solidFill>
          <a:ln w="12700">
            <a:solidFill>
              <a:srgbClr val="38BDF8"/>
            </a:solidFill>
            <a:prstDash val="solid"/>
          </a:ln>
        </p:spPr>
        <p:txBody>
          <a:bodyPr/>
          <a:lstStyle/>
          <a:p>
            <a:endParaRPr lang="en-US"/>
          </a:p>
        </p:txBody>
      </p:sp>
      <p:sp>
        <p:nvSpPr>
          <p:cNvPr id="10" name="Text 8"/>
          <p:cNvSpPr/>
          <p:nvPr/>
        </p:nvSpPr>
        <p:spPr>
          <a:xfrm>
            <a:off x="3520440" y="2084832"/>
            <a:ext cx="2313432" cy="393192"/>
          </a:xfrm>
          <a:prstGeom prst="rect">
            <a:avLst/>
          </a:prstGeom>
          <a:noFill/>
          <a:ln/>
        </p:spPr>
        <p:txBody>
          <a:bodyPr wrap="square" lIns="0" tIns="0" rIns="0" bIns="0" rtlCol="0" anchor="ctr"/>
          <a:lstStyle/>
          <a:p>
            <a:pPr marL="0" indent="0" algn="ctr">
              <a:buNone/>
            </a:pPr>
            <a:r>
              <a:rPr lang="en-US" sz="1500" b="1" dirty="0">
                <a:solidFill>
                  <a:srgbClr val="38BDF8"/>
                </a:solidFill>
                <a:latin typeface="Arial" pitchFamily="34" charset="0"/>
                <a:ea typeface="Arial" pitchFamily="34" charset="-122"/>
                <a:cs typeface="Arial" pitchFamily="34" charset="-120"/>
              </a:rPr>
              <a:t>Attention</a:t>
            </a:r>
            <a:endParaRPr lang="en-US" sz="1500" dirty="0"/>
          </a:p>
        </p:txBody>
      </p:sp>
      <p:sp>
        <p:nvSpPr>
          <p:cNvPr id="11" name="Text 9"/>
          <p:cNvSpPr/>
          <p:nvPr/>
        </p:nvSpPr>
        <p:spPr>
          <a:xfrm>
            <a:off x="3538728" y="2551176"/>
            <a:ext cx="2276856" cy="58521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Use surrounding pieces to represent context.</a:t>
            </a:r>
            <a:endParaRPr lang="en-US" sz="1400" dirty="0"/>
          </a:p>
        </p:txBody>
      </p:sp>
      <p:sp>
        <p:nvSpPr>
          <p:cNvPr id="12" name="Text 10"/>
          <p:cNvSpPr/>
          <p:nvPr/>
        </p:nvSpPr>
        <p:spPr>
          <a:xfrm>
            <a:off x="5943600" y="1965960"/>
            <a:ext cx="310896" cy="128016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6254496" y="1965960"/>
            <a:ext cx="2532888" cy="1280160"/>
          </a:xfrm>
          <a:prstGeom prst="roundRect">
            <a:avLst>
              <a:gd name="adj" fmla="val 5714"/>
            </a:avLst>
          </a:prstGeom>
          <a:solidFill>
            <a:srgbClr val="171A22"/>
          </a:solidFill>
          <a:ln w="12700">
            <a:solidFill>
              <a:srgbClr val="818CF8"/>
            </a:solidFill>
            <a:prstDash val="solid"/>
          </a:ln>
        </p:spPr>
        <p:txBody>
          <a:bodyPr/>
          <a:lstStyle/>
          <a:p>
            <a:endParaRPr lang="en-US"/>
          </a:p>
        </p:txBody>
      </p:sp>
      <p:sp>
        <p:nvSpPr>
          <p:cNvPr id="14" name="Text 12"/>
          <p:cNvSpPr/>
          <p:nvPr/>
        </p:nvSpPr>
        <p:spPr>
          <a:xfrm>
            <a:off x="6364224" y="2084832"/>
            <a:ext cx="2313432" cy="393192"/>
          </a:xfrm>
          <a:prstGeom prst="rect">
            <a:avLst/>
          </a:prstGeom>
          <a:noFill/>
          <a:ln/>
        </p:spPr>
        <p:txBody>
          <a:bodyPr wrap="square" lIns="0" tIns="0" rIns="0" bIns="0" rtlCol="0" anchor="ctr"/>
          <a:lstStyle/>
          <a:p>
            <a:pPr marL="0" indent="0" algn="ctr">
              <a:buNone/>
            </a:pPr>
            <a:r>
              <a:rPr lang="en-US" sz="1500" b="1" dirty="0">
                <a:solidFill>
                  <a:srgbClr val="818CF8"/>
                </a:solidFill>
                <a:latin typeface="Arial" pitchFamily="34" charset="0"/>
                <a:ea typeface="Arial" pitchFamily="34" charset="-122"/>
                <a:cs typeface="Arial" pitchFamily="34" charset="-120"/>
              </a:rPr>
              <a:t>Embedding</a:t>
            </a:r>
            <a:endParaRPr lang="en-US" sz="1500" dirty="0"/>
          </a:p>
        </p:txBody>
      </p:sp>
      <p:sp>
        <p:nvSpPr>
          <p:cNvPr id="15" name="Text 13"/>
          <p:cNvSpPr/>
          <p:nvPr/>
        </p:nvSpPr>
        <p:spPr>
          <a:xfrm>
            <a:off x="6382512" y="2551176"/>
            <a:ext cx="2276856" cy="58521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Represent the complaint as 384 numbers.</a:t>
            </a:r>
            <a:endParaRPr lang="en-US" sz="1400" dirty="0"/>
          </a:p>
        </p:txBody>
      </p:sp>
      <p:sp>
        <p:nvSpPr>
          <p:cNvPr id="16" name="Text 14"/>
          <p:cNvSpPr/>
          <p:nvPr/>
        </p:nvSpPr>
        <p:spPr>
          <a:xfrm>
            <a:off x="8787384" y="1965960"/>
            <a:ext cx="310896" cy="128016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098280" y="1965960"/>
            <a:ext cx="2532888" cy="1280160"/>
          </a:xfrm>
          <a:prstGeom prst="roundRect">
            <a:avLst>
              <a:gd name="adj" fmla="val 5714"/>
            </a:avLst>
          </a:prstGeom>
          <a:solidFill>
            <a:srgbClr val="171A22"/>
          </a:solidFill>
          <a:ln w="12700">
            <a:solidFill>
              <a:srgbClr val="4ADE80"/>
            </a:solidFill>
            <a:prstDash val="solid"/>
          </a:ln>
        </p:spPr>
        <p:txBody>
          <a:bodyPr/>
          <a:lstStyle/>
          <a:p>
            <a:endParaRPr lang="en-US"/>
          </a:p>
        </p:txBody>
      </p:sp>
      <p:sp>
        <p:nvSpPr>
          <p:cNvPr id="18" name="Text 16"/>
          <p:cNvSpPr/>
          <p:nvPr/>
        </p:nvSpPr>
        <p:spPr>
          <a:xfrm>
            <a:off x="9208008" y="2084832"/>
            <a:ext cx="2313432" cy="393192"/>
          </a:xfrm>
          <a:prstGeom prst="rect">
            <a:avLst/>
          </a:prstGeom>
          <a:noFill/>
          <a:ln/>
        </p:spPr>
        <p:txBody>
          <a:bodyPr wrap="square" lIns="0" tIns="0" rIns="0" bIns="0" rtlCol="0" anchor="ctr"/>
          <a:lstStyle/>
          <a:p>
            <a:pPr marL="0" indent="0" algn="ctr">
              <a:buNone/>
            </a:pPr>
            <a:r>
              <a:rPr lang="en-US" sz="1500" b="1" dirty="0">
                <a:solidFill>
                  <a:srgbClr val="4ADE80"/>
                </a:solidFill>
                <a:latin typeface="Arial" pitchFamily="34" charset="0"/>
                <a:ea typeface="Arial" pitchFamily="34" charset="-122"/>
                <a:cs typeface="Arial" pitchFamily="34" charset="-120"/>
              </a:rPr>
              <a:t>Same classifier</a:t>
            </a:r>
            <a:endParaRPr lang="en-US" sz="1500" dirty="0"/>
          </a:p>
        </p:txBody>
      </p:sp>
      <p:sp>
        <p:nvSpPr>
          <p:cNvPr id="19" name="Text 17"/>
          <p:cNvSpPr/>
          <p:nvPr/>
        </p:nvSpPr>
        <p:spPr>
          <a:xfrm>
            <a:off x="9226296" y="2551176"/>
            <a:ext cx="2276856" cy="585216"/>
          </a:xfrm>
          <a:prstGeom prst="rect">
            <a:avLst/>
          </a:prstGeom>
          <a:noFill/>
          <a:ln/>
        </p:spPr>
        <p:txBody>
          <a:bodyPr wrap="square" lIns="0" tIns="0" rIns="0" bIns="0" rtlCol="0" anchor="t"/>
          <a:lstStyle/>
          <a:p>
            <a:pPr marL="0" indent="0" algn="ctr">
              <a:buNone/>
            </a:pPr>
            <a:r>
              <a:rPr lang="en-US" sz="1400" dirty="0">
                <a:solidFill>
                  <a:srgbClr val="AAB2C0"/>
                </a:solidFill>
                <a:latin typeface="Arial" pitchFamily="34" charset="0"/>
                <a:ea typeface="Arial" pitchFamily="34" charset="-122"/>
                <a:cs typeface="Arial" pitchFamily="34" charset="-120"/>
              </a:rPr>
              <a:t>Use the identical logistic regression.</a:t>
            </a:r>
            <a:endParaRPr lang="en-US" sz="1400" dirty="0"/>
          </a:p>
        </p:txBody>
      </p:sp>
      <p:sp>
        <p:nvSpPr>
          <p:cNvPr id="20" name="Shape 18"/>
          <p:cNvSpPr/>
          <p:nvPr/>
        </p:nvSpPr>
        <p:spPr>
          <a:xfrm>
            <a:off x="566928" y="3401568"/>
            <a:ext cx="11064240" cy="1371600"/>
          </a:xfrm>
          <a:prstGeom prst="roundRect">
            <a:avLst>
              <a:gd name="adj" fmla="val 5333"/>
            </a:avLst>
          </a:prstGeom>
          <a:solidFill>
            <a:srgbClr val="1C2029"/>
          </a:solidFill>
          <a:ln w="12700">
            <a:solidFill>
              <a:srgbClr val="818CF8"/>
            </a:solidFill>
            <a:prstDash val="solid"/>
          </a:ln>
        </p:spPr>
        <p:txBody>
          <a:bodyPr/>
          <a:lstStyle/>
          <a:p>
            <a:endParaRPr lang="en-US"/>
          </a:p>
        </p:txBody>
      </p:sp>
      <p:sp>
        <p:nvSpPr>
          <p:cNvPr id="21" name="Text 19"/>
          <p:cNvSpPr/>
          <p:nvPr/>
        </p:nvSpPr>
        <p:spPr>
          <a:xfrm>
            <a:off x="804672" y="3520440"/>
            <a:ext cx="10588752" cy="237744"/>
          </a:xfrm>
          <a:prstGeom prst="rect">
            <a:avLst/>
          </a:prstGeom>
          <a:noFill/>
          <a:ln/>
        </p:spPr>
        <p:txBody>
          <a:bodyPr wrap="square" lIns="0" tIns="0" rIns="0" bIns="0" rtlCol="0" anchor="ctr"/>
          <a:lstStyle/>
          <a:p>
            <a:pPr marL="0" indent="0">
              <a:buNone/>
            </a:pPr>
            <a:r>
              <a:rPr lang="en-US" sz="1200" b="1" dirty="0">
                <a:solidFill>
                  <a:srgbClr val="818CF8"/>
                </a:solidFill>
                <a:latin typeface="Arial" pitchFamily="34" charset="0"/>
                <a:ea typeface="Arial" pitchFamily="34" charset="-122"/>
                <a:cs typeface="Arial" pitchFamily="34" charset="-120"/>
              </a:rPr>
              <a:t>all-MiniLM-L6-v2 | SETTINGS READ FROM THE MODEL</a:t>
            </a:r>
            <a:endParaRPr lang="en-US" sz="1200" dirty="0"/>
          </a:p>
        </p:txBody>
      </p:sp>
      <p:sp>
        <p:nvSpPr>
          <p:cNvPr id="22" name="Text 20"/>
          <p:cNvSpPr/>
          <p:nvPr/>
        </p:nvSpPr>
        <p:spPr>
          <a:xfrm>
            <a:off x="804672" y="3803904"/>
            <a:ext cx="10588752" cy="566928"/>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6 transformer layers   ·   12 attention heads in each layer   ·   hidden size 384   ·   22,713,216 parameters   ·   reads the first 256 word pieces, then stops   ·   183.2 MB to download</a:t>
            </a:r>
            <a:endParaRPr lang="en-US" sz="1500" dirty="0"/>
          </a:p>
        </p:txBody>
      </p:sp>
      <p:sp>
        <p:nvSpPr>
          <p:cNvPr id="23" name="Text 21"/>
          <p:cNvSpPr/>
          <p:nvPr/>
        </p:nvSpPr>
        <p:spPr>
          <a:xfrm>
            <a:off x="804672" y="4425696"/>
            <a:ext cx="10588752" cy="256032"/>
          </a:xfrm>
          <a:prstGeom prst="rect">
            <a:avLst/>
          </a:prstGeom>
          <a:noFill/>
          <a:ln/>
        </p:spPr>
        <p:txBody>
          <a:bodyPr wrap="square" lIns="0" tIns="0" rIns="0" bIns="0" rtlCol="0" anchor="ctr"/>
          <a:lstStyle/>
          <a:p>
            <a:pPr marL="0" indent="0">
              <a:buNone/>
            </a:pPr>
            <a:r>
              <a:rPr lang="en-US" sz="1400" dirty="0">
                <a:solidFill>
                  <a:srgbClr val="99A5B5"/>
                </a:solidFill>
                <a:latin typeface="Arial" pitchFamily="34" charset="0"/>
                <a:ea typeface="Arial" pitchFamily="34" charset="-122"/>
                <a:cs typeface="Arial" pitchFamily="34" charset="-120"/>
              </a:rPr>
              <a:t>Runs on a classroom CPU. Embeddings are precomputed for the offline lab.</a:t>
            </a:r>
            <a:endParaRPr lang="en-US" sz="1400" dirty="0"/>
          </a:p>
        </p:txBody>
      </p:sp>
      <p:sp>
        <p:nvSpPr>
          <p:cNvPr id="24" name="Shape 22"/>
          <p:cNvSpPr/>
          <p:nvPr/>
        </p:nvSpPr>
        <p:spPr>
          <a:xfrm>
            <a:off x="566928" y="4919472"/>
            <a:ext cx="11064240" cy="960120"/>
          </a:xfrm>
          <a:prstGeom prst="roundRect">
            <a:avLst>
              <a:gd name="adj" fmla="val 7619"/>
            </a:avLst>
          </a:prstGeom>
          <a:solidFill>
            <a:srgbClr val="171A22"/>
          </a:solidFill>
          <a:ln w="12700">
            <a:solidFill>
              <a:srgbClr val="FBBF24"/>
            </a:solidFill>
            <a:prstDash val="solid"/>
          </a:ln>
        </p:spPr>
        <p:txBody>
          <a:bodyPr/>
          <a:lstStyle/>
          <a:p>
            <a:endParaRPr lang="en-US"/>
          </a:p>
        </p:txBody>
      </p:sp>
      <p:sp>
        <p:nvSpPr>
          <p:cNvPr id="25" name="Text 23"/>
          <p:cNvSpPr/>
          <p:nvPr/>
        </p:nvSpPr>
        <p:spPr>
          <a:xfrm>
            <a:off x="786384" y="5029200"/>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An embedding is a better ruler, not a better judge</a:t>
            </a:r>
            <a:endParaRPr lang="en-US" sz="1600" dirty="0"/>
          </a:p>
        </p:txBody>
      </p:sp>
      <p:sp>
        <p:nvSpPr>
          <p:cNvPr id="26" name="Text 24"/>
          <p:cNvSpPr/>
          <p:nvPr/>
        </p:nvSpPr>
        <p:spPr>
          <a:xfrm>
            <a:off x="786384" y="5367528"/>
            <a:ext cx="10625328" cy="43891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Similar meanings get similar representations. That does not establish legal judgment, complaint validity, or word-level reasons.</a:t>
            </a:r>
            <a:endParaRPr lang="en-US" sz="1500" dirty="0"/>
          </a:p>
        </p:txBody>
      </p:sp>
      <p:sp>
        <p:nvSpPr>
          <p:cNvPr id="27" name="Text 25"/>
          <p:cNvSpPr/>
          <p:nvPr/>
        </p:nvSpPr>
        <p:spPr>
          <a:xfrm>
            <a:off x="566928" y="598932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Model: sentence-transformers/all-MiniLM-L6-v2, downloaded once and cached; embeddings are precomputed so the lab needs no network.</a:t>
            </a:r>
            <a:endParaRPr lang="en-US" sz="1100" dirty="0"/>
          </a:p>
        </p:txBody>
      </p:sp>
      <p:sp>
        <p:nvSpPr>
          <p:cNvPr id="28" name="Text 26"/>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29" name="Text 27"/>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2 · THE TRADEOFF, AGAIN</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Matched comparison: explainability breaks the tie</a:t>
            </a:r>
            <a:endParaRPr lang="en-US" sz="2800" dirty="0"/>
          </a:p>
        </p:txBody>
      </p:sp>
      <p:sp>
        <p:nvSpPr>
          <p:cNvPr id="4" name="Shape 2"/>
          <p:cNvSpPr/>
          <p:nvPr/>
        </p:nvSpPr>
        <p:spPr>
          <a:xfrm>
            <a:off x="9473184" y="384048"/>
            <a:ext cx="2148840" cy="347472"/>
          </a:xfrm>
          <a:prstGeom prst="roundRect">
            <a:avLst>
              <a:gd name="adj" fmla="val 21053"/>
            </a:avLst>
          </a:prstGeom>
          <a:solidFill>
            <a:srgbClr val="2A2313"/>
          </a:solidFill>
          <a:ln w="15240">
            <a:solidFill>
              <a:srgbClr val="FBBF24"/>
            </a:solidFill>
            <a:prstDash val="solid"/>
          </a:ln>
        </p:spPr>
        <p:txBody>
          <a:bodyPr/>
          <a:lstStyle/>
          <a:p>
            <a:endParaRPr lang="en-US"/>
          </a:p>
        </p:txBody>
      </p:sp>
      <p:sp>
        <p:nvSpPr>
          <p:cNvPr id="5" name="Text 3"/>
          <p:cNvSpPr/>
          <p:nvPr/>
        </p:nvSpPr>
        <p:spPr>
          <a:xfrm>
            <a:off x="9473184" y="384048"/>
            <a:ext cx="2148840" cy="347472"/>
          </a:xfrm>
          <a:prstGeom prst="rect">
            <a:avLst/>
          </a:prstGeom>
          <a:noFill/>
          <a:ln/>
        </p:spPr>
        <p:txBody>
          <a:bodyPr wrap="square" lIns="0" tIns="0" rIns="0" bIns="0" rtlCol="0" anchor="ctr"/>
          <a:lstStyle/>
          <a:p>
            <a:pPr marL="0" indent="0" algn="ctr">
              <a:buNone/>
            </a:pPr>
            <a:r>
              <a:rPr lang="en-US" sz="1050" b="1" dirty="0">
                <a:solidFill>
                  <a:srgbClr val="FBBF24"/>
                </a:solidFill>
                <a:latin typeface="Arial" pitchFamily="34" charset="0"/>
                <a:ea typeface="Arial" pitchFamily="34" charset="-122"/>
                <a:cs typeface="Arial" pitchFamily="34" charset="-120"/>
              </a:rPr>
              <a:t>LIVE NOTEBOOK</a:t>
            </a:r>
            <a:endParaRPr lang="en-US" sz="1050" dirty="0"/>
          </a:p>
        </p:txBody>
      </p:sp>
      <p:sp>
        <p:nvSpPr>
          <p:cNvPr id="6" name="Text 4"/>
          <p:cNvSpPr/>
          <p:nvPr/>
        </p:nvSpPr>
        <p:spPr>
          <a:xfrm>
            <a:off x="566928" y="1650878"/>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15,000 training complaints; 8,728 validation complaints; identical classifier. Only the text representation changes.</a:t>
            </a:r>
            <a:endParaRPr lang="en-US" sz="1700" dirty="0"/>
          </a:p>
        </p:txBody>
      </p:sp>
      <p:sp>
        <p:nvSpPr>
          <p:cNvPr id="7" name="Shape 5"/>
          <p:cNvSpPr/>
          <p:nvPr/>
        </p:nvSpPr>
        <p:spPr>
          <a:xfrm>
            <a:off x="566928" y="2364110"/>
            <a:ext cx="5394960" cy="1609344"/>
          </a:xfrm>
          <a:prstGeom prst="roundRect">
            <a:avLst>
              <a:gd name="adj" fmla="val 4545"/>
            </a:avLst>
          </a:prstGeom>
          <a:solidFill>
            <a:srgbClr val="171A22"/>
          </a:solidFill>
          <a:ln w="17780">
            <a:solidFill>
              <a:srgbClr val="4ADE80"/>
            </a:solidFill>
            <a:prstDash val="solid"/>
          </a:ln>
        </p:spPr>
        <p:txBody>
          <a:bodyPr/>
          <a:lstStyle/>
          <a:p>
            <a:endParaRPr lang="en-US"/>
          </a:p>
        </p:txBody>
      </p:sp>
      <p:sp>
        <p:nvSpPr>
          <p:cNvPr id="8" name="Text 6"/>
          <p:cNvSpPr/>
          <p:nvPr/>
        </p:nvSpPr>
        <p:spPr>
          <a:xfrm>
            <a:off x="749808" y="2473838"/>
            <a:ext cx="5029200" cy="310896"/>
          </a:xfrm>
          <a:prstGeom prst="rect">
            <a:avLst/>
          </a:prstGeom>
          <a:noFill/>
          <a:ln/>
        </p:spPr>
        <p:txBody>
          <a:bodyPr wrap="square" lIns="0" tIns="0" rIns="0" bIns="0" rtlCol="0" anchor="ctr"/>
          <a:lstStyle/>
          <a:p>
            <a:pPr marL="0" indent="0">
              <a:buNone/>
            </a:pPr>
            <a:r>
              <a:rPr lang="en-US" sz="1400" b="1" dirty="0">
                <a:solidFill>
                  <a:srgbClr val="F2F4F8"/>
                </a:solidFill>
                <a:latin typeface="Arial" pitchFamily="34" charset="0"/>
                <a:ea typeface="Arial" pitchFamily="34" charset="-122"/>
                <a:cs typeface="Arial" pitchFamily="34" charset="-120"/>
              </a:rPr>
              <a:t>TF-IDF + logistic regression</a:t>
            </a:r>
            <a:endParaRPr lang="en-US" sz="1400" dirty="0"/>
          </a:p>
        </p:txBody>
      </p:sp>
      <p:sp>
        <p:nvSpPr>
          <p:cNvPr id="9" name="Text 7"/>
          <p:cNvSpPr/>
          <p:nvPr/>
        </p:nvSpPr>
        <p:spPr>
          <a:xfrm>
            <a:off x="749808" y="2821310"/>
            <a:ext cx="2423160" cy="201168"/>
          </a:xfrm>
          <a:prstGeom prst="rect">
            <a:avLst/>
          </a:prstGeom>
          <a:noFill/>
          <a:ln/>
        </p:spPr>
        <p:txBody>
          <a:bodyPr wrap="square" lIns="0" tIns="0" rIns="0" bIns="0" rtlCol="0" anchor="ctr"/>
          <a:lstStyle/>
          <a:p>
            <a:pPr marL="0" indent="0">
              <a:buNone/>
            </a:pPr>
            <a:r>
              <a:rPr lang="en-US" sz="1200" b="1" dirty="0">
                <a:solidFill>
                  <a:srgbClr val="4ADE80"/>
                </a:solidFill>
                <a:latin typeface="Arial" pitchFamily="34" charset="0"/>
                <a:ea typeface="Arial" pitchFamily="34" charset="-122"/>
                <a:cs typeface="Arial" pitchFamily="34" charset="-120"/>
              </a:rPr>
              <a:t>ACCURACY  ▲ AHEAD</a:t>
            </a:r>
            <a:endParaRPr lang="en-US" sz="1200" dirty="0"/>
          </a:p>
        </p:txBody>
      </p:sp>
      <p:sp>
        <p:nvSpPr>
          <p:cNvPr id="10" name="Text 8"/>
          <p:cNvSpPr/>
          <p:nvPr/>
        </p:nvSpPr>
        <p:spPr>
          <a:xfrm>
            <a:off x="749808" y="3022478"/>
            <a:ext cx="2423160" cy="384048"/>
          </a:xfrm>
          <a:prstGeom prst="rect">
            <a:avLst/>
          </a:prstGeom>
          <a:noFill/>
          <a:ln/>
        </p:spPr>
        <p:txBody>
          <a:bodyPr wrap="square" lIns="0" tIns="0" rIns="0" bIns="0" rtlCol="0" anchor="ctr"/>
          <a:lstStyle/>
          <a:p>
            <a:pPr marL="0" indent="0">
              <a:buNone/>
            </a:pPr>
            <a:r>
              <a:rPr lang="en-US" sz="2300" b="1" dirty="0">
                <a:solidFill>
                  <a:srgbClr val="4ADE80"/>
                </a:solidFill>
                <a:latin typeface="Arial" pitchFamily="34" charset="0"/>
                <a:ea typeface="Arial" pitchFamily="34" charset="-122"/>
                <a:cs typeface="Arial" pitchFamily="34" charset="-120"/>
              </a:rPr>
              <a:t>80.83%</a:t>
            </a:r>
            <a:endParaRPr lang="en-US" sz="2300" dirty="0"/>
          </a:p>
        </p:txBody>
      </p:sp>
      <p:sp>
        <p:nvSpPr>
          <p:cNvPr id="11" name="Text 9"/>
          <p:cNvSpPr/>
          <p:nvPr/>
        </p:nvSpPr>
        <p:spPr>
          <a:xfrm>
            <a:off x="3355848" y="2821310"/>
            <a:ext cx="2423160" cy="201168"/>
          </a:xfrm>
          <a:prstGeom prst="rect">
            <a:avLst/>
          </a:prstGeom>
          <a:noFill/>
          <a:ln/>
        </p:spPr>
        <p:txBody>
          <a:bodyPr wrap="square" lIns="0" tIns="0" rIns="0" bIns="0" rtlCol="0" anchor="ctr"/>
          <a:lstStyle/>
          <a:p>
            <a:pPr marL="0" indent="0">
              <a:buNone/>
            </a:pPr>
            <a:r>
              <a:rPr lang="en-US" sz="1200" b="1" dirty="0">
                <a:solidFill>
                  <a:srgbClr val="99A5B5"/>
                </a:solidFill>
                <a:latin typeface="Arial" pitchFamily="34" charset="0"/>
                <a:ea typeface="Arial" pitchFamily="34" charset="-122"/>
                <a:cs typeface="Arial" pitchFamily="34" charset="-120"/>
              </a:rPr>
              <a:t>MACRO-F1</a:t>
            </a:r>
            <a:endParaRPr lang="en-US" sz="1200" dirty="0"/>
          </a:p>
        </p:txBody>
      </p:sp>
      <p:sp>
        <p:nvSpPr>
          <p:cNvPr id="12" name="Text 10"/>
          <p:cNvSpPr/>
          <p:nvPr/>
        </p:nvSpPr>
        <p:spPr>
          <a:xfrm>
            <a:off x="3355848" y="3022478"/>
            <a:ext cx="2423160" cy="384048"/>
          </a:xfrm>
          <a:prstGeom prst="rect">
            <a:avLst/>
          </a:prstGeom>
          <a:noFill/>
          <a:ln/>
        </p:spPr>
        <p:txBody>
          <a:bodyPr wrap="square" lIns="0" tIns="0" rIns="0" bIns="0" rtlCol="0" anchor="ctr"/>
          <a:lstStyle/>
          <a:p>
            <a:pPr marL="0" indent="0">
              <a:buNone/>
            </a:pPr>
            <a:r>
              <a:rPr lang="en-US" sz="2300" b="1" dirty="0">
                <a:solidFill>
                  <a:srgbClr val="AAB2C0"/>
                </a:solidFill>
                <a:latin typeface="Arial" pitchFamily="34" charset="0"/>
                <a:ea typeface="Arial" pitchFamily="34" charset="-122"/>
                <a:cs typeface="Arial" pitchFamily="34" charset="-120"/>
              </a:rPr>
              <a:t>0.7918</a:t>
            </a:r>
            <a:endParaRPr lang="en-US" sz="2300" dirty="0"/>
          </a:p>
        </p:txBody>
      </p:sp>
      <p:sp>
        <p:nvSpPr>
          <p:cNvPr id="13" name="Text 11"/>
          <p:cNvSpPr/>
          <p:nvPr/>
        </p:nvSpPr>
        <p:spPr>
          <a:xfrm>
            <a:off x="749808" y="3424814"/>
            <a:ext cx="5029200" cy="438912"/>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7.6 s fit. Visible word-level contributions.</a:t>
            </a:r>
            <a:endParaRPr lang="en-US" sz="1400" dirty="0"/>
          </a:p>
        </p:txBody>
      </p:sp>
      <p:sp>
        <p:nvSpPr>
          <p:cNvPr id="14" name="Shape 12"/>
          <p:cNvSpPr/>
          <p:nvPr/>
        </p:nvSpPr>
        <p:spPr>
          <a:xfrm>
            <a:off x="6236208" y="2364110"/>
            <a:ext cx="5394960" cy="1609344"/>
          </a:xfrm>
          <a:prstGeom prst="roundRect">
            <a:avLst>
              <a:gd name="adj" fmla="val 4545"/>
            </a:avLst>
          </a:prstGeom>
          <a:solidFill>
            <a:srgbClr val="171A22"/>
          </a:solidFill>
          <a:ln w="17780">
            <a:solidFill>
              <a:srgbClr val="818CF8"/>
            </a:solidFill>
            <a:prstDash val="solid"/>
          </a:ln>
        </p:spPr>
        <p:txBody>
          <a:bodyPr/>
          <a:lstStyle/>
          <a:p>
            <a:endParaRPr lang="en-US"/>
          </a:p>
        </p:txBody>
      </p:sp>
      <p:sp>
        <p:nvSpPr>
          <p:cNvPr id="15" name="Text 13"/>
          <p:cNvSpPr/>
          <p:nvPr/>
        </p:nvSpPr>
        <p:spPr>
          <a:xfrm>
            <a:off x="6419088" y="2473838"/>
            <a:ext cx="5029200" cy="310896"/>
          </a:xfrm>
          <a:prstGeom prst="rect">
            <a:avLst/>
          </a:prstGeom>
          <a:noFill/>
          <a:ln/>
        </p:spPr>
        <p:txBody>
          <a:bodyPr wrap="square" lIns="0" tIns="0" rIns="0" bIns="0" rtlCol="0" anchor="ctr"/>
          <a:lstStyle/>
          <a:p>
            <a:pPr marL="0" indent="0">
              <a:buNone/>
            </a:pPr>
            <a:r>
              <a:rPr lang="en-US" sz="1400" b="1" dirty="0">
                <a:solidFill>
                  <a:srgbClr val="F2F4F8"/>
                </a:solidFill>
                <a:latin typeface="Arial" pitchFamily="34" charset="0"/>
                <a:ea typeface="Arial" pitchFamily="34" charset="-122"/>
                <a:cs typeface="Arial" pitchFamily="34" charset="-120"/>
              </a:rPr>
              <a:t>MiniLM + the same classifier</a:t>
            </a:r>
            <a:endParaRPr lang="en-US" sz="1400" dirty="0"/>
          </a:p>
        </p:txBody>
      </p:sp>
      <p:sp>
        <p:nvSpPr>
          <p:cNvPr id="16" name="Text 14"/>
          <p:cNvSpPr/>
          <p:nvPr/>
        </p:nvSpPr>
        <p:spPr>
          <a:xfrm>
            <a:off x="6419088" y="2821310"/>
            <a:ext cx="2423160" cy="201168"/>
          </a:xfrm>
          <a:prstGeom prst="rect">
            <a:avLst/>
          </a:prstGeom>
          <a:noFill/>
          <a:ln/>
        </p:spPr>
        <p:txBody>
          <a:bodyPr wrap="square" lIns="0" tIns="0" rIns="0" bIns="0" rtlCol="0" anchor="ctr"/>
          <a:lstStyle/>
          <a:p>
            <a:pPr marL="0" indent="0">
              <a:buNone/>
            </a:pPr>
            <a:r>
              <a:rPr lang="en-US" sz="1200" b="1" dirty="0">
                <a:solidFill>
                  <a:srgbClr val="99A5B5"/>
                </a:solidFill>
                <a:latin typeface="Arial" pitchFamily="34" charset="0"/>
                <a:ea typeface="Arial" pitchFamily="34" charset="-122"/>
                <a:cs typeface="Arial" pitchFamily="34" charset="-120"/>
              </a:rPr>
              <a:t>ACCURACY</a:t>
            </a:r>
            <a:endParaRPr lang="en-US" sz="1200" dirty="0"/>
          </a:p>
        </p:txBody>
      </p:sp>
      <p:sp>
        <p:nvSpPr>
          <p:cNvPr id="17" name="Text 15"/>
          <p:cNvSpPr/>
          <p:nvPr/>
        </p:nvSpPr>
        <p:spPr>
          <a:xfrm>
            <a:off x="6419088" y="3022478"/>
            <a:ext cx="2423160" cy="384048"/>
          </a:xfrm>
          <a:prstGeom prst="rect">
            <a:avLst/>
          </a:prstGeom>
          <a:noFill/>
          <a:ln/>
        </p:spPr>
        <p:txBody>
          <a:bodyPr wrap="square" lIns="0" tIns="0" rIns="0" bIns="0" rtlCol="0" anchor="ctr"/>
          <a:lstStyle/>
          <a:p>
            <a:pPr marL="0" indent="0">
              <a:buNone/>
            </a:pPr>
            <a:r>
              <a:rPr lang="en-US" sz="2300" b="1" dirty="0">
                <a:solidFill>
                  <a:srgbClr val="AAB2C0"/>
                </a:solidFill>
                <a:latin typeface="Arial" pitchFamily="34" charset="0"/>
                <a:ea typeface="Arial" pitchFamily="34" charset="-122"/>
                <a:cs typeface="Arial" pitchFamily="34" charset="-120"/>
              </a:rPr>
              <a:t>80.48%</a:t>
            </a:r>
            <a:endParaRPr lang="en-US" sz="2300" dirty="0"/>
          </a:p>
        </p:txBody>
      </p:sp>
      <p:sp>
        <p:nvSpPr>
          <p:cNvPr id="18" name="Text 16"/>
          <p:cNvSpPr/>
          <p:nvPr/>
        </p:nvSpPr>
        <p:spPr>
          <a:xfrm>
            <a:off x="9025128" y="2821310"/>
            <a:ext cx="2423160" cy="201168"/>
          </a:xfrm>
          <a:prstGeom prst="rect">
            <a:avLst/>
          </a:prstGeom>
          <a:noFill/>
          <a:ln/>
        </p:spPr>
        <p:txBody>
          <a:bodyPr wrap="square" lIns="0" tIns="0" rIns="0" bIns="0" rtlCol="0" anchor="ctr"/>
          <a:lstStyle/>
          <a:p>
            <a:pPr marL="0" indent="0">
              <a:buNone/>
            </a:pPr>
            <a:r>
              <a:rPr lang="en-US" sz="1200" b="1" dirty="0">
                <a:solidFill>
                  <a:srgbClr val="818CF8"/>
                </a:solidFill>
                <a:latin typeface="Arial" pitchFamily="34" charset="0"/>
                <a:ea typeface="Arial" pitchFamily="34" charset="-122"/>
                <a:cs typeface="Arial" pitchFamily="34" charset="-120"/>
              </a:rPr>
              <a:t>MACRO-F1  ▲ AHEAD</a:t>
            </a:r>
            <a:endParaRPr lang="en-US" sz="1200" dirty="0"/>
          </a:p>
        </p:txBody>
      </p:sp>
      <p:sp>
        <p:nvSpPr>
          <p:cNvPr id="19" name="Text 17"/>
          <p:cNvSpPr/>
          <p:nvPr/>
        </p:nvSpPr>
        <p:spPr>
          <a:xfrm>
            <a:off x="9025128" y="3022478"/>
            <a:ext cx="2423160" cy="384048"/>
          </a:xfrm>
          <a:prstGeom prst="rect">
            <a:avLst/>
          </a:prstGeom>
          <a:noFill/>
          <a:ln/>
        </p:spPr>
        <p:txBody>
          <a:bodyPr wrap="square" lIns="0" tIns="0" rIns="0" bIns="0" rtlCol="0" anchor="ctr"/>
          <a:lstStyle/>
          <a:p>
            <a:pPr marL="0" indent="0">
              <a:buNone/>
            </a:pPr>
            <a:r>
              <a:rPr lang="en-US" sz="2300" b="1" dirty="0">
                <a:solidFill>
                  <a:srgbClr val="818CF8"/>
                </a:solidFill>
                <a:latin typeface="Arial" pitchFamily="34" charset="0"/>
                <a:ea typeface="Arial" pitchFamily="34" charset="-122"/>
                <a:cs typeface="Arial" pitchFamily="34" charset="-120"/>
              </a:rPr>
              <a:t>0.7957</a:t>
            </a:r>
            <a:endParaRPr lang="en-US" sz="2300" dirty="0"/>
          </a:p>
        </p:txBody>
      </p:sp>
      <p:sp>
        <p:nvSpPr>
          <p:cNvPr id="20" name="Text 18"/>
          <p:cNvSpPr/>
          <p:nvPr/>
        </p:nvSpPr>
        <p:spPr>
          <a:xfrm>
            <a:off x="6419088" y="3424814"/>
            <a:ext cx="5029200" cy="438912"/>
          </a:xfrm>
          <a:prstGeom prst="rect">
            <a:avLst/>
          </a:prstGeom>
          <a:noFill/>
          <a:ln/>
        </p:spPr>
        <p:txBody>
          <a:bodyPr wrap="square" lIns="0" tIns="0" rIns="0" bIns="0" rtlCol="0" anchor="t"/>
          <a:lstStyle/>
          <a:p>
            <a:pPr marL="0" indent="0">
              <a:buNone/>
            </a:pPr>
            <a:r>
              <a:rPr lang="en-US" sz="1400" dirty="0">
                <a:solidFill>
                  <a:srgbClr val="AAB2C0"/>
                </a:solidFill>
                <a:latin typeface="Arial" pitchFamily="34" charset="0"/>
                <a:ea typeface="Arial" pitchFamily="34" charset="-122"/>
                <a:cs typeface="Arial" pitchFamily="34" charset="-120"/>
              </a:rPr>
              <a:t>1.1 s fit, excluding encoding and the 183.2 MB download.</a:t>
            </a:r>
            <a:endParaRPr lang="en-US" sz="1400" dirty="0"/>
          </a:p>
        </p:txBody>
      </p:sp>
      <p:sp>
        <p:nvSpPr>
          <p:cNvPr id="21" name="Shape 19"/>
          <p:cNvSpPr/>
          <p:nvPr/>
        </p:nvSpPr>
        <p:spPr>
          <a:xfrm>
            <a:off x="566928" y="4356730"/>
            <a:ext cx="11064240" cy="1024128"/>
          </a:xfrm>
          <a:prstGeom prst="roundRect">
            <a:avLst>
              <a:gd name="adj" fmla="val 7143"/>
            </a:avLst>
          </a:prstGeom>
          <a:solidFill>
            <a:srgbClr val="2A2313"/>
          </a:solidFill>
          <a:ln w="12700">
            <a:solidFill>
              <a:srgbClr val="FBBF24"/>
            </a:solidFill>
            <a:prstDash val="solid"/>
          </a:ln>
        </p:spPr>
        <p:txBody>
          <a:bodyPr/>
          <a:lstStyle/>
          <a:p>
            <a:endParaRPr lang="en-US"/>
          </a:p>
        </p:txBody>
      </p:sp>
      <p:sp>
        <p:nvSpPr>
          <p:cNvPr id="22" name="Text 20"/>
          <p:cNvSpPr/>
          <p:nvPr/>
        </p:nvSpPr>
        <p:spPr>
          <a:xfrm>
            <a:off x="786384" y="446645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A representation trade, not an upgrade</a:t>
            </a:r>
            <a:endParaRPr lang="en-US" sz="1600" dirty="0"/>
          </a:p>
        </p:txBody>
      </p:sp>
      <p:sp>
        <p:nvSpPr>
          <p:cNvPr id="23" name="Text 21"/>
          <p:cNvSpPr/>
          <p:nvPr/>
        </p:nvSpPr>
        <p:spPr>
          <a:xfrm>
            <a:off x="786384" y="4804786"/>
            <a:ext cx="10625328" cy="502920"/>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Word counts lead accuracy by 0.35 percentage points; embeddings lead macro-F1 by 0.0039. Visible reasons and offline simplicity decide the choice.</a:t>
            </a:r>
            <a:endParaRPr lang="en-US" sz="1500" dirty="0"/>
          </a:p>
        </p:txBody>
      </p:sp>
      <p:sp>
        <p:nvSpPr>
          <p:cNvPr id="30" name="Text 28"/>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Case 2: complaint routing</a:t>
            </a:r>
            <a:endParaRPr lang="en-US" sz="1000" dirty="0"/>
          </a:p>
        </p:txBody>
      </p:sp>
      <p:sp>
        <p:nvSpPr>
          <p:cNvPr id="31" name="Text 29"/>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APPLIED AI STUDIO · WORKFLOWS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Both cases are in the workflow catalog</a:t>
            </a:r>
            <a:endParaRPr lang="en-US" sz="2800" dirty="0"/>
          </a:p>
        </p:txBody>
      </p:sp>
      <p:sp>
        <p:nvSpPr>
          <p:cNvPr id="4" name="Shape 2"/>
          <p:cNvSpPr/>
          <p:nvPr/>
        </p:nvSpPr>
        <p:spPr>
          <a:xfrm>
            <a:off x="9473184" y="384048"/>
            <a:ext cx="2148840" cy="347472"/>
          </a:xfrm>
          <a:prstGeom prst="roundRect">
            <a:avLst>
              <a:gd name="adj" fmla="val 21053"/>
            </a:avLst>
          </a:prstGeom>
          <a:solidFill>
            <a:srgbClr val="2A2313"/>
          </a:solidFill>
          <a:ln w="15240">
            <a:solidFill>
              <a:srgbClr val="FBBF24"/>
            </a:solidFill>
            <a:prstDash val="solid"/>
          </a:ln>
        </p:spPr>
        <p:txBody>
          <a:bodyPr/>
          <a:lstStyle/>
          <a:p>
            <a:endParaRPr lang="en-US"/>
          </a:p>
        </p:txBody>
      </p:sp>
      <p:sp>
        <p:nvSpPr>
          <p:cNvPr id="5" name="Text 3"/>
          <p:cNvSpPr/>
          <p:nvPr/>
        </p:nvSpPr>
        <p:spPr>
          <a:xfrm>
            <a:off x="9473184" y="384048"/>
            <a:ext cx="2148840" cy="347472"/>
          </a:xfrm>
          <a:prstGeom prst="rect">
            <a:avLst/>
          </a:prstGeom>
          <a:noFill/>
          <a:ln/>
        </p:spPr>
        <p:txBody>
          <a:bodyPr wrap="square" lIns="0" tIns="0" rIns="0" bIns="0" rtlCol="0" anchor="ctr"/>
          <a:lstStyle/>
          <a:p>
            <a:pPr marL="0" indent="0" algn="ctr">
              <a:buNone/>
            </a:pPr>
            <a:r>
              <a:rPr lang="en-US" sz="1050" b="1" dirty="0">
                <a:solidFill>
                  <a:srgbClr val="FBBF24"/>
                </a:solidFill>
                <a:latin typeface="Arial" pitchFamily="34" charset="0"/>
                <a:ea typeface="Arial" pitchFamily="34" charset="-122"/>
                <a:cs typeface="Arial" pitchFamily="34" charset="-120"/>
              </a:rPr>
              <a:t>LIVE APP</a:t>
            </a:r>
            <a:endParaRPr lang="en-US" sz="1050" dirty="0"/>
          </a:p>
        </p:txBody>
      </p:sp>
      <p:sp>
        <p:nvSpPr>
          <p:cNvPr id="6" name="Text 4"/>
          <p:cNvSpPr/>
          <p:nvPr/>
        </p:nvSpPr>
        <p:spPr>
          <a:xfrm>
            <a:off x="566928" y="1371600"/>
            <a:ext cx="8595360" cy="274320"/>
          </a:xfrm>
          <a:prstGeom prst="rect">
            <a:avLst/>
          </a:prstGeom>
          <a:noFill/>
          <a:ln/>
        </p:spPr>
        <p:txBody>
          <a:bodyPr wrap="square" lIns="0" tIns="0" rIns="0" bIns="0" rtlCol="0" anchor="ctr"/>
          <a:lstStyle/>
          <a:p>
            <a:pPr marL="0" indent="0">
              <a:buNone/>
            </a:pPr>
            <a:r>
              <a:rPr lang="en-US" sz="1100" kern="0" spc="60" dirty="0">
                <a:solidFill>
                  <a:srgbClr val="99A5B5"/>
                </a:solidFill>
                <a:latin typeface="Arial" pitchFamily="34" charset="0"/>
                <a:ea typeface="Arial" pitchFamily="34" charset="-122"/>
                <a:cs typeface="Arial" pitchFamily="34" charset="-120"/>
              </a:rPr>
              <a:t>COURSE CASES · financial-credit-risk   ·   financial-complaint-routing</a:t>
            </a:r>
            <a:endParaRPr lang="en-US" sz="1100" dirty="0"/>
          </a:p>
        </p:txBody>
      </p:sp>
      <p:sp>
        <p:nvSpPr>
          <p:cNvPr id="7" name="Shape 5"/>
          <p:cNvSpPr/>
          <p:nvPr/>
        </p:nvSpPr>
        <p:spPr>
          <a:xfrm>
            <a:off x="566928" y="1783080"/>
            <a:ext cx="3529584" cy="2423160"/>
          </a:xfrm>
          <a:prstGeom prst="roundRect">
            <a:avLst>
              <a:gd name="adj" fmla="val 3019"/>
            </a:avLst>
          </a:prstGeom>
          <a:solidFill>
            <a:srgbClr val="171A22"/>
          </a:solidFill>
          <a:ln w="12700">
            <a:solidFill>
              <a:srgbClr val="2A2F3A"/>
            </a:solidFill>
            <a:prstDash val="solid"/>
          </a:ln>
        </p:spPr>
        <p:txBody>
          <a:bodyPr/>
          <a:lstStyle/>
          <a:p>
            <a:endParaRPr lang="en-US"/>
          </a:p>
        </p:txBody>
      </p:sp>
      <p:sp>
        <p:nvSpPr>
          <p:cNvPr id="8" name="Shape 6"/>
          <p:cNvSpPr/>
          <p:nvPr/>
        </p:nvSpPr>
        <p:spPr>
          <a:xfrm>
            <a:off x="749808" y="1956816"/>
            <a:ext cx="310896" cy="310896"/>
          </a:xfrm>
          <a:prstGeom prst="ellipse">
            <a:avLst/>
          </a:prstGeom>
          <a:solidFill>
            <a:srgbClr val="22D3EE"/>
          </a:solidFill>
          <a:ln/>
        </p:spPr>
        <p:txBody>
          <a:bodyPr/>
          <a:lstStyle/>
          <a:p>
            <a:endParaRPr lang="en-US"/>
          </a:p>
        </p:txBody>
      </p:sp>
      <p:sp>
        <p:nvSpPr>
          <p:cNvPr id="9" name="Text 7"/>
          <p:cNvSpPr/>
          <p:nvPr/>
        </p:nvSpPr>
        <p:spPr>
          <a:xfrm>
            <a:off x="749808" y="195681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133856" y="1956816"/>
            <a:ext cx="2798064" cy="310896"/>
          </a:xfrm>
          <a:prstGeom prst="rect">
            <a:avLst/>
          </a:prstGeom>
          <a:noFill/>
          <a:ln/>
        </p:spPr>
        <p:txBody>
          <a:bodyPr wrap="square" lIns="0" tIns="0" rIns="0" bIns="0" rtlCol="0" anchor="ctr"/>
          <a:lstStyle/>
          <a:p>
            <a:pPr marL="0" indent="0">
              <a:buNone/>
            </a:pPr>
            <a:r>
              <a:rPr lang="en-US" sz="1700" b="1" dirty="0">
                <a:solidFill>
                  <a:srgbClr val="22D3EE"/>
                </a:solidFill>
                <a:latin typeface="Arial" pitchFamily="34" charset="0"/>
                <a:ea typeface="Arial" pitchFamily="34" charset="-122"/>
                <a:cs typeface="Arial" pitchFamily="34" charset="-120"/>
              </a:rPr>
              <a:t>Map</a:t>
            </a:r>
            <a:endParaRPr lang="en-US" sz="1700" dirty="0"/>
          </a:p>
        </p:txBody>
      </p:sp>
      <p:sp>
        <p:nvSpPr>
          <p:cNvPr id="11" name="Text 9"/>
          <p:cNvSpPr/>
          <p:nvPr/>
        </p:nvSpPr>
        <p:spPr>
          <a:xfrm>
            <a:off x="749808" y="2386584"/>
            <a:ext cx="3163824" cy="1682496"/>
          </a:xfrm>
          <a:prstGeom prst="rect">
            <a:avLst/>
          </a:prstGeom>
          <a:noFill/>
          <a:ln/>
        </p:spPr>
        <p:txBody>
          <a:bodyPr wrap="square" lIns="0" tIns="0" rIns="0" bIns="0" rtlCol="0" anchor="t"/>
          <a:lstStyle/>
          <a:p>
            <a:pPr marL="0" indent="0">
              <a:buNone/>
            </a:pPr>
            <a:r>
              <a:rPr lang="en-US" sz="1800" dirty="0">
                <a:solidFill>
                  <a:srgbClr val="F2F4F8"/>
                </a:solidFill>
                <a:latin typeface="Arial" pitchFamily="34" charset="0"/>
                <a:ea typeface="Arial" pitchFamily="34" charset="-122"/>
                <a:cs typeface="Arial" pitchFamily="34" charset="-120"/>
              </a:rPr>
              <a:t>Customer, data, features, model, policy, risk team, compliance, monitoring. Make every handoff visible.</a:t>
            </a:r>
            <a:endParaRPr lang="en-US" sz="1800" dirty="0"/>
          </a:p>
        </p:txBody>
      </p:sp>
      <p:sp>
        <p:nvSpPr>
          <p:cNvPr id="12" name="Text 10"/>
          <p:cNvSpPr/>
          <p:nvPr/>
        </p:nvSpPr>
        <p:spPr>
          <a:xfrm>
            <a:off x="4096512" y="1783080"/>
            <a:ext cx="237744" cy="242316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4334256" y="1783080"/>
            <a:ext cx="3529584" cy="2423160"/>
          </a:xfrm>
          <a:prstGeom prst="roundRect">
            <a:avLst>
              <a:gd name="adj" fmla="val 3019"/>
            </a:avLst>
          </a:prstGeom>
          <a:solidFill>
            <a:srgbClr val="171A22"/>
          </a:solidFill>
          <a:ln w="12700">
            <a:solidFill>
              <a:srgbClr val="2A2F3A"/>
            </a:solidFill>
            <a:prstDash val="solid"/>
          </a:ln>
        </p:spPr>
        <p:txBody>
          <a:bodyPr/>
          <a:lstStyle/>
          <a:p>
            <a:endParaRPr lang="en-US"/>
          </a:p>
        </p:txBody>
      </p:sp>
      <p:sp>
        <p:nvSpPr>
          <p:cNvPr id="14" name="Shape 12"/>
          <p:cNvSpPr/>
          <p:nvPr/>
        </p:nvSpPr>
        <p:spPr>
          <a:xfrm>
            <a:off x="4517136" y="1956816"/>
            <a:ext cx="310896" cy="310896"/>
          </a:xfrm>
          <a:prstGeom prst="ellipse">
            <a:avLst/>
          </a:prstGeom>
          <a:solidFill>
            <a:srgbClr val="FBBF24"/>
          </a:solidFill>
          <a:ln/>
        </p:spPr>
        <p:txBody>
          <a:bodyPr/>
          <a:lstStyle/>
          <a:p>
            <a:endParaRPr lang="en-US"/>
          </a:p>
        </p:txBody>
      </p:sp>
      <p:sp>
        <p:nvSpPr>
          <p:cNvPr id="15" name="Text 13"/>
          <p:cNvSpPr/>
          <p:nvPr/>
        </p:nvSpPr>
        <p:spPr>
          <a:xfrm>
            <a:off x="4517136" y="195681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4901184" y="1956816"/>
            <a:ext cx="2798064" cy="310896"/>
          </a:xfrm>
          <a:prstGeom prst="rect">
            <a:avLst/>
          </a:prstGeom>
          <a:noFill/>
          <a:ln/>
        </p:spPr>
        <p:txBody>
          <a:bodyPr wrap="square" lIns="0" tIns="0" rIns="0" bIns="0" rtlCol="0" anchor="ctr"/>
          <a:lstStyle/>
          <a:p>
            <a:pPr marL="0" indent="0">
              <a:buNone/>
            </a:pPr>
            <a:r>
              <a:rPr lang="en-US" sz="1700" b="1" dirty="0">
                <a:solidFill>
                  <a:srgbClr val="FBBF24"/>
                </a:solidFill>
                <a:latin typeface="Arial" pitchFamily="34" charset="0"/>
                <a:ea typeface="Arial" pitchFamily="34" charset="-122"/>
                <a:cs typeface="Arial" pitchFamily="34" charset="-120"/>
              </a:rPr>
              <a:t>Judge</a:t>
            </a:r>
            <a:endParaRPr lang="en-US" sz="1700" dirty="0"/>
          </a:p>
        </p:txBody>
      </p:sp>
      <p:sp>
        <p:nvSpPr>
          <p:cNvPr id="17" name="Text 15"/>
          <p:cNvSpPr/>
          <p:nvPr/>
        </p:nvSpPr>
        <p:spPr>
          <a:xfrm>
            <a:off x="4517136" y="2386584"/>
            <a:ext cx="3163824" cy="1682496"/>
          </a:xfrm>
          <a:prstGeom prst="rect">
            <a:avLst/>
          </a:prstGeom>
          <a:noFill/>
          <a:ln/>
        </p:spPr>
        <p:txBody>
          <a:bodyPr wrap="square" lIns="0" tIns="0" rIns="0" bIns="0" rtlCol="0" anchor="t"/>
          <a:lstStyle/>
          <a:p>
            <a:pPr marL="0" indent="0">
              <a:buNone/>
            </a:pPr>
            <a:r>
              <a:rPr lang="en-US" sz="1800" dirty="0">
                <a:solidFill>
                  <a:srgbClr val="F2F4F8"/>
                </a:solidFill>
                <a:latin typeface="Arial" pitchFamily="34" charset="0"/>
                <a:ea typeface="Arial" pitchFamily="34" charset="-122"/>
                <a:cs typeface="Arial" pitchFamily="34" charset="-120"/>
              </a:rPr>
              <a:t>For each decision: rule, human judgment, or learned prediction? Record the reason.</a:t>
            </a:r>
            <a:endParaRPr lang="en-US" sz="1800" dirty="0"/>
          </a:p>
        </p:txBody>
      </p:sp>
      <p:sp>
        <p:nvSpPr>
          <p:cNvPr id="18" name="Text 16"/>
          <p:cNvSpPr/>
          <p:nvPr/>
        </p:nvSpPr>
        <p:spPr>
          <a:xfrm>
            <a:off x="7863840" y="1783080"/>
            <a:ext cx="237744" cy="2423160"/>
          </a:xfrm>
          <a:prstGeom prst="rect">
            <a:avLst/>
          </a:prstGeom>
          <a:noFill/>
          <a:ln/>
        </p:spPr>
        <p:txBody>
          <a:bodyPr wrap="square" lIns="0" tIns="0" rIns="0" bIns="0" rtlCol="0" anchor="ctr"/>
          <a:lstStyle/>
          <a:p>
            <a:pPr marL="0" indent="0" algn="ctr">
              <a:buNone/>
            </a:pPr>
            <a:r>
              <a:rPr lang="en-US" sz="1600" dirty="0">
                <a:solidFill>
                  <a:srgbClr val="99A5B5"/>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8101584" y="1783080"/>
            <a:ext cx="3529584" cy="2423160"/>
          </a:xfrm>
          <a:prstGeom prst="roundRect">
            <a:avLst>
              <a:gd name="adj" fmla="val 3019"/>
            </a:avLst>
          </a:prstGeom>
          <a:solidFill>
            <a:srgbClr val="171A22"/>
          </a:solidFill>
          <a:ln w="12700">
            <a:solidFill>
              <a:srgbClr val="2A2F3A"/>
            </a:solidFill>
            <a:prstDash val="solid"/>
          </a:ln>
        </p:spPr>
        <p:txBody>
          <a:bodyPr/>
          <a:lstStyle/>
          <a:p>
            <a:endParaRPr lang="en-US"/>
          </a:p>
        </p:txBody>
      </p:sp>
      <p:sp>
        <p:nvSpPr>
          <p:cNvPr id="20" name="Shape 18"/>
          <p:cNvSpPr/>
          <p:nvPr/>
        </p:nvSpPr>
        <p:spPr>
          <a:xfrm>
            <a:off x="8284464" y="1956816"/>
            <a:ext cx="310896" cy="310896"/>
          </a:xfrm>
          <a:prstGeom prst="ellipse">
            <a:avLst/>
          </a:prstGeom>
          <a:solidFill>
            <a:srgbClr val="4ADE80"/>
          </a:solidFill>
          <a:ln/>
        </p:spPr>
        <p:txBody>
          <a:bodyPr/>
          <a:lstStyle/>
          <a:p>
            <a:endParaRPr lang="en-US"/>
          </a:p>
        </p:txBody>
      </p:sp>
      <p:sp>
        <p:nvSpPr>
          <p:cNvPr id="21" name="Text 19"/>
          <p:cNvSpPr/>
          <p:nvPr/>
        </p:nvSpPr>
        <p:spPr>
          <a:xfrm>
            <a:off x="8284464" y="1956816"/>
            <a:ext cx="310896" cy="310896"/>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8668512" y="1956816"/>
            <a:ext cx="2798064" cy="310896"/>
          </a:xfrm>
          <a:prstGeom prst="rect">
            <a:avLst/>
          </a:prstGeom>
          <a:noFill/>
          <a:ln/>
        </p:spPr>
        <p:txBody>
          <a:bodyPr wrap="square" lIns="0" tIns="0" rIns="0" bIns="0" rtlCol="0" anchor="ctr"/>
          <a:lstStyle/>
          <a:p>
            <a:pPr marL="0" indent="0">
              <a:buNone/>
            </a:pPr>
            <a:r>
              <a:rPr lang="en-US" sz="1700" b="1" dirty="0">
                <a:solidFill>
                  <a:srgbClr val="4ADE80"/>
                </a:solidFill>
                <a:latin typeface="Arial" pitchFamily="34" charset="0"/>
                <a:ea typeface="Arial" pitchFamily="34" charset="-122"/>
                <a:cs typeface="Arial" pitchFamily="34" charset="-120"/>
              </a:rPr>
              <a:t>Design</a:t>
            </a:r>
            <a:endParaRPr lang="en-US" sz="1700" dirty="0"/>
          </a:p>
        </p:txBody>
      </p:sp>
      <p:sp>
        <p:nvSpPr>
          <p:cNvPr id="23" name="Text 21"/>
          <p:cNvSpPr/>
          <p:nvPr/>
        </p:nvSpPr>
        <p:spPr>
          <a:xfrm>
            <a:off x="8284464" y="2386584"/>
            <a:ext cx="3163824" cy="1682496"/>
          </a:xfrm>
          <a:prstGeom prst="rect">
            <a:avLst/>
          </a:prstGeom>
          <a:noFill/>
          <a:ln/>
        </p:spPr>
        <p:txBody>
          <a:bodyPr wrap="square" lIns="0" tIns="0" rIns="0" bIns="0" rtlCol="0" anchor="t"/>
          <a:lstStyle/>
          <a:p>
            <a:pPr marL="0" indent="0">
              <a:buNone/>
            </a:pPr>
            <a:r>
              <a:rPr lang="en-US" sz="1800" dirty="0">
                <a:solidFill>
                  <a:srgbClr val="F2F4F8"/>
                </a:solidFill>
                <a:latin typeface="Arial" pitchFamily="34" charset="0"/>
                <a:ea typeface="Arial" pitchFamily="34" charset="-122"/>
                <a:cs typeface="Arial" pitchFamily="34" charset="-120"/>
              </a:rPr>
              <a:t>Define the model's job, human authority, failure route, and monitoring.</a:t>
            </a:r>
            <a:endParaRPr lang="en-US" sz="1800" dirty="0"/>
          </a:p>
        </p:txBody>
      </p:sp>
      <p:sp>
        <p:nvSpPr>
          <p:cNvPr id="24" name="Shape 22"/>
          <p:cNvSpPr/>
          <p:nvPr/>
        </p:nvSpPr>
        <p:spPr>
          <a:xfrm>
            <a:off x="566928" y="4389120"/>
            <a:ext cx="11064240" cy="1143000"/>
          </a:xfrm>
          <a:prstGeom prst="roundRect">
            <a:avLst>
              <a:gd name="adj" fmla="val 6400"/>
            </a:avLst>
          </a:prstGeom>
          <a:solidFill>
            <a:srgbClr val="171A22"/>
          </a:solidFill>
          <a:ln w="12700">
            <a:solidFill>
              <a:srgbClr val="22D3EE"/>
            </a:solidFill>
            <a:prstDash val="solid"/>
          </a:ln>
        </p:spPr>
        <p:txBody>
          <a:bodyPr/>
          <a:lstStyle/>
          <a:p>
            <a:endParaRPr lang="en-US"/>
          </a:p>
        </p:txBody>
      </p:sp>
      <p:sp>
        <p:nvSpPr>
          <p:cNvPr id="25" name="Text 23"/>
          <p:cNvSpPr/>
          <p:nvPr/>
        </p:nvSpPr>
        <p:spPr>
          <a:xfrm>
            <a:off x="786384" y="449884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The complaint workflow is yours to run</a:t>
            </a:r>
            <a:endParaRPr lang="en-US" sz="1600" dirty="0"/>
          </a:p>
        </p:txBody>
      </p:sp>
      <p:sp>
        <p:nvSpPr>
          <p:cNvPr id="26" name="Text 24"/>
          <p:cNvSpPr/>
          <p:nvPr/>
        </p:nvSpPr>
        <p:spPr>
          <a:xfrm>
            <a:off x="786384" y="4837176"/>
            <a:ext cx="10625328" cy="62179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We walk the credit case together. Repeat Map, Judge, and Design on complaint routing to test whether the method transfers.</a:t>
            </a:r>
            <a:endParaRPr lang="en-US" sz="1500" dirty="0"/>
          </a:p>
        </p:txBody>
      </p:sp>
      <p:sp>
        <p:nvSpPr>
          <p:cNvPr id="27" name="Text 25"/>
          <p:cNvSpPr/>
          <p:nvPr/>
        </p:nvSpPr>
        <p:spPr>
          <a:xfrm>
            <a:off x="566928" y="571500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Applied AI Studio · Workflows. Both course cases open from the catalog; no sign-in and no data upload is required.</a:t>
            </a:r>
            <a:endParaRPr lang="en-US" sz="1100" dirty="0"/>
          </a:p>
        </p:txBody>
      </p:sp>
      <p:sp>
        <p:nvSpPr>
          <p:cNvPr id="28" name="Text 26"/>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Applied AI Studio</a:t>
            </a:r>
            <a:endParaRPr lang="en-US" sz="1000" dirty="0"/>
          </a:p>
        </p:txBody>
      </p:sp>
      <p:sp>
        <p:nvSpPr>
          <p:cNvPr id="29" name="Text 27"/>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APPLIED AI STUDIO · DEMOS</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Two demos with deliberate failure cases</a:t>
            </a:r>
            <a:endParaRPr lang="en-US" sz="2800" dirty="0"/>
          </a:p>
        </p:txBody>
      </p:sp>
      <p:sp>
        <p:nvSpPr>
          <p:cNvPr id="4" name="Shape 2"/>
          <p:cNvSpPr/>
          <p:nvPr/>
        </p:nvSpPr>
        <p:spPr>
          <a:xfrm>
            <a:off x="9473184" y="384048"/>
            <a:ext cx="2148840" cy="347472"/>
          </a:xfrm>
          <a:prstGeom prst="roundRect">
            <a:avLst>
              <a:gd name="adj" fmla="val 21053"/>
            </a:avLst>
          </a:prstGeom>
          <a:solidFill>
            <a:srgbClr val="2A2313"/>
          </a:solidFill>
          <a:ln w="15240">
            <a:solidFill>
              <a:srgbClr val="FBBF24"/>
            </a:solidFill>
            <a:prstDash val="solid"/>
          </a:ln>
        </p:spPr>
        <p:txBody>
          <a:bodyPr/>
          <a:lstStyle/>
          <a:p>
            <a:endParaRPr lang="en-US"/>
          </a:p>
        </p:txBody>
      </p:sp>
      <p:sp>
        <p:nvSpPr>
          <p:cNvPr id="5" name="Text 3"/>
          <p:cNvSpPr/>
          <p:nvPr/>
        </p:nvSpPr>
        <p:spPr>
          <a:xfrm>
            <a:off x="9473184" y="384048"/>
            <a:ext cx="2148840" cy="347472"/>
          </a:xfrm>
          <a:prstGeom prst="rect">
            <a:avLst/>
          </a:prstGeom>
          <a:noFill/>
          <a:ln/>
        </p:spPr>
        <p:txBody>
          <a:bodyPr wrap="square" lIns="0" tIns="0" rIns="0" bIns="0" rtlCol="0" anchor="ctr"/>
          <a:lstStyle/>
          <a:p>
            <a:pPr marL="0" indent="0" algn="ctr">
              <a:buNone/>
            </a:pPr>
            <a:r>
              <a:rPr lang="en-US" sz="1050" b="1" dirty="0">
                <a:solidFill>
                  <a:srgbClr val="FBBF24"/>
                </a:solidFill>
                <a:latin typeface="Arial" pitchFamily="34" charset="0"/>
                <a:ea typeface="Arial" pitchFamily="34" charset="-122"/>
                <a:cs typeface="Arial" pitchFamily="34" charset="-120"/>
              </a:rPr>
              <a:t>LIVE APP</a:t>
            </a:r>
            <a:endParaRPr lang="en-US" sz="1050" dirty="0"/>
          </a:p>
        </p:txBody>
      </p:sp>
      <p:sp>
        <p:nvSpPr>
          <p:cNvPr id="6" name="Text 4"/>
          <p:cNvSpPr/>
          <p:nvPr/>
        </p:nvSpPr>
        <p:spPr>
          <a:xfrm>
            <a:off x="566928" y="1371600"/>
            <a:ext cx="8595360" cy="274320"/>
          </a:xfrm>
          <a:prstGeom prst="rect">
            <a:avLst/>
          </a:prstGeom>
          <a:noFill/>
          <a:ln/>
        </p:spPr>
        <p:txBody>
          <a:bodyPr wrap="square" lIns="0" tIns="0" rIns="0" bIns="0" rtlCol="0" anchor="ctr"/>
          <a:lstStyle/>
          <a:p>
            <a:pPr marL="0" indent="0">
              <a:buNone/>
            </a:pPr>
            <a:r>
              <a:rPr lang="en-US" sz="1100" kern="0" spc="60" dirty="0">
                <a:solidFill>
                  <a:srgbClr val="99A5B5"/>
                </a:solidFill>
                <a:latin typeface="Arial" pitchFamily="34" charset="0"/>
                <a:ea typeface="Arial" pitchFamily="34" charset="-122"/>
                <a:cs typeface="Arial" pitchFamily="34" charset="-120"/>
              </a:rPr>
              <a:t>ROUTES · /credit   ·   /complaints</a:t>
            </a:r>
            <a:endParaRPr lang="en-US" sz="1100" dirty="0"/>
          </a:p>
        </p:txBody>
      </p:sp>
      <p:sp>
        <p:nvSpPr>
          <p:cNvPr id="7" name="Shape 5"/>
          <p:cNvSpPr/>
          <p:nvPr/>
        </p:nvSpPr>
        <p:spPr>
          <a:xfrm>
            <a:off x="566928" y="1783080"/>
            <a:ext cx="5413248" cy="2286000"/>
          </a:xfrm>
          <a:prstGeom prst="roundRect">
            <a:avLst>
              <a:gd name="adj" fmla="val 3200"/>
            </a:avLst>
          </a:prstGeom>
          <a:solidFill>
            <a:srgbClr val="121C2B"/>
          </a:solidFill>
          <a:ln w="12700">
            <a:solidFill>
              <a:srgbClr val="22D3EE"/>
            </a:solidFill>
            <a:prstDash val="solid"/>
          </a:ln>
        </p:spPr>
        <p:txBody>
          <a:bodyPr/>
          <a:lstStyle/>
          <a:p>
            <a:endParaRPr lang="en-US"/>
          </a:p>
        </p:txBody>
      </p:sp>
      <p:sp>
        <p:nvSpPr>
          <p:cNvPr id="8" name="Text 6"/>
          <p:cNvSpPr/>
          <p:nvPr/>
        </p:nvSpPr>
        <p:spPr>
          <a:xfrm>
            <a:off x="768096" y="1929384"/>
            <a:ext cx="5010912" cy="438912"/>
          </a:xfrm>
          <a:prstGeom prst="rect">
            <a:avLst/>
          </a:prstGeom>
          <a:noFill/>
          <a:ln/>
        </p:spPr>
        <p:txBody>
          <a:bodyPr wrap="square" lIns="0" tIns="0" rIns="0" bIns="0" rtlCol="0" anchor="t"/>
          <a:lstStyle/>
          <a:p>
            <a:pPr marL="0" indent="0">
              <a:buNone/>
            </a:pPr>
            <a:r>
              <a:rPr lang="en-US" sz="1600" b="1" dirty="0">
                <a:solidFill>
                  <a:srgbClr val="22D3EE"/>
                </a:solidFill>
                <a:latin typeface="Arial" pitchFamily="34" charset="0"/>
                <a:ea typeface="Arial" pitchFamily="34" charset="-122"/>
                <a:cs typeface="Arial" pitchFamily="34" charset="-120"/>
              </a:rPr>
              <a:t>Credit · review one account</a:t>
            </a:r>
            <a:endParaRPr lang="en-US" sz="1600" dirty="0"/>
          </a:p>
        </p:txBody>
      </p:sp>
      <p:sp>
        <p:nvSpPr>
          <p:cNvPr id="9" name="Text 7"/>
          <p:cNvSpPr/>
          <p:nvPr/>
        </p:nvSpPr>
        <p:spPr>
          <a:xfrm>
            <a:off x="768096" y="2450592"/>
            <a:ext cx="5010912" cy="149047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Inspect behavior, score, route, and reasons. Change a payment status. Then move the cost slider and compare queue size with analyst capacity.</a:t>
            </a:r>
            <a:endParaRPr lang="en-US" sz="1600" dirty="0"/>
          </a:p>
        </p:txBody>
      </p:sp>
      <p:sp>
        <p:nvSpPr>
          <p:cNvPr id="10" name="Shape 8"/>
          <p:cNvSpPr/>
          <p:nvPr/>
        </p:nvSpPr>
        <p:spPr>
          <a:xfrm>
            <a:off x="6217920" y="1783080"/>
            <a:ext cx="5413248" cy="2286000"/>
          </a:xfrm>
          <a:prstGeom prst="roundRect">
            <a:avLst>
              <a:gd name="adj" fmla="val 3200"/>
            </a:avLst>
          </a:prstGeom>
          <a:solidFill>
            <a:srgbClr val="1E1830"/>
          </a:solidFill>
          <a:ln w="12700">
            <a:solidFill>
              <a:srgbClr val="818CF8"/>
            </a:solidFill>
            <a:prstDash val="solid"/>
          </a:ln>
        </p:spPr>
        <p:txBody>
          <a:bodyPr/>
          <a:lstStyle/>
          <a:p>
            <a:endParaRPr lang="en-US"/>
          </a:p>
        </p:txBody>
      </p:sp>
      <p:sp>
        <p:nvSpPr>
          <p:cNvPr id="11" name="Text 9"/>
          <p:cNvSpPr/>
          <p:nvPr/>
        </p:nvSpPr>
        <p:spPr>
          <a:xfrm>
            <a:off x="6419088" y="1929384"/>
            <a:ext cx="5010912" cy="438912"/>
          </a:xfrm>
          <a:prstGeom prst="rect">
            <a:avLst/>
          </a:prstGeom>
          <a:noFill/>
          <a:ln/>
        </p:spPr>
        <p:txBody>
          <a:bodyPr wrap="square" lIns="0" tIns="0" rIns="0" bIns="0" rtlCol="0" anchor="t"/>
          <a:lstStyle/>
          <a:p>
            <a:pPr marL="0" indent="0">
              <a:buNone/>
            </a:pPr>
            <a:r>
              <a:rPr lang="en-US" sz="1600" b="1" dirty="0">
                <a:solidFill>
                  <a:srgbClr val="818CF8"/>
                </a:solidFill>
                <a:latin typeface="Arial" pitchFamily="34" charset="0"/>
                <a:ea typeface="Arial" pitchFamily="34" charset="-122"/>
                <a:cs typeface="Arial" pitchFamily="34" charset="-120"/>
              </a:rPr>
              <a:t>Complaints · route one complaint</a:t>
            </a:r>
            <a:endParaRPr lang="en-US" sz="1600" dirty="0"/>
          </a:p>
        </p:txBody>
      </p:sp>
      <p:sp>
        <p:nvSpPr>
          <p:cNvPr id="12" name="Text 10"/>
          <p:cNvSpPr/>
          <p:nvPr/>
        </p:nvSpPr>
        <p:spPr>
          <a:xfrm>
            <a:off x="6419088" y="2450592"/>
            <a:ext cx="5010912" cy="149047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Choose a packaged complaint or paste text. Inspect the predicted team, confidence, and highlighted routing words.</a:t>
            </a:r>
            <a:endParaRPr lang="en-US" sz="1600" dirty="0"/>
          </a:p>
        </p:txBody>
      </p:sp>
      <p:sp>
        <p:nvSpPr>
          <p:cNvPr id="13" name="Shape 11"/>
          <p:cNvSpPr/>
          <p:nvPr/>
        </p:nvSpPr>
        <p:spPr>
          <a:xfrm>
            <a:off x="566928" y="4206240"/>
            <a:ext cx="5413248" cy="1280160"/>
          </a:xfrm>
          <a:prstGeom prst="roundRect">
            <a:avLst>
              <a:gd name="adj" fmla="val 5714"/>
            </a:avLst>
          </a:prstGeom>
          <a:solidFill>
            <a:srgbClr val="2A2313"/>
          </a:solidFill>
          <a:ln w="12700">
            <a:solidFill>
              <a:srgbClr val="FBBF24"/>
            </a:solidFill>
            <a:prstDash val="solid"/>
          </a:ln>
        </p:spPr>
        <p:txBody>
          <a:bodyPr/>
          <a:lstStyle/>
          <a:p>
            <a:endParaRPr lang="en-US"/>
          </a:p>
        </p:txBody>
      </p:sp>
      <p:sp>
        <p:nvSpPr>
          <p:cNvPr id="14" name="Text 12"/>
          <p:cNvSpPr/>
          <p:nvPr/>
        </p:nvSpPr>
        <p:spPr>
          <a:xfrm>
            <a:off x="768096" y="4352544"/>
            <a:ext cx="5010912"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When the account is unusable</a:t>
            </a:r>
            <a:endParaRPr lang="en-US" sz="1600" dirty="0"/>
          </a:p>
        </p:txBody>
      </p:sp>
      <p:sp>
        <p:nvSpPr>
          <p:cNvPr id="15" name="Text 13"/>
          <p:cNvSpPr/>
          <p:nvPr/>
        </p:nvSpPr>
        <p:spPr>
          <a:xfrm>
            <a:off x="768096" y="4873752"/>
            <a:ext cx="5010912" cy="48463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Missing fields or unknown codes: exclude and log; do not score.</a:t>
            </a:r>
            <a:endParaRPr lang="en-US" sz="1600" dirty="0"/>
          </a:p>
        </p:txBody>
      </p:sp>
      <p:sp>
        <p:nvSpPr>
          <p:cNvPr id="16" name="Shape 14"/>
          <p:cNvSpPr/>
          <p:nvPr/>
        </p:nvSpPr>
        <p:spPr>
          <a:xfrm>
            <a:off x="6217920" y="4206240"/>
            <a:ext cx="5413248" cy="1280160"/>
          </a:xfrm>
          <a:prstGeom prst="roundRect">
            <a:avLst>
              <a:gd name="adj" fmla="val 5714"/>
            </a:avLst>
          </a:prstGeom>
          <a:solidFill>
            <a:srgbClr val="2A2313"/>
          </a:solidFill>
          <a:ln w="12700">
            <a:solidFill>
              <a:srgbClr val="FBBF24"/>
            </a:solidFill>
            <a:prstDash val="solid"/>
          </a:ln>
        </p:spPr>
        <p:txBody>
          <a:bodyPr/>
          <a:lstStyle/>
          <a:p>
            <a:endParaRPr lang="en-US"/>
          </a:p>
        </p:txBody>
      </p:sp>
      <p:sp>
        <p:nvSpPr>
          <p:cNvPr id="17" name="Text 15"/>
          <p:cNvSpPr/>
          <p:nvPr/>
        </p:nvSpPr>
        <p:spPr>
          <a:xfrm>
            <a:off x="6419088" y="4352544"/>
            <a:ext cx="5010912"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When the model is not sure</a:t>
            </a:r>
            <a:endParaRPr lang="en-US" sz="1600" dirty="0"/>
          </a:p>
        </p:txBody>
      </p:sp>
      <p:sp>
        <p:nvSpPr>
          <p:cNvPr id="18" name="Text 16"/>
          <p:cNvSpPr/>
          <p:nvPr/>
        </p:nvSpPr>
        <p:spPr>
          <a:xfrm>
            <a:off x="6419088" y="4873752"/>
            <a:ext cx="5010912" cy="48463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Low confidence goes to triage. Also inspect the packaged confident mistake.</a:t>
            </a:r>
            <a:endParaRPr lang="en-US" sz="1600" dirty="0"/>
          </a:p>
        </p:txBody>
      </p:sp>
      <p:sp>
        <p:nvSpPr>
          <p:cNvPr id="19" name="Text 17"/>
          <p:cNvSpPr/>
          <p:nvPr/>
        </p:nvSpPr>
        <p:spPr>
          <a:xfrm>
            <a:off x="566928" y="5669280"/>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Both demos load the exact model, policy, and packaged samples exported by the notebooks. Neither trains a second model, and neither accepts a file upload.</a:t>
            </a:r>
            <a:endParaRPr lang="en-US" sz="1100" dirty="0"/>
          </a:p>
        </p:txBody>
      </p:sp>
      <p:sp>
        <p:nvSpPr>
          <p:cNvPr id="20" name="Text 18"/>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Applied AI Studio</a:t>
            </a:r>
            <a:endParaRPr lang="en-US" sz="1000" dirty="0"/>
          </a:p>
        </p:txBody>
      </p:sp>
      <p:sp>
        <p:nvSpPr>
          <p:cNvPr id="21" name="Text 19"/>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22D3EE"/>
          </a:solidFill>
          <a:ln/>
        </p:spPr>
        <p:txBody>
          <a:bodyPr/>
          <a:lstStyle/>
          <a:p>
            <a:endParaRPr lang="en-US"/>
          </a:p>
        </p:txBody>
      </p:sp>
      <p:sp>
        <p:nvSpPr>
          <p:cNvPr id="3" name="Text 1"/>
          <p:cNvSpPr/>
          <p:nvPr/>
        </p:nvSpPr>
        <p:spPr>
          <a:xfrm>
            <a:off x="1097280" y="1993392"/>
            <a:ext cx="9601200" cy="292608"/>
          </a:xfrm>
          <a:prstGeom prst="rect">
            <a:avLst/>
          </a:prstGeom>
          <a:noFill/>
          <a:ln/>
        </p:spPr>
        <p:txBody>
          <a:bodyPr wrap="square" lIns="0" tIns="0" rIns="0" bIns="0" rtlCol="0" anchor="ctr"/>
          <a:lstStyle/>
          <a:p>
            <a:pPr marL="0" indent="0">
              <a:buNone/>
            </a:pPr>
            <a:r>
              <a:rPr lang="en-US" sz="1400" b="1" dirty="0">
                <a:solidFill>
                  <a:srgbClr val="22D3EE"/>
                </a:solidFill>
                <a:latin typeface="Arial" pitchFamily="34" charset="0"/>
                <a:ea typeface="Arial" pitchFamily="34" charset="-122"/>
                <a:cs typeface="Arial" pitchFamily="34" charset="-120"/>
              </a:rPr>
              <a:t>SECTION VII  |  12 min</a:t>
            </a:r>
            <a:endParaRPr lang="en-US" sz="1400" dirty="0"/>
          </a:p>
        </p:txBody>
      </p:sp>
      <p:sp>
        <p:nvSpPr>
          <p:cNvPr id="4" name="Text 2"/>
          <p:cNvSpPr/>
          <p:nvPr/>
        </p:nvSpPr>
        <p:spPr>
          <a:xfrm>
            <a:off x="1097280" y="2514600"/>
            <a:ext cx="9966960" cy="1234440"/>
          </a:xfrm>
          <a:prstGeom prst="rect">
            <a:avLst/>
          </a:prstGeom>
          <a:noFill/>
          <a:ln/>
        </p:spPr>
        <p:txBody>
          <a:bodyPr wrap="square" lIns="0" tIns="0" rIns="0" bIns="0" rtlCol="0" anchor="t"/>
          <a:lstStyle/>
          <a:p>
            <a:pPr marL="0" indent="0">
              <a:buNone/>
            </a:pPr>
            <a:r>
              <a:rPr lang="en-US" sz="3400" b="1" dirty="0">
                <a:solidFill>
                  <a:srgbClr val="F2F4F8"/>
                </a:solidFill>
                <a:latin typeface="Arial" pitchFamily="34" charset="0"/>
                <a:ea typeface="Arial" pitchFamily="34" charset="-122"/>
                <a:cs typeface="Arial" pitchFamily="34" charset="-120"/>
              </a:rPr>
              <a:t>Who lets a model into production?</a:t>
            </a:r>
            <a:endParaRPr lang="en-US" sz="3400" dirty="0"/>
          </a:p>
        </p:txBody>
      </p:sp>
      <p:sp>
        <p:nvSpPr>
          <p:cNvPr id="5" name="Text 3"/>
          <p:cNvSpPr/>
          <p:nvPr/>
        </p:nvSpPr>
        <p:spPr>
          <a:xfrm>
            <a:off x="1097280" y="4069080"/>
            <a:ext cx="9601200" cy="1188720"/>
          </a:xfrm>
          <a:prstGeom prst="rect">
            <a:avLst/>
          </a:prstGeom>
          <a:noFill/>
          <a:ln/>
        </p:spPr>
        <p:txBody>
          <a:bodyPr wrap="square" lIns="0" tIns="0" rIns="0" bIns="0" rtlCol="0" anchor="t"/>
          <a:lstStyle/>
          <a:p>
            <a:pPr marL="0" indent="0">
              <a:buNone/>
            </a:pPr>
            <a:r>
              <a:rPr lang="en-US" sz="2000" dirty="0">
                <a:solidFill>
                  <a:srgbClr val="AAB2C0"/>
                </a:solidFill>
                <a:latin typeface="Arial" pitchFamily="34" charset="0"/>
                <a:ea typeface="Arial" pitchFamily="34" charset="-122"/>
                <a:cs typeface="Arial" pitchFamily="34" charset="-120"/>
              </a:rPr>
              <a:t>Training was the easy part. Now somebody has to sign their name to the claim that this model may be used — and keep watching it after it ships.</a:t>
            </a:r>
            <a:endParaRPr lang="en-US" sz="2000" dirty="0"/>
          </a:p>
        </p:txBody>
      </p:sp>
      <p:sp>
        <p:nvSpPr>
          <p:cNvPr id="6" name="Text 4"/>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Governance &amp; cases</a:t>
            </a:r>
            <a:endParaRPr lang="en-US" sz="1000" dirty="0"/>
          </a:p>
        </p:txBody>
      </p:sp>
      <p:sp>
        <p:nvSpPr>
          <p:cNvPr id="7" name="Text 5"/>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MODEL RISK MANAGEMENT</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A model is a risk, and risks get managed</a:t>
            </a:r>
            <a:endParaRPr lang="en-US" sz="2800" dirty="0"/>
          </a:p>
        </p:txBody>
      </p:sp>
      <p:sp>
        <p:nvSpPr>
          <p:cNvPr id="4" name="Text 2"/>
          <p:cNvSpPr/>
          <p:nvPr/>
        </p:nvSpPr>
        <p:spPr>
          <a:xfrm>
            <a:off x="566928" y="141732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US model-risk guidance connects directly to the artifacts and workflow we built tonight.</a:t>
            </a:r>
            <a:endParaRPr lang="en-US" sz="1700" dirty="0"/>
          </a:p>
        </p:txBody>
      </p:sp>
      <p:sp>
        <p:nvSpPr>
          <p:cNvPr id="5" name="Shape 3"/>
          <p:cNvSpPr/>
          <p:nvPr/>
        </p:nvSpPr>
        <p:spPr>
          <a:xfrm>
            <a:off x="566928" y="1993392"/>
            <a:ext cx="292608" cy="292608"/>
          </a:xfrm>
          <a:prstGeom prst="ellipse">
            <a:avLst/>
          </a:prstGeom>
          <a:solidFill>
            <a:srgbClr val="22D3EE"/>
          </a:solidFill>
          <a:ln/>
        </p:spPr>
        <p:txBody>
          <a:bodyPr/>
          <a:lstStyle/>
          <a:p>
            <a:endParaRPr lang="en-US"/>
          </a:p>
        </p:txBody>
      </p:sp>
      <p:sp>
        <p:nvSpPr>
          <p:cNvPr id="6" name="Text 4"/>
          <p:cNvSpPr/>
          <p:nvPr/>
        </p:nvSpPr>
        <p:spPr>
          <a:xfrm>
            <a:off x="566928" y="199339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69848" y="196596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Write it down</a:t>
            </a:r>
            <a:endParaRPr lang="en-US" sz="1800" dirty="0"/>
          </a:p>
        </p:txBody>
      </p:sp>
      <p:sp>
        <p:nvSpPr>
          <p:cNvPr id="8" name="Text 6"/>
          <p:cNvSpPr/>
          <p:nvPr/>
        </p:nvSpPr>
        <p:spPr>
          <a:xfrm>
            <a:off x="1069848" y="2331720"/>
            <a:ext cx="10424160" cy="429768"/>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Intended use, data, performance, and limitations. Start with the model card.</a:t>
            </a:r>
            <a:endParaRPr lang="en-US" sz="1600" dirty="0"/>
          </a:p>
        </p:txBody>
      </p:sp>
      <p:sp>
        <p:nvSpPr>
          <p:cNvPr id="9" name="Shape 7"/>
          <p:cNvSpPr/>
          <p:nvPr/>
        </p:nvSpPr>
        <p:spPr>
          <a:xfrm>
            <a:off x="566928" y="2816352"/>
            <a:ext cx="292608" cy="292608"/>
          </a:xfrm>
          <a:prstGeom prst="ellipse">
            <a:avLst/>
          </a:prstGeom>
          <a:solidFill>
            <a:srgbClr val="38BDF8"/>
          </a:solidFill>
          <a:ln/>
        </p:spPr>
        <p:txBody>
          <a:bodyPr/>
          <a:lstStyle/>
          <a:p>
            <a:endParaRPr lang="en-US"/>
          </a:p>
        </p:txBody>
      </p:sp>
      <p:sp>
        <p:nvSpPr>
          <p:cNvPr id="10" name="Text 8"/>
          <p:cNvSpPr/>
          <p:nvPr/>
        </p:nvSpPr>
        <p:spPr>
          <a:xfrm>
            <a:off x="566928" y="281635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069848" y="278892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Somebody else checks it</a:t>
            </a:r>
            <a:endParaRPr lang="en-US" sz="1800" dirty="0"/>
          </a:p>
        </p:txBody>
      </p:sp>
      <p:sp>
        <p:nvSpPr>
          <p:cNvPr id="12" name="Text 10"/>
          <p:cNvSpPr/>
          <p:nvPr/>
        </p:nvSpPr>
        <p:spPr>
          <a:xfrm>
            <a:off x="1069848" y="3154680"/>
            <a:ext cx="10424160" cy="429768"/>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Independent validators challenge the builder's work and can say no.</a:t>
            </a:r>
            <a:endParaRPr lang="en-US" sz="1600" dirty="0"/>
          </a:p>
        </p:txBody>
      </p:sp>
      <p:sp>
        <p:nvSpPr>
          <p:cNvPr id="13" name="Shape 11"/>
          <p:cNvSpPr/>
          <p:nvPr/>
        </p:nvSpPr>
        <p:spPr>
          <a:xfrm>
            <a:off x="566928" y="3639312"/>
            <a:ext cx="292608" cy="292608"/>
          </a:xfrm>
          <a:prstGeom prst="ellipse">
            <a:avLst/>
          </a:prstGeom>
          <a:solidFill>
            <a:srgbClr val="FBBF24"/>
          </a:solidFill>
          <a:ln/>
        </p:spPr>
        <p:txBody>
          <a:bodyPr/>
          <a:lstStyle/>
          <a:p>
            <a:endParaRPr lang="en-US"/>
          </a:p>
        </p:txBody>
      </p:sp>
      <p:sp>
        <p:nvSpPr>
          <p:cNvPr id="14" name="Text 12"/>
          <p:cNvSpPr/>
          <p:nvPr/>
        </p:nvSpPr>
        <p:spPr>
          <a:xfrm>
            <a:off x="566928" y="363931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1069848" y="361188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Watch it after it ships</a:t>
            </a:r>
            <a:endParaRPr lang="en-US" sz="1800" dirty="0"/>
          </a:p>
        </p:txBody>
      </p:sp>
      <p:sp>
        <p:nvSpPr>
          <p:cNvPr id="16" name="Text 14"/>
          <p:cNvSpPr/>
          <p:nvPr/>
        </p:nvSpPr>
        <p:spPr>
          <a:xfrm>
            <a:off x="1069848" y="3977640"/>
            <a:ext cx="10424160" cy="429768"/>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Track changes in customers, products, the economy, and model performance.</a:t>
            </a:r>
            <a:endParaRPr lang="en-US" sz="1600" dirty="0"/>
          </a:p>
        </p:txBody>
      </p:sp>
      <p:sp>
        <p:nvSpPr>
          <p:cNvPr id="17" name="Shape 15"/>
          <p:cNvSpPr/>
          <p:nvPr/>
        </p:nvSpPr>
        <p:spPr>
          <a:xfrm>
            <a:off x="566928" y="4462272"/>
            <a:ext cx="292608" cy="292608"/>
          </a:xfrm>
          <a:prstGeom prst="ellipse">
            <a:avLst/>
          </a:prstGeom>
          <a:solidFill>
            <a:srgbClr val="A78BFA"/>
          </a:solidFill>
          <a:ln/>
        </p:spPr>
        <p:txBody>
          <a:bodyPr/>
          <a:lstStyle/>
          <a:p>
            <a:endParaRPr lang="en-US"/>
          </a:p>
        </p:txBody>
      </p:sp>
      <p:sp>
        <p:nvSpPr>
          <p:cNvPr id="18" name="Text 16"/>
          <p:cNvSpPr/>
          <p:nvPr/>
        </p:nvSpPr>
        <p:spPr>
          <a:xfrm>
            <a:off x="566928" y="446227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4</a:t>
            </a:r>
            <a:endParaRPr lang="en-US" sz="1300" dirty="0"/>
          </a:p>
        </p:txBody>
      </p:sp>
      <p:sp>
        <p:nvSpPr>
          <p:cNvPr id="19" name="Text 17"/>
          <p:cNvSpPr/>
          <p:nvPr/>
        </p:nvSpPr>
        <p:spPr>
          <a:xfrm>
            <a:off x="1069848" y="443484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Keep an inventory</a:t>
            </a:r>
            <a:endParaRPr lang="en-US" sz="1800" dirty="0"/>
          </a:p>
        </p:txBody>
      </p:sp>
      <p:sp>
        <p:nvSpPr>
          <p:cNvPr id="20" name="Text 18"/>
          <p:cNvSpPr/>
          <p:nvPr/>
        </p:nvSpPr>
        <p:spPr>
          <a:xfrm>
            <a:off x="1069848" y="4800600"/>
            <a:ext cx="10424160" cy="429768"/>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List each model, its owner, version, and review date.</a:t>
            </a:r>
            <a:endParaRPr lang="en-US" sz="1600" dirty="0"/>
          </a:p>
        </p:txBody>
      </p:sp>
      <p:sp>
        <p:nvSpPr>
          <p:cNvPr id="21" name="Shape 19"/>
          <p:cNvSpPr/>
          <p:nvPr/>
        </p:nvSpPr>
        <p:spPr>
          <a:xfrm>
            <a:off x="566928" y="5303520"/>
            <a:ext cx="11064240" cy="868680"/>
          </a:xfrm>
          <a:prstGeom prst="roundRect">
            <a:avLst>
              <a:gd name="adj" fmla="val 8421"/>
            </a:avLst>
          </a:prstGeom>
          <a:solidFill>
            <a:srgbClr val="2A2313"/>
          </a:solidFill>
          <a:ln w="12700">
            <a:solidFill>
              <a:srgbClr val="FBBF24"/>
            </a:solidFill>
            <a:prstDash val="solid"/>
          </a:ln>
        </p:spPr>
        <p:txBody>
          <a:bodyPr/>
          <a:lstStyle/>
          <a:p>
            <a:endParaRPr lang="en-US"/>
          </a:p>
        </p:txBody>
      </p:sp>
      <p:sp>
        <p:nvSpPr>
          <p:cNvPr id="22" name="Text 20"/>
          <p:cNvSpPr/>
          <p:nvPr/>
        </p:nvSpPr>
        <p:spPr>
          <a:xfrm>
            <a:off x="786384" y="5413248"/>
            <a:ext cx="10625328" cy="274320"/>
          </a:xfrm>
          <a:prstGeom prst="rect">
            <a:avLst/>
          </a:prstGeom>
          <a:noFill/>
          <a:ln/>
        </p:spPr>
        <p:txBody>
          <a:bodyPr wrap="square" lIns="0" tIns="0" rIns="0" bIns="0" rtlCol="0" anchor="ctr"/>
          <a:lstStyle/>
          <a:p>
            <a:pPr marL="0" indent="0">
              <a:buNone/>
            </a:pPr>
            <a:r>
              <a:rPr lang="en-US" sz="1600" b="1" dirty="0">
                <a:solidFill>
                  <a:srgbClr val="FBBF24"/>
                </a:solidFill>
                <a:latin typeface="Arial" pitchFamily="34" charset="0"/>
                <a:ea typeface="Arial" pitchFamily="34" charset="-122"/>
                <a:cs typeface="Arial" pitchFamily="34" charset="-120"/>
              </a:rPr>
              <a:t>The guidance itself gets maintained like a model</a:t>
            </a:r>
            <a:endParaRPr lang="en-US" sz="1600" dirty="0"/>
          </a:p>
        </p:txBody>
      </p:sp>
      <p:sp>
        <p:nvSpPr>
          <p:cNvPr id="23" name="Text 21"/>
          <p:cNvSpPr/>
          <p:nvPr/>
        </p:nvSpPr>
        <p:spPr>
          <a:xfrm>
            <a:off x="786384" y="5751576"/>
            <a:ext cx="10625328" cy="34747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SR 11-7 (2011) was superseded on April 17, 2026 by SR 26-2 — governance is not a document you write once and file.</a:t>
            </a:r>
            <a:endParaRPr lang="en-US" sz="1500" dirty="0"/>
          </a:p>
        </p:txBody>
      </p:sp>
      <p:sp>
        <p:nvSpPr>
          <p:cNvPr id="24" name="Text 22"/>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Governance &amp; cases</a:t>
            </a:r>
            <a:endParaRPr lang="en-US" sz="1000" dirty="0"/>
          </a:p>
        </p:txBody>
      </p:sp>
      <p:sp>
        <p:nvSpPr>
          <p:cNvPr id="25" name="Text 23"/>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STUDY · 2019–2021</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Apple Card: no violation found, real damage done</a:t>
            </a:r>
            <a:endParaRPr lang="en-US" sz="2800" dirty="0"/>
          </a:p>
        </p:txBody>
      </p:sp>
      <p:sp>
        <p:nvSpPr>
          <p:cNvPr id="4" name="Text 2"/>
          <p:cNvSpPr/>
          <p:nvPr/>
        </p:nvSpPr>
        <p:spPr>
          <a:xfrm>
            <a:off x="566928" y="1371600"/>
            <a:ext cx="11064240" cy="566928"/>
          </a:xfrm>
          <a:prstGeom prst="rect">
            <a:avLst/>
          </a:prstGeom>
          <a:noFill/>
          <a:ln/>
        </p:spPr>
        <p:txBody>
          <a:bodyPr wrap="square" lIns="0" tIns="0" rIns="0" bIns="0" rtlCol="0" anchor="t"/>
          <a:lstStyle/>
          <a:p>
            <a:pPr marL="0" indent="0">
              <a:buNone/>
            </a:pPr>
            <a:r>
              <a:rPr lang="en-US" sz="1700" dirty="0">
                <a:solidFill>
                  <a:srgbClr val="AAB2C0"/>
                </a:solidFill>
                <a:latin typeface="Arial" pitchFamily="34" charset="0"/>
                <a:ea typeface="Arial" pitchFamily="34" charset="-122"/>
                <a:cs typeface="Arial" pitchFamily="34" charset="-120"/>
              </a:rPr>
              <a:t>In November 2019 a viral thread accused the Apple Card of giving a husband twenty times the credit limit of his wife. New York's financial regulator opened an investigation.</a:t>
            </a:r>
            <a:endParaRPr lang="en-US" sz="1700" dirty="0"/>
          </a:p>
        </p:txBody>
      </p:sp>
      <p:sp>
        <p:nvSpPr>
          <p:cNvPr id="5" name="Shape 3"/>
          <p:cNvSpPr/>
          <p:nvPr/>
        </p:nvSpPr>
        <p:spPr>
          <a:xfrm>
            <a:off x="566928" y="2011680"/>
            <a:ext cx="3529584" cy="2011680"/>
          </a:xfrm>
          <a:prstGeom prst="roundRect">
            <a:avLst>
              <a:gd name="adj" fmla="val 3636"/>
            </a:avLst>
          </a:prstGeom>
          <a:solidFill>
            <a:srgbClr val="121C2B"/>
          </a:solidFill>
          <a:ln w="12700">
            <a:solidFill>
              <a:srgbClr val="38BDF8"/>
            </a:solidFill>
            <a:prstDash val="solid"/>
          </a:ln>
        </p:spPr>
        <p:txBody>
          <a:bodyPr/>
          <a:lstStyle/>
          <a:p>
            <a:endParaRPr lang="en-US"/>
          </a:p>
        </p:txBody>
      </p:sp>
      <p:sp>
        <p:nvSpPr>
          <p:cNvPr id="6" name="Text 4"/>
          <p:cNvSpPr/>
          <p:nvPr/>
        </p:nvSpPr>
        <p:spPr>
          <a:xfrm>
            <a:off x="768096" y="2157984"/>
            <a:ext cx="3127248" cy="438912"/>
          </a:xfrm>
          <a:prstGeom prst="rect">
            <a:avLst/>
          </a:prstGeom>
          <a:noFill/>
          <a:ln/>
        </p:spPr>
        <p:txBody>
          <a:bodyPr wrap="square" lIns="0" tIns="0" rIns="0" bIns="0" rtlCol="0" anchor="t"/>
          <a:lstStyle/>
          <a:p>
            <a:pPr marL="0" indent="0">
              <a:buNone/>
            </a:pPr>
            <a:r>
              <a:rPr lang="en-US" sz="1600" b="1" dirty="0">
                <a:solidFill>
                  <a:srgbClr val="38BDF8"/>
                </a:solidFill>
                <a:latin typeface="Arial" pitchFamily="34" charset="0"/>
                <a:ea typeface="Arial" pitchFamily="34" charset="-122"/>
                <a:cs typeface="Arial" pitchFamily="34" charset="-120"/>
              </a:rPr>
              <a:t>The allegation</a:t>
            </a:r>
            <a:endParaRPr lang="en-US" sz="1600" dirty="0"/>
          </a:p>
        </p:txBody>
      </p:sp>
      <p:sp>
        <p:nvSpPr>
          <p:cNvPr id="7" name="Text 5"/>
          <p:cNvSpPr/>
          <p:nvPr/>
        </p:nvSpPr>
        <p:spPr>
          <a:xfrm>
            <a:off x="768096" y="2679192"/>
            <a:ext cx="3127248" cy="121615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Shared finances, very different limits, and no clear explanation for the customers.</a:t>
            </a:r>
            <a:endParaRPr lang="en-US" sz="1600" dirty="0"/>
          </a:p>
        </p:txBody>
      </p:sp>
      <p:sp>
        <p:nvSpPr>
          <p:cNvPr id="8" name="Shape 6"/>
          <p:cNvSpPr/>
          <p:nvPr/>
        </p:nvSpPr>
        <p:spPr>
          <a:xfrm>
            <a:off x="4334256" y="2011680"/>
            <a:ext cx="3529584" cy="2011680"/>
          </a:xfrm>
          <a:prstGeom prst="roundRect">
            <a:avLst>
              <a:gd name="adj" fmla="val 3636"/>
            </a:avLst>
          </a:prstGeom>
          <a:solidFill>
            <a:srgbClr val="10241A"/>
          </a:solidFill>
          <a:ln w="12700">
            <a:solidFill>
              <a:srgbClr val="4ADE80"/>
            </a:solidFill>
            <a:prstDash val="solid"/>
          </a:ln>
        </p:spPr>
        <p:txBody>
          <a:bodyPr/>
          <a:lstStyle/>
          <a:p>
            <a:endParaRPr lang="en-US"/>
          </a:p>
        </p:txBody>
      </p:sp>
      <p:sp>
        <p:nvSpPr>
          <p:cNvPr id="9" name="Text 7"/>
          <p:cNvSpPr/>
          <p:nvPr/>
        </p:nvSpPr>
        <p:spPr>
          <a:xfrm>
            <a:off x="4535424" y="2157984"/>
            <a:ext cx="3127248" cy="438912"/>
          </a:xfrm>
          <a:prstGeom prst="rect">
            <a:avLst/>
          </a:prstGeom>
          <a:noFill/>
          <a:ln/>
        </p:spPr>
        <p:txBody>
          <a:bodyPr wrap="square" lIns="0" tIns="0" rIns="0" bIns="0" rtlCol="0" anchor="t"/>
          <a:lstStyle/>
          <a:p>
            <a:pPr marL="0" indent="0">
              <a:buNone/>
            </a:pPr>
            <a:r>
              <a:rPr lang="en-US" sz="1600" b="1" dirty="0">
                <a:solidFill>
                  <a:srgbClr val="4ADE80"/>
                </a:solidFill>
                <a:latin typeface="Arial" pitchFamily="34" charset="0"/>
                <a:ea typeface="Arial" pitchFamily="34" charset="-122"/>
                <a:cs typeface="Arial" pitchFamily="34" charset="-120"/>
              </a:rPr>
              <a:t>What the regulator found</a:t>
            </a:r>
            <a:endParaRPr lang="en-US" sz="1600" dirty="0"/>
          </a:p>
        </p:txBody>
      </p:sp>
      <p:sp>
        <p:nvSpPr>
          <p:cNvPr id="10" name="Text 8"/>
          <p:cNvSpPr/>
          <p:nvPr/>
        </p:nvSpPr>
        <p:spPr>
          <a:xfrm>
            <a:off x="4535424" y="2679192"/>
            <a:ext cx="3127248" cy="121615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About 400,000 New York applicants reviewed. No evidence of deliberate or disparate-impact discrimination found.</a:t>
            </a:r>
            <a:endParaRPr lang="en-US" sz="1600" dirty="0"/>
          </a:p>
        </p:txBody>
      </p:sp>
      <p:sp>
        <p:nvSpPr>
          <p:cNvPr id="11" name="Shape 9"/>
          <p:cNvSpPr/>
          <p:nvPr/>
        </p:nvSpPr>
        <p:spPr>
          <a:xfrm>
            <a:off x="8101584" y="2011680"/>
            <a:ext cx="3529584" cy="2011680"/>
          </a:xfrm>
          <a:prstGeom prst="roundRect">
            <a:avLst>
              <a:gd name="adj" fmla="val 3636"/>
            </a:avLst>
          </a:prstGeom>
          <a:solidFill>
            <a:srgbClr val="2A2313"/>
          </a:solidFill>
          <a:ln w="12700">
            <a:solidFill>
              <a:srgbClr val="FBBF24"/>
            </a:solidFill>
            <a:prstDash val="solid"/>
          </a:ln>
        </p:spPr>
        <p:txBody>
          <a:bodyPr/>
          <a:lstStyle/>
          <a:p>
            <a:endParaRPr lang="en-US"/>
          </a:p>
        </p:txBody>
      </p:sp>
      <p:sp>
        <p:nvSpPr>
          <p:cNvPr id="12" name="Text 10"/>
          <p:cNvSpPr/>
          <p:nvPr/>
        </p:nvSpPr>
        <p:spPr>
          <a:xfrm>
            <a:off x="8302752" y="2157984"/>
            <a:ext cx="3127248"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What it criticized anyway</a:t>
            </a:r>
            <a:endParaRPr lang="en-US" sz="1600" dirty="0"/>
          </a:p>
        </p:txBody>
      </p:sp>
      <p:sp>
        <p:nvSpPr>
          <p:cNvPr id="13" name="Text 11"/>
          <p:cNvSpPr/>
          <p:nvPr/>
        </p:nvSpPr>
        <p:spPr>
          <a:xfrm>
            <a:off x="8302752" y="2679192"/>
            <a:ext cx="3127248" cy="121615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Poor customer service and transparency. No adequate process to explain individual limits.</a:t>
            </a:r>
            <a:endParaRPr lang="en-US" sz="1600" dirty="0"/>
          </a:p>
        </p:txBody>
      </p:sp>
      <p:sp>
        <p:nvSpPr>
          <p:cNvPr id="14" name="Shape 12"/>
          <p:cNvSpPr/>
          <p:nvPr/>
        </p:nvSpPr>
        <p:spPr>
          <a:xfrm>
            <a:off x="566928" y="4160520"/>
            <a:ext cx="11064240" cy="1005840"/>
          </a:xfrm>
          <a:prstGeom prst="roundRect">
            <a:avLst>
              <a:gd name="adj" fmla="val 7273"/>
            </a:avLst>
          </a:prstGeom>
          <a:solidFill>
            <a:srgbClr val="171A22"/>
          </a:solidFill>
          <a:ln w="12700">
            <a:solidFill>
              <a:srgbClr val="22D3EE"/>
            </a:solidFill>
            <a:prstDash val="solid"/>
          </a:ln>
        </p:spPr>
        <p:txBody>
          <a:bodyPr/>
          <a:lstStyle/>
          <a:p>
            <a:endParaRPr lang="en-US"/>
          </a:p>
        </p:txBody>
      </p:sp>
      <p:sp>
        <p:nvSpPr>
          <p:cNvPr id="15" name="Text 13"/>
          <p:cNvSpPr/>
          <p:nvPr/>
        </p:nvSpPr>
        <p:spPr>
          <a:xfrm>
            <a:off x="786384" y="427024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You can be lawful and still fail the customer</a:t>
            </a:r>
            <a:endParaRPr lang="en-US" sz="1600" dirty="0"/>
          </a:p>
        </p:txBody>
      </p:sp>
      <p:sp>
        <p:nvSpPr>
          <p:cNvPr id="16" name="Text 14"/>
          <p:cNvSpPr/>
          <p:nvPr/>
        </p:nvSpPr>
        <p:spPr>
          <a:xfrm>
            <a:off x="786384" y="4608576"/>
            <a:ext cx="10625328" cy="48463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A defensible model still needs a usable explanation and a process for answering customer questions.</a:t>
            </a:r>
            <a:endParaRPr lang="en-US" sz="1500" dirty="0"/>
          </a:p>
        </p:txBody>
      </p:sp>
      <p:sp>
        <p:nvSpPr>
          <p:cNvPr id="17" name="Text 15"/>
          <p:cNvSpPr/>
          <p:nvPr/>
        </p:nvSpPr>
        <p:spPr>
          <a:xfrm>
            <a:off x="566928" y="5321808"/>
            <a:ext cx="11064240" cy="219456"/>
          </a:xfrm>
          <a:prstGeom prst="rect">
            <a:avLst/>
          </a:prstGeom>
          <a:noFill/>
          <a:ln/>
        </p:spPr>
        <p:txBody>
          <a:bodyPr wrap="square" lIns="0" tIns="0" rIns="0" bIns="0" rtlCol="0" anchor="ctr"/>
          <a:lstStyle/>
          <a:p>
            <a:pPr marL="0" indent="0" algn="ctr">
              <a:buNone/>
            </a:pPr>
            <a:r>
              <a:rPr lang="en-US" sz="950" b="1" kern="0" spc="110" dirty="0">
                <a:solidFill>
                  <a:srgbClr val="99A5B5"/>
                </a:solidFill>
                <a:latin typeface="Arial" pitchFamily="34" charset="0"/>
                <a:ea typeface="Arial" pitchFamily="34" charset="-122"/>
                <a:cs typeface="Arial" pitchFamily="34" charset="-120"/>
              </a:rPr>
              <a:t>CLICK TO OPEN PRIMARY SOURCES</a:t>
            </a:r>
            <a:endParaRPr lang="en-US" sz="950" dirty="0"/>
          </a:p>
        </p:txBody>
      </p:sp>
      <p:sp>
        <p:nvSpPr>
          <p:cNvPr id="18" name="Text 16"/>
          <p:cNvSpPr/>
          <p:nvPr/>
        </p:nvSpPr>
        <p:spPr>
          <a:xfrm>
            <a:off x="566928" y="5596128"/>
            <a:ext cx="5413248" cy="347472"/>
          </a:xfrm>
          <a:prstGeom prst="rect">
            <a:avLst/>
          </a:prstGeom>
          <a:noFill/>
          <a:ln/>
        </p:spPr>
        <p:txBody>
          <a:bodyPr wrap="square" lIns="0" tIns="0" rIns="0" bIns="0" rtlCol="0" anchor="ctr"/>
          <a:lstStyle/>
          <a:p>
            <a:pPr marL="0" indent="0" algn="ctr">
              <a:buNone/>
            </a:pPr>
            <a:r>
              <a:rPr lang="en-US" sz="1200" b="1" u="sng" dirty="0">
                <a:solidFill>
                  <a:srgbClr val="22D3EE"/>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DFS press release ↗</a:t>
            </a:r>
            <a:endParaRPr lang="en-US" sz="1200" dirty="0"/>
          </a:p>
        </p:txBody>
      </p:sp>
      <p:sp>
        <p:nvSpPr>
          <p:cNvPr id="19" name="Text 17"/>
          <p:cNvSpPr/>
          <p:nvPr/>
        </p:nvSpPr>
        <p:spPr>
          <a:xfrm>
            <a:off x="6217920" y="5596128"/>
            <a:ext cx="5413248" cy="347472"/>
          </a:xfrm>
          <a:prstGeom prst="rect">
            <a:avLst/>
          </a:prstGeom>
          <a:noFill/>
          <a:ln/>
        </p:spPr>
        <p:txBody>
          <a:bodyPr wrap="square" lIns="0" tIns="0" rIns="0" bIns="0" rtlCol="0" anchor="ctr"/>
          <a:lstStyle/>
          <a:p>
            <a:pPr marL="0" indent="0" algn="ctr">
              <a:buNone/>
            </a:pPr>
            <a:r>
              <a:rPr lang="en-US" sz="1200" b="1" u="sng" dirty="0">
                <a:solidFill>
                  <a:srgbClr val="22D3EE"/>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DFS full investigation report ↗</a:t>
            </a:r>
            <a:endParaRPr lang="en-US" sz="1200" dirty="0"/>
          </a:p>
        </p:txBody>
      </p:sp>
      <p:sp>
        <p:nvSpPr>
          <p:cNvPr id="20" name="Text 18"/>
          <p:cNvSpPr/>
          <p:nvPr/>
        </p:nvSpPr>
        <p:spPr>
          <a:xfrm>
            <a:off x="566928" y="6016752"/>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Source: New York State Department of Financial Services, report on the Apple Card investigation (March 2021)</a:t>
            </a:r>
            <a:endParaRPr lang="en-US" sz="1100" dirty="0"/>
          </a:p>
        </p:txBody>
      </p:sp>
      <p:sp>
        <p:nvSpPr>
          <p:cNvPr id="21" name="Text 19"/>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Governance &amp; cases</a:t>
            </a:r>
            <a:endParaRPr lang="en-US" sz="1000" dirty="0"/>
          </a:p>
        </p:txBody>
      </p:sp>
      <p:sp>
        <p:nvSpPr>
          <p:cNvPr id="22" name="Text 20"/>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CASE STUDIES · DEPLOYMENT AND OVERSIGHT</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One failure, one success with an asterisk</a:t>
            </a:r>
            <a:endParaRPr lang="en-US" sz="2800" dirty="0"/>
          </a:p>
        </p:txBody>
      </p:sp>
      <p:sp>
        <p:nvSpPr>
          <p:cNvPr id="4" name="Shape 2"/>
          <p:cNvSpPr/>
          <p:nvPr/>
        </p:nvSpPr>
        <p:spPr>
          <a:xfrm>
            <a:off x="566928" y="1600200"/>
            <a:ext cx="5413248" cy="2331720"/>
          </a:xfrm>
          <a:prstGeom prst="roundRect">
            <a:avLst>
              <a:gd name="adj" fmla="val 3137"/>
            </a:avLst>
          </a:prstGeom>
          <a:solidFill>
            <a:srgbClr val="2A2313"/>
          </a:solidFill>
          <a:ln w="12700">
            <a:solidFill>
              <a:srgbClr val="FBBF24"/>
            </a:solidFill>
            <a:prstDash val="solid"/>
          </a:ln>
        </p:spPr>
        <p:txBody>
          <a:bodyPr/>
          <a:lstStyle/>
          <a:p>
            <a:endParaRPr lang="en-US"/>
          </a:p>
        </p:txBody>
      </p:sp>
      <p:sp>
        <p:nvSpPr>
          <p:cNvPr id="5" name="Text 3"/>
          <p:cNvSpPr/>
          <p:nvPr/>
        </p:nvSpPr>
        <p:spPr>
          <a:xfrm>
            <a:off x="768096" y="1746504"/>
            <a:ext cx="5010912" cy="438912"/>
          </a:xfrm>
          <a:prstGeom prst="rect">
            <a:avLst/>
          </a:prstGeom>
          <a:noFill/>
          <a:ln/>
        </p:spPr>
        <p:txBody>
          <a:bodyPr wrap="square" lIns="0" tIns="0" rIns="0" bIns="0" rtlCol="0" anchor="t"/>
          <a:lstStyle/>
          <a:p>
            <a:pPr marL="0" indent="0">
              <a:buNone/>
            </a:pPr>
            <a:r>
              <a:rPr lang="en-US" sz="1600" b="1" dirty="0">
                <a:solidFill>
                  <a:srgbClr val="FBBF24"/>
                </a:solidFill>
                <a:latin typeface="Arial" pitchFamily="34" charset="0"/>
                <a:ea typeface="Arial" pitchFamily="34" charset="-122"/>
                <a:cs typeface="Arial" pitchFamily="34" charset="-120"/>
              </a:rPr>
              <a:t>Knight Capital · 2012</a:t>
            </a:r>
            <a:endParaRPr lang="en-US" sz="1600" dirty="0"/>
          </a:p>
        </p:txBody>
      </p:sp>
      <p:sp>
        <p:nvSpPr>
          <p:cNvPr id="6" name="Text 4"/>
          <p:cNvSpPr/>
          <p:nvPr/>
        </p:nvSpPr>
        <p:spPr>
          <a:xfrm>
            <a:off x="768096" y="2267712"/>
            <a:ext cx="5010912" cy="153619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A faulty trading-software deployment caused more than $460 million in losses in about 45 minutes; the SEC imposed a $12 million penalty. No machine learning was involved. Release checks and stop controls still matter.</a:t>
            </a:r>
            <a:endParaRPr lang="en-US" sz="1600" dirty="0"/>
          </a:p>
        </p:txBody>
      </p:sp>
      <p:sp>
        <p:nvSpPr>
          <p:cNvPr id="7" name="Shape 5"/>
          <p:cNvSpPr/>
          <p:nvPr/>
        </p:nvSpPr>
        <p:spPr>
          <a:xfrm>
            <a:off x="6217920" y="1600200"/>
            <a:ext cx="5413248" cy="2331720"/>
          </a:xfrm>
          <a:prstGeom prst="roundRect">
            <a:avLst>
              <a:gd name="adj" fmla="val 3137"/>
            </a:avLst>
          </a:prstGeom>
          <a:solidFill>
            <a:srgbClr val="121C2B"/>
          </a:solidFill>
          <a:ln w="12700">
            <a:solidFill>
              <a:srgbClr val="22D3EE"/>
            </a:solidFill>
            <a:prstDash val="solid"/>
          </a:ln>
        </p:spPr>
        <p:txBody>
          <a:bodyPr/>
          <a:lstStyle/>
          <a:p>
            <a:endParaRPr lang="en-US"/>
          </a:p>
        </p:txBody>
      </p:sp>
      <p:sp>
        <p:nvSpPr>
          <p:cNvPr id="8" name="Text 6"/>
          <p:cNvSpPr/>
          <p:nvPr/>
        </p:nvSpPr>
        <p:spPr>
          <a:xfrm>
            <a:off x="6419088" y="1746504"/>
            <a:ext cx="5010912" cy="438912"/>
          </a:xfrm>
          <a:prstGeom prst="rect">
            <a:avLst/>
          </a:prstGeom>
          <a:noFill/>
          <a:ln/>
        </p:spPr>
        <p:txBody>
          <a:bodyPr wrap="square" lIns="0" tIns="0" rIns="0" bIns="0" rtlCol="0" anchor="t"/>
          <a:lstStyle/>
          <a:p>
            <a:pPr marL="0" indent="0">
              <a:buNone/>
            </a:pPr>
            <a:r>
              <a:rPr lang="en-US" sz="1600" b="1" dirty="0">
                <a:solidFill>
                  <a:srgbClr val="22D3EE"/>
                </a:solidFill>
                <a:latin typeface="Arial" pitchFamily="34" charset="0"/>
                <a:ea typeface="Arial" pitchFamily="34" charset="-122"/>
                <a:cs typeface="Arial" pitchFamily="34" charset="-120"/>
              </a:rPr>
              <a:t>Upstart · 2017–2022</a:t>
            </a:r>
            <a:endParaRPr lang="en-US" sz="1600" dirty="0"/>
          </a:p>
        </p:txBody>
      </p:sp>
      <p:sp>
        <p:nvSpPr>
          <p:cNvPr id="9" name="Text 7"/>
          <p:cNvSpPr/>
          <p:nvPr/>
        </p:nvSpPr>
        <p:spPr>
          <a:xfrm>
            <a:off x="6419088" y="2267712"/>
            <a:ext cx="5010912" cy="1536192"/>
          </a:xfrm>
          <a:prstGeom prst="rect">
            <a:avLst/>
          </a:prstGeom>
          <a:noFill/>
          <a:ln/>
        </p:spPr>
        <p:txBody>
          <a:bodyPr wrap="square" lIns="0" tIns="0" rIns="0" bIns="0" rtlCol="0" anchor="t"/>
          <a:lstStyle/>
          <a:p>
            <a:pPr marL="0" indent="0">
              <a:buNone/>
            </a:pPr>
            <a:r>
              <a:rPr lang="en-US" sz="1600" dirty="0">
                <a:solidFill>
                  <a:srgbClr val="F2F4F8"/>
                </a:solidFill>
                <a:latin typeface="Arial" pitchFamily="34" charset="0"/>
                <a:ea typeface="Arial" pitchFamily="34" charset="-122"/>
                <a:cs typeface="Arial" pitchFamily="34" charset="-120"/>
              </a:rPr>
              <a:t>CFPB issued a no-action letter for AI underwriting, with fair-lending reporting. Upstart requested termination in June 2022 because model changes required review under the arrangement.</a:t>
            </a:r>
            <a:endParaRPr lang="en-US" sz="1600" dirty="0"/>
          </a:p>
        </p:txBody>
      </p:sp>
      <p:sp>
        <p:nvSpPr>
          <p:cNvPr id="10" name="Shape 8"/>
          <p:cNvSpPr/>
          <p:nvPr/>
        </p:nvSpPr>
        <p:spPr>
          <a:xfrm>
            <a:off x="566928" y="4069080"/>
            <a:ext cx="11064240" cy="1097280"/>
          </a:xfrm>
          <a:prstGeom prst="roundRect">
            <a:avLst>
              <a:gd name="adj" fmla="val 6667"/>
            </a:avLst>
          </a:prstGeom>
          <a:solidFill>
            <a:srgbClr val="171A22"/>
          </a:solidFill>
          <a:ln w="12700">
            <a:solidFill>
              <a:srgbClr val="22D3EE"/>
            </a:solidFill>
            <a:prstDash val="solid"/>
          </a:ln>
        </p:spPr>
        <p:txBody>
          <a:bodyPr/>
          <a:lstStyle/>
          <a:p>
            <a:endParaRPr lang="en-US"/>
          </a:p>
        </p:txBody>
      </p:sp>
      <p:sp>
        <p:nvSpPr>
          <p:cNvPr id="11" name="Text 9"/>
          <p:cNvSpPr/>
          <p:nvPr/>
        </p:nvSpPr>
        <p:spPr>
          <a:xfrm>
            <a:off x="786384" y="4178808"/>
            <a:ext cx="10625328" cy="27432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The model is never the whole system</a:t>
            </a:r>
            <a:endParaRPr lang="en-US" sz="1600" dirty="0"/>
          </a:p>
        </p:txBody>
      </p:sp>
      <p:sp>
        <p:nvSpPr>
          <p:cNvPr id="12" name="Text 10"/>
          <p:cNvSpPr/>
          <p:nvPr/>
        </p:nvSpPr>
        <p:spPr>
          <a:xfrm>
            <a:off x="786384" y="4517136"/>
            <a:ext cx="10625328" cy="576072"/>
          </a:xfrm>
          <a:prstGeom prst="rect">
            <a:avLst/>
          </a:prstGeom>
          <a:noFill/>
          <a:ln/>
        </p:spPr>
        <p:txBody>
          <a:bodyPr wrap="square" lIns="0" tIns="0" rIns="0" bIns="0" rtlCol="0" anchor="t"/>
          <a:lstStyle/>
          <a:p>
            <a:pPr marL="0" indent="0">
              <a:buNone/>
            </a:pPr>
            <a:r>
              <a:rPr lang="en-US" sz="1500" dirty="0">
                <a:solidFill>
                  <a:srgbClr val="F2F4F8"/>
                </a:solidFill>
                <a:latin typeface="Arial" pitchFamily="34" charset="0"/>
                <a:ea typeface="Arial" pitchFamily="34" charset="-122"/>
                <a:cs typeface="Arial" pitchFamily="34" charset="-120"/>
              </a:rPr>
              <a:t>Knight: control deployment. Upstart: oversight can constrain model updates. Neither lesson is about accuracy alone.</a:t>
            </a:r>
            <a:endParaRPr lang="en-US" sz="1500" dirty="0"/>
          </a:p>
        </p:txBody>
      </p:sp>
      <p:sp>
        <p:nvSpPr>
          <p:cNvPr id="13" name="Text 11"/>
          <p:cNvSpPr/>
          <p:nvPr/>
        </p:nvSpPr>
        <p:spPr>
          <a:xfrm>
            <a:off x="566928" y="5303520"/>
            <a:ext cx="11064240" cy="219456"/>
          </a:xfrm>
          <a:prstGeom prst="rect">
            <a:avLst/>
          </a:prstGeom>
          <a:noFill/>
          <a:ln/>
        </p:spPr>
        <p:txBody>
          <a:bodyPr wrap="square" lIns="0" tIns="0" rIns="0" bIns="0" rtlCol="0" anchor="ctr"/>
          <a:lstStyle/>
          <a:p>
            <a:pPr marL="0" indent="0" algn="ctr">
              <a:buNone/>
            </a:pPr>
            <a:r>
              <a:rPr lang="en-US" sz="950" b="1" kern="0" spc="110" dirty="0">
                <a:solidFill>
                  <a:srgbClr val="99A5B5"/>
                </a:solidFill>
                <a:latin typeface="Arial" pitchFamily="34" charset="0"/>
                <a:ea typeface="Arial" pitchFamily="34" charset="-122"/>
                <a:cs typeface="Arial" pitchFamily="34" charset="-120"/>
              </a:rPr>
              <a:t>CLICK TO OPEN PRIMARY SOURCES</a:t>
            </a:r>
            <a:endParaRPr lang="en-US" sz="950" dirty="0"/>
          </a:p>
        </p:txBody>
      </p:sp>
      <p:sp>
        <p:nvSpPr>
          <p:cNvPr id="14" name="Text 12"/>
          <p:cNvSpPr/>
          <p:nvPr/>
        </p:nvSpPr>
        <p:spPr>
          <a:xfrm>
            <a:off x="566928" y="5577840"/>
            <a:ext cx="3529584" cy="347472"/>
          </a:xfrm>
          <a:prstGeom prst="rect">
            <a:avLst/>
          </a:prstGeom>
          <a:noFill/>
          <a:ln/>
        </p:spPr>
        <p:txBody>
          <a:bodyPr wrap="square" lIns="0" tIns="0" rIns="0" bIns="0" rtlCol="0" anchor="ctr"/>
          <a:lstStyle/>
          <a:p>
            <a:pPr marL="0" indent="0" algn="ctr">
              <a:buNone/>
            </a:pPr>
            <a:r>
              <a:rPr lang="en-US" sz="1200" b="1" u="sng" dirty="0">
                <a:solidFill>
                  <a:srgbClr val="22D3EE"/>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SEC press release · Knight ↗</a:t>
            </a:r>
            <a:endParaRPr lang="en-US" sz="1200" dirty="0"/>
          </a:p>
        </p:txBody>
      </p:sp>
      <p:sp>
        <p:nvSpPr>
          <p:cNvPr id="15" name="Text 13"/>
          <p:cNvSpPr/>
          <p:nvPr/>
        </p:nvSpPr>
        <p:spPr>
          <a:xfrm>
            <a:off x="4334256" y="5577840"/>
            <a:ext cx="3529584" cy="347472"/>
          </a:xfrm>
          <a:prstGeom prst="rect">
            <a:avLst/>
          </a:prstGeom>
          <a:noFill/>
          <a:ln/>
        </p:spPr>
        <p:txBody>
          <a:bodyPr wrap="square" lIns="0" tIns="0" rIns="0" bIns="0" rtlCol="0" anchor="ctr"/>
          <a:lstStyle/>
          <a:p>
            <a:pPr marL="0" indent="0" algn="ctr">
              <a:buNone/>
            </a:pPr>
            <a:r>
              <a:rPr lang="en-US" sz="1200" b="1" u="sng" dirty="0">
                <a:solidFill>
                  <a:srgbClr val="22D3EE"/>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CFPB · first no-action letter ↗</a:t>
            </a:r>
            <a:endParaRPr lang="en-US" sz="1200" dirty="0"/>
          </a:p>
        </p:txBody>
      </p:sp>
      <p:sp>
        <p:nvSpPr>
          <p:cNvPr id="16" name="Text 14"/>
          <p:cNvSpPr/>
          <p:nvPr/>
        </p:nvSpPr>
        <p:spPr>
          <a:xfrm>
            <a:off x="8101584" y="5577840"/>
            <a:ext cx="3529584" cy="347472"/>
          </a:xfrm>
          <a:prstGeom prst="rect">
            <a:avLst/>
          </a:prstGeom>
          <a:noFill/>
          <a:ln/>
        </p:spPr>
        <p:txBody>
          <a:bodyPr wrap="square" lIns="0" tIns="0" rIns="0" bIns="0" rtlCol="0" anchor="ctr"/>
          <a:lstStyle/>
          <a:p>
            <a:pPr marL="0" indent="0" algn="ctr">
              <a:buNone/>
            </a:pPr>
            <a:r>
              <a:rPr lang="en-US" sz="1200" b="1" u="sng" dirty="0">
                <a:solidFill>
                  <a:srgbClr val="22D3EE"/>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CFPB · termination order ↗</a:t>
            </a:r>
            <a:endParaRPr lang="en-US" sz="1200" dirty="0"/>
          </a:p>
        </p:txBody>
      </p:sp>
      <p:sp>
        <p:nvSpPr>
          <p:cNvPr id="17" name="Text 15"/>
          <p:cNvSpPr/>
          <p:nvPr/>
        </p:nvSpPr>
        <p:spPr>
          <a:xfrm>
            <a:off x="566928" y="6016752"/>
            <a:ext cx="11064240" cy="365760"/>
          </a:xfrm>
          <a:prstGeom prst="rect">
            <a:avLst/>
          </a:prstGeom>
          <a:noFill/>
          <a:ln/>
        </p:spPr>
        <p:txBody>
          <a:bodyPr wrap="square" lIns="0" tIns="0" rIns="0" bIns="0" rtlCol="0" anchor="t"/>
          <a:lstStyle/>
          <a:p>
            <a:pPr marL="0" indent="0">
              <a:buNone/>
            </a:pPr>
            <a:r>
              <a:rPr lang="en-US" sz="1100" dirty="0">
                <a:solidFill>
                  <a:srgbClr val="99A5B5"/>
                </a:solidFill>
                <a:latin typeface="Arial" pitchFamily="34" charset="0"/>
                <a:ea typeface="Arial" pitchFamily="34" charset="-122"/>
                <a:cs typeface="Arial" pitchFamily="34" charset="-120"/>
              </a:rPr>
              <a:t>Sources: SEC press release and administrative order (2013) · CFPB newsroom (2017 and 2022)</a:t>
            </a:r>
            <a:endParaRPr lang="en-US" sz="1100" dirty="0"/>
          </a:p>
        </p:txBody>
      </p:sp>
      <p:sp>
        <p:nvSpPr>
          <p:cNvPr id="18" name="Text 16"/>
          <p:cNvSpPr/>
          <p:nvPr/>
        </p:nvSpPr>
        <p:spPr>
          <a:xfrm>
            <a:off x="566928" y="6355080"/>
            <a:ext cx="7863840" cy="274320"/>
          </a:xfrm>
          <a:prstGeom prst="rect">
            <a:avLst/>
          </a:prstGeom>
          <a:noFill/>
          <a:ln/>
        </p:spPr>
        <p:txBody>
          <a:bodyPr wrap="square" lIns="0" tIns="0" rIns="0" bIns="0" rtlCol="0" anchor="ctr"/>
          <a:lstStyle/>
          <a:p>
            <a:pPr marL="0" indent="0">
              <a:buNone/>
            </a:pPr>
            <a:r>
              <a:rPr lang="en-US" sz="1000" dirty="0">
                <a:solidFill>
                  <a:srgbClr val="99A5B5"/>
                </a:solidFill>
                <a:latin typeface="Arial" pitchFamily="34" charset="0"/>
                <a:ea typeface="Arial" pitchFamily="34" charset="-122"/>
                <a:cs typeface="Arial" pitchFamily="34" charset="-120"/>
              </a:rPr>
              <a:t>ITAI 2372 · Module 4 · Governance &amp; cases</a:t>
            </a:r>
            <a:endParaRPr lang="en-US" sz="1000" dirty="0"/>
          </a:p>
        </p:txBody>
      </p:sp>
      <p:sp>
        <p:nvSpPr>
          <p:cNvPr id="19" name="Text 17"/>
          <p:cNvSpPr/>
          <p:nvPr/>
        </p:nvSpPr>
        <p:spPr>
          <a:xfrm>
            <a:off x="10881360" y="6355080"/>
            <a:ext cx="749808" cy="274320"/>
          </a:xfrm>
          <a:prstGeom prst="rect">
            <a:avLst/>
          </a:prstGeom>
          <a:noFill/>
          <a:ln/>
        </p:spPr>
        <p:txBody>
          <a:bodyPr wrap="square" lIns="0" tIns="0" rIns="0" bIns="0" rtlCol="0" anchor="ctr"/>
          <a:lstStyle/>
          <a:p>
            <a:pPr marL="0" indent="0" algn="r">
              <a:buNone/>
            </a:pPr>
            <a:r>
              <a:rPr lang="en-US" sz="1000" dirty="0">
                <a:solidFill>
                  <a:srgbClr val="99A5B5"/>
                </a:solidFill>
                <a:latin typeface="Arial" pitchFamily="34" charset="0"/>
                <a:ea typeface="Arial" pitchFamily="34" charset="-122"/>
                <a:cs typeface="Arial"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566928" y="384048"/>
            <a:ext cx="8595360" cy="256032"/>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WRAP AND THE ASSIGNMENT</a:t>
            </a:r>
            <a:endParaRPr lang="en-US" sz="1200" dirty="0"/>
          </a:p>
        </p:txBody>
      </p:sp>
      <p:sp>
        <p:nvSpPr>
          <p:cNvPr id="3" name="Text 1"/>
          <p:cNvSpPr/>
          <p:nvPr/>
        </p:nvSpPr>
        <p:spPr>
          <a:xfrm>
            <a:off x="566928" y="713232"/>
            <a:ext cx="11064240" cy="594360"/>
          </a:xfrm>
          <a:prstGeom prst="rect">
            <a:avLst/>
          </a:prstGeom>
          <a:noFill/>
          <a:ln/>
        </p:spPr>
        <p:txBody>
          <a:bodyPr wrap="square" lIns="0" tIns="0" rIns="0" bIns="0" rtlCol="0" anchor="t"/>
          <a:lstStyle/>
          <a:p>
            <a:pPr marL="0" indent="0">
              <a:buNone/>
            </a:pPr>
            <a:r>
              <a:rPr lang="en-US" sz="2800" b="1" dirty="0">
                <a:solidFill>
                  <a:srgbClr val="F2F4F8"/>
                </a:solidFill>
                <a:latin typeface="Arial" pitchFamily="34" charset="0"/>
                <a:ea typeface="Arial" pitchFamily="34" charset="-122"/>
                <a:cs typeface="Arial" pitchFamily="34" charset="-120"/>
              </a:rPr>
              <a:t>Five things to carry out of tonight</a:t>
            </a:r>
            <a:endParaRPr lang="en-US" sz="2800" dirty="0"/>
          </a:p>
        </p:txBody>
      </p:sp>
      <p:sp>
        <p:nvSpPr>
          <p:cNvPr id="4" name="Shape 2"/>
          <p:cNvSpPr/>
          <p:nvPr/>
        </p:nvSpPr>
        <p:spPr>
          <a:xfrm>
            <a:off x="566928" y="1545336"/>
            <a:ext cx="292608" cy="292608"/>
          </a:xfrm>
          <a:prstGeom prst="ellipse">
            <a:avLst/>
          </a:prstGeom>
          <a:solidFill>
            <a:srgbClr val="22D3EE"/>
          </a:solidFill>
          <a:ln/>
        </p:spPr>
        <p:txBody>
          <a:bodyPr/>
          <a:lstStyle/>
          <a:p>
            <a:endParaRPr lang="en-US"/>
          </a:p>
        </p:txBody>
      </p:sp>
      <p:sp>
        <p:nvSpPr>
          <p:cNvPr id="5" name="Text 3"/>
          <p:cNvSpPr/>
          <p:nvPr/>
        </p:nvSpPr>
        <p:spPr>
          <a:xfrm>
            <a:off x="566928" y="1545336"/>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069848" y="1517904"/>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Name the decision</a:t>
            </a:r>
            <a:endParaRPr lang="en-US" sz="1800" dirty="0"/>
          </a:p>
        </p:txBody>
      </p:sp>
      <p:sp>
        <p:nvSpPr>
          <p:cNvPr id="7" name="Text 5"/>
          <p:cNvSpPr/>
          <p:nvPr/>
        </p:nvSpPr>
        <p:spPr>
          <a:xfrm>
            <a:off x="1069848" y="1883664"/>
            <a:ext cx="10424160" cy="393192"/>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Place the task in fraud, credit, AML, service, or trading. Name its error cost and oversight.</a:t>
            </a:r>
            <a:endParaRPr lang="en-US" sz="1600" dirty="0"/>
          </a:p>
        </p:txBody>
      </p:sp>
      <p:sp>
        <p:nvSpPr>
          <p:cNvPr id="8" name="Shape 6"/>
          <p:cNvSpPr/>
          <p:nvPr/>
        </p:nvSpPr>
        <p:spPr>
          <a:xfrm>
            <a:off x="566928" y="2331720"/>
            <a:ext cx="292608" cy="292608"/>
          </a:xfrm>
          <a:prstGeom prst="ellipse">
            <a:avLst/>
          </a:prstGeom>
          <a:solidFill>
            <a:srgbClr val="38BDF8"/>
          </a:solidFill>
          <a:ln/>
        </p:spPr>
        <p:txBody>
          <a:bodyPr/>
          <a:lstStyle/>
          <a:p>
            <a:endParaRPr lang="en-US"/>
          </a:p>
        </p:txBody>
      </p:sp>
      <p:sp>
        <p:nvSpPr>
          <p:cNvPr id="9" name="Text 7"/>
          <p:cNvSpPr/>
          <p:nvPr/>
        </p:nvSpPr>
        <p:spPr>
          <a:xfrm>
            <a:off x="566928" y="2331720"/>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69848" y="2304288"/>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The model ranks; a person decides</a:t>
            </a:r>
            <a:endParaRPr lang="en-US" sz="1800" dirty="0"/>
          </a:p>
        </p:txBody>
      </p:sp>
      <p:sp>
        <p:nvSpPr>
          <p:cNvPr id="11" name="Text 9"/>
          <p:cNvSpPr/>
          <p:nvPr/>
        </p:nvSpPr>
        <p:spPr>
          <a:xfrm>
            <a:off x="1069848" y="2670048"/>
            <a:ext cx="10424160" cy="393192"/>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Keep the score, the decision, and the eventual outcome separate.</a:t>
            </a:r>
            <a:endParaRPr lang="en-US" sz="1600" dirty="0"/>
          </a:p>
        </p:txBody>
      </p:sp>
      <p:sp>
        <p:nvSpPr>
          <p:cNvPr id="12" name="Shape 10"/>
          <p:cNvSpPr/>
          <p:nvPr/>
        </p:nvSpPr>
        <p:spPr>
          <a:xfrm>
            <a:off x="566928" y="3118104"/>
            <a:ext cx="292608" cy="292608"/>
          </a:xfrm>
          <a:prstGeom prst="ellipse">
            <a:avLst/>
          </a:prstGeom>
          <a:solidFill>
            <a:srgbClr val="FBBF24"/>
          </a:solidFill>
          <a:ln/>
        </p:spPr>
        <p:txBody>
          <a:bodyPr/>
          <a:lstStyle/>
          <a:p>
            <a:endParaRPr lang="en-US"/>
          </a:p>
        </p:txBody>
      </p:sp>
      <p:sp>
        <p:nvSpPr>
          <p:cNvPr id="13" name="Text 11"/>
          <p:cNvSpPr/>
          <p:nvPr/>
        </p:nvSpPr>
        <p:spPr>
          <a:xfrm>
            <a:off x="566928" y="3118104"/>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069848" y="3090672"/>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Explanation is a legal artifact</a:t>
            </a:r>
            <a:endParaRPr lang="en-US" sz="1800" dirty="0"/>
          </a:p>
        </p:txBody>
      </p:sp>
      <p:sp>
        <p:nvSpPr>
          <p:cNvPr id="15" name="Text 13"/>
          <p:cNvSpPr/>
          <p:nvPr/>
        </p:nvSpPr>
        <p:spPr>
          <a:xfrm>
            <a:off x="1069848" y="3456432"/>
            <a:ext cx="10424160" cy="393192"/>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Specific reasons must be readable by the customer. Complexity is not an excuse.</a:t>
            </a:r>
            <a:endParaRPr lang="en-US" sz="1600" dirty="0"/>
          </a:p>
        </p:txBody>
      </p:sp>
      <p:sp>
        <p:nvSpPr>
          <p:cNvPr id="16" name="Shape 14"/>
          <p:cNvSpPr/>
          <p:nvPr/>
        </p:nvSpPr>
        <p:spPr>
          <a:xfrm>
            <a:off x="566928" y="3904488"/>
            <a:ext cx="292608" cy="292608"/>
          </a:xfrm>
          <a:prstGeom prst="ellipse">
            <a:avLst/>
          </a:prstGeom>
          <a:solidFill>
            <a:srgbClr val="818CF8"/>
          </a:solidFill>
          <a:ln/>
        </p:spPr>
        <p:txBody>
          <a:bodyPr/>
          <a:lstStyle/>
          <a:p>
            <a:endParaRPr lang="en-US"/>
          </a:p>
        </p:txBody>
      </p:sp>
      <p:sp>
        <p:nvSpPr>
          <p:cNvPr id="17" name="Text 15"/>
          <p:cNvSpPr/>
          <p:nvPr/>
        </p:nvSpPr>
        <p:spPr>
          <a:xfrm>
            <a:off x="566928" y="3904488"/>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069848" y="3877056"/>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Newest is not automatically best</a:t>
            </a:r>
            <a:endParaRPr lang="en-US" sz="1800" dirty="0"/>
          </a:p>
        </p:txBody>
      </p:sp>
      <p:sp>
        <p:nvSpPr>
          <p:cNvPr id="19" name="Text 17"/>
          <p:cNvSpPr/>
          <p:nvPr/>
        </p:nvSpPr>
        <p:spPr>
          <a:xfrm>
            <a:off x="1069848" y="4242816"/>
            <a:ext cx="10424160" cy="393192"/>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Match the comparison. Consider performance, explainability, and cost together.</a:t>
            </a:r>
            <a:endParaRPr lang="en-US" sz="1600" dirty="0"/>
          </a:p>
        </p:txBody>
      </p:sp>
      <p:sp>
        <p:nvSpPr>
          <p:cNvPr id="20" name="Shape 18"/>
          <p:cNvSpPr/>
          <p:nvPr/>
        </p:nvSpPr>
        <p:spPr>
          <a:xfrm>
            <a:off x="566928" y="4690872"/>
            <a:ext cx="292608" cy="292608"/>
          </a:xfrm>
          <a:prstGeom prst="ellipse">
            <a:avLst/>
          </a:prstGeom>
          <a:solidFill>
            <a:srgbClr val="A78BFA"/>
          </a:solidFill>
          <a:ln/>
        </p:spPr>
        <p:txBody>
          <a:bodyPr/>
          <a:lstStyle/>
          <a:p>
            <a:endParaRPr lang="en-US"/>
          </a:p>
        </p:txBody>
      </p:sp>
      <p:sp>
        <p:nvSpPr>
          <p:cNvPr id="21" name="Text 19"/>
          <p:cNvSpPr/>
          <p:nvPr/>
        </p:nvSpPr>
        <p:spPr>
          <a:xfrm>
            <a:off x="566928" y="4690872"/>
            <a:ext cx="292608" cy="292608"/>
          </a:xfrm>
          <a:prstGeom prst="rect">
            <a:avLst/>
          </a:prstGeom>
          <a:noFill/>
          <a:ln/>
        </p:spPr>
        <p:txBody>
          <a:bodyPr wrap="square" lIns="0" tIns="0" rIns="0" bIns="0" rtlCol="0" anchor="ctr"/>
          <a:lstStyle/>
          <a:p>
            <a:pPr marL="0" indent="0" algn="ctr">
              <a:buNone/>
            </a:pPr>
            <a:r>
              <a:rPr lang="en-US" sz="1300" b="1" dirty="0">
                <a:solidFill>
                  <a:srgbClr val="0F1117"/>
                </a:solidFill>
                <a:latin typeface="Arial" pitchFamily="34" charset="0"/>
                <a:ea typeface="Arial" pitchFamily="34" charset="-122"/>
                <a:cs typeface="Arial" pitchFamily="34" charset="-120"/>
              </a:rPr>
              <a:t>5</a:t>
            </a:r>
            <a:endParaRPr lang="en-US" sz="1300" dirty="0"/>
          </a:p>
        </p:txBody>
      </p:sp>
      <p:sp>
        <p:nvSpPr>
          <p:cNvPr id="22" name="Text 20"/>
          <p:cNvSpPr/>
          <p:nvPr/>
        </p:nvSpPr>
        <p:spPr>
          <a:xfrm>
            <a:off x="1069848" y="4663440"/>
            <a:ext cx="10515600" cy="310896"/>
          </a:xfrm>
          <a:prstGeom prst="rect">
            <a:avLst/>
          </a:prstGeom>
          <a:noFill/>
          <a:ln/>
        </p:spPr>
        <p:txBody>
          <a:bodyPr wrap="square" lIns="0" tIns="0" rIns="0" bIns="0" rtlCol="0" anchor="t"/>
          <a:lstStyle/>
          <a:p>
            <a:pPr marL="0" indent="0">
              <a:buNone/>
            </a:pPr>
            <a:r>
              <a:rPr lang="en-US" sz="1800" b="1" dirty="0">
                <a:solidFill>
                  <a:srgbClr val="F2F4F8"/>
                </a:solidFill>
                <a:latin typeface="Arial" pitchFamily="34" charset="0"/>
                <a:ea typeface="Arial" pitchFamily="34" charset="-122"/>
                <a:cs typeface="Arial" pitchFamily="34" charset="-120"/>
              </a:rPr>
              <a:t>Governance decides what actually ships</a:t>
            </a:r>
            <a:endParaRPr lang="en-US" sz="1800" dirty="0"/>
          </a:p>
        </p:txBody>
      </p:sp>
      <p:sp>
        <p:nvSpPr>
          <p:cNvPr id="23" name="Text 21"/>
          <p:cNvSpPr/>
          <p:nvPr/>
        </p:nvSpPr>
        <p:spPr>
          <a:xfrm>
            <a:off x="1069848" y="5029200"/>
            <a:ext cx="10424160" cy="393192"/>
          </a:xfrm>
          <a:prstGeom prst="rect">
            <a:avLst/>
          </a:prstGeom>
          <a:noFill/>
          <a:ln/>
        </p:spPr>
        <p:txBody>
          <a:bodyPr wrap="square" lIns="0" tIns="0" rIns="0" bIns="0" rtlCol="0" anchor="t"/>
          <a:lstStyle/>
          <a:p>
            <a:pPr marL="0" indent="0">
              <a:buNone/>
            </a:pPr>
            <a:r>
              <a:rPr lang="en-US" sz="1600" dirty="0">
                <a:solidFill>
                  <a:srgbClr val="AAB2C0"/>
                </a:solidFill>
                <a:latin typeface="Arial" pitchFamily="34" charset="0"/>
                <a:ea typeface="Arial" pitchFamily="34" charset="-122"/>
                <a:cs typeface="Arial" pitchFamily="34" charset="-120"/>
              </a:rPr>
              <a:t>Document, validate independently, monitor, and inventory the model.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1362</TotalTime>
  <Words>14987</Words>
  <Application>Microsoft Macintosh PowerPoint</Application>
  <PresentationFormat>Widescreen</PresentationFormat>
  <Paragraphs>593</Paragraphs>
  <Slides>31</Slides>
  <Notes>31</Notes>
  <HiddenSlides>3</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31</vt:i4>
      </vt:variant>
    </vt:vector>
  </HeadingPairs>
  <TitlesOfParts>
    <vt:vector size="3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Houston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ITAI 2372 - Module 4: AI in Finance and Risk Management</dc:title>
  <dc:subject>AI in finance and risk management: credit risk, complaint routing, explainability, fair lending, and model governance</dc:subject>
  <dc:creator>Yuexin Mao</dc:creator>
  <cp:lastModifiedBy>System Administrator</cp:lastModifiedBy>
  <cp:revision>15</cp:revision>
  <dcterms:created xsi:type="dcterms:W3CDTF">2026-09-09T17:01:27Z</dcterms:created>
  <dcterms:modified xsi:type="dcterms:W3CDTF">2026-09-11T14:56:35Z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2026-09-09T20:05:31Z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ab4e8dd9-4081-4271-b6dc-b7279ab15163</vt:lpwstr>
  </property>
  <property fmtid="{D5CDD505-2E9C-101B-9397-08002B2CF9AE}" pid="7" name="MSIP_Label_defa4170-0d19-0005-0004-bc88714345d2_ActionId">
    <vt:lpwstr>cad95d7d-051d-43f3-9e6b-97b5b00abb90</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